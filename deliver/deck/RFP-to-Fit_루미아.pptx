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재현율</c:v>
                </c:pt>
              </c:strCache>
            </c:strRef>
          </c:tx>
          <c:spPr>
            <a:solidFill>
              <a:srgbClr val="3182F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91F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우주항공청 (19쪽)</c:v>
                  </c:pt>
                  <c:pt idx="1">
                    <c:v>산업통상부 (37쪽)</c:v>
                  </c:pt>
                  <c:pt idx="2">
                    <c:v>NAIS 해커톤 (5쪽)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</c:v>
                </c:pt>
                <c:pt idx="1">
                  <c:v>91</c:v>
                </c:pt>
                <c:pt idx="2">
                  <c:v>54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91F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91F2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안녕하세요, 팀 루미아입니다. 저희는 제안서를 대신 쓰는 AI가 아니라, 제출 전에 평가위원의 눈으로 먼저 읽어 주는 에이전트를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[35초] 여기 계신 분들 모두 제안서를 쓰고, 또 심사하시는 분들입니다. 공고 한 건이 37쪽, 지켜야 할 요건이 58개, 평가표가 3종입니다. 떨어지는 제안서의 상당수는 아이디어가 아니라 '이 지표에 대한 근거가 없다'에서 깎입니다. 문제는 그걸 제출 뒤에야 안다는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[35초] 평가위원 한 명의 점수는 취향입니다. 그래서 관점이 다른 다섯 명이 서로의 답을 모른 채 채점합니다. 네 명 이상이 깎으면 반드시 고칠 곳, 의견이 갈리면 연구자가 판단할 곳입니다. 모델도 Gemini와 국산 Solar로 나눠, 한 회사 모델의 치우침이 합의로 굳지 않게 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[70초] 지금 보시는 건 이 대회 공고입니다. 공고에서 요건 34개와 본선 심사표 5개를 스스로 찾아냈고, 저희 예선 기획서를 넣었습니다. 점검 질문 15개가 다섯 명에게 따로 가고, 약 44초 뒤 모두가 깎는 곳과 의견이 갈리는 곳이 나옵니다. 보완은 문장을 써 주지 않고 '어떤 근거를, 어느 절에'만 지정합니다.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검은 칸이 사람, 파란 칸이 AI, 점선 칸이 코드 규칙입니다. 사람은 처음에 올리고, 마지막에 논쟁 지점을 판단하고 문장을 씁니다. AI가 말한 것은 매번 규칙이 검사합니다.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평가위원은 Gemini와 국산 Solar로 나눴고, 전체 흐름은 LangGraph 상태 그래프입니다. 인용 검사에 실패하면 재질의로 되돌아가는 루프가 있습니다. 선행연구 탐색은 MCP 도구 서버로 감싸서, 검색기를 바꿔 끼울 수 있고 다른 AI 비서도 같은 도구를 부를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LLM 심사의 가장 큰 위험은 그럴듯한 칭찬입니다. 저희는 칭찬에도 증거를 요구합니다. 인용을 코드가 원문과 대조하고, 없으면 무효로 돌려 한 번 다시 묻습니다. 이 실행에서 60개 판정 중 6건이 원문에 없는 인용이었고, 재질의로 6건이 교정됐습니다.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정확도는 말이 아니라 숫자로 보여 드립니다. 공고를 쪽마다 판독한 정답표 대비 요건 재현율이 우주항공청 95%, 산업통상부 91%, 국가과학기술연구회 54%입니다. 기획서에서 지표별 블록을 하나씩 지운 초안 5개로 결함 주입 실험을 했고 2/5를 짚었습니다. 약한 숫자도 그대로 공개합니다.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저희 도구로 저희 예선 기획서를 이 대회 본선 심사표로 먼저 채점했습니다. 94.2점, 그리고 '핵심 기능 UI 구성이 없다', '서비스 흐름도가 없다'는 지적이 나왔습니다. 오늘 이 발표는 그 지적을 반영한 결과이고, 보완 후 98점입니다.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같은 엔진이 연구자의 셀프 점검에서 전문기관 접수 사전검토, 평가위원 심사 보조로 갑니다. 문서만 바꾸면 성과보고서와 연구비 정산에도 씁니다. MCP로 NAIS 플랫폼 어디에든 붙고, 정답표는 공개해 벤치마크로 키웁니다.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다섯 명의 평가위원이, 먼저 읽어 드립니다. 화면의 주소에서 지금 직접 눌러 보실 수 있습니다.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NAIS AI 해커톤 본선 · 팀 루미아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5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평가위원의 눈으로,</a:t>
            </a:r>
            <a:endParaRPr lang="en-US" sz="5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 </a:t>
            </a:r>
            <a:pPr indent="0" marL="0">
              <a:lnSpc>
                <a:spcPct val="112000"/>
              </a:lnSpc>
              <a:buNone/>
            </a:pPr>
            <a:r>
              <a:rPr lang="en-US" sz="5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5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먼저.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RFP-to-Fit — 국가 R&amp;D 공고를 넣으면, 가상 평가위원 5명이 초안을 먼저 채점합니다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김태걸 · 박세훈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제안서는 아이디어보다,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를 잘못 읽어서 떨어집니다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37쪽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40233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R&amp;D 공고 한 건의 분량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0" y="3063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58개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4572000" y="40233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지키지 않으면 탈락·감점되는 요건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321040" y="30632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3종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8321040" y="40233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세부사업마다 따로 있는 평가표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50749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534924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연구자는 연구의 언어로 쓰고, 평가위원은 지표의 언어로 읽습니다. 그 사이의 빈칸은 제출 뒤에야 보입니다.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공고 제2026-64호 — 요건·평가표를 쪽마다 판독해 만든 정답표(data/gold, 저장소 공개)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아이디어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명의 점수는 취향,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다섯 명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따로 보면 갈립니다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974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417320" y="2697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출연연 연구기획 책임자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26280" y="272491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182112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3009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330098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산업체 CTO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26280" y="332841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Upstage Solar(국산)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785616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9044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17320" y="39044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기술 전문가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26280" y="3931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" y="4389120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5079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45079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전문기관 과제관리 PM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26280" y="453542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Upstage Solar(국산)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4992624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1114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17320" y="511149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연구윤리·신뢰성 심사자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26280" y="513892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78040" y="2697480"/>
            <a:ext cx="4187952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52360" y="2898648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 결핍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452360" y="3200400"/>
            <a:ext cx="3639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5명 중 4명 이상이 깎은 곳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452360" y="3575304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반드시 고칠 곳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178040" y="4206240"/>
            <a:ext cx="4187952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52360" y="4407408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논쟁 지점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452360" y="4709160"/>
            <a:ext cx="3639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의견이 2~3명으로 갈린 곳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452360" y="5084064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연구자가 판단할 곳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22960" y="589788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 모델도 나눴습니다 — Gemini 3명 + 국산 Solar 2명. 한 회사 모델의 치우침이 '합의'로 굳지 않게.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데모 — 이 대회 공고로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한 건과 초안 한 편,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44초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뒤 고칠 곳이 나옵니다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34개 · 심사표 5개 자동 추출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모두 공고 쪽 번호와 원문 인용이 붙습니다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7216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033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 15개를 5명에게 따로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서로의 답을 모른 채 판정 + 인용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7274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7091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 0 · 판단할 곳 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5120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보완은 문장 대신 「무엇을·어디에」만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532120" y="2697480"/>
            <a:ext cx="583387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4" name="Image 0" descr="/Users/ryugi62/dev/rfp-to-fit/deliver/deck/build/img/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5601" y="2788920"/>
            <a:ext cx="5146910" cy="17830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532120" y="4846320"/>
            <a:ext cx="583387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6" name="Image 1" descr="/Users/ryugi62/dev/rfp-to-fit/deliver/deck/build/img/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4376" y="4937760"/>
            <a:ext cx="4129360" cy="11887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 실제 화면(Streamlit) — 마지막 장의 주소에서 직접 눌러 볼 수 있습니다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 흐름도 — AI 개입과 사람 판단 지점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사람은 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판단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만 하고,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나머지는 AI와 규칙이 나눕니다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191F28"/>
          </a:solidFill>
          <a:ln w="15875">
            <a:solidFill>
              <a:srgbClr val="191F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0976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0B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50976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공고·초안 올리기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38958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66974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766974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3쪽씩 병렬 파싱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54957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582973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82973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인용 검사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70955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98971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98971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 생성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86954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4970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+ MCP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14970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탐색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902952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30968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030968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5명 독립 채점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902952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10030968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030968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86954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14970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14970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판정만 재질의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70955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6398971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98971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454957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2973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82973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위치 지정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638958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191F28"/>
          </a:solidFill>
          <a:ln w="15875">
            <a:solidFill>
              <a:srgbClr val="191F2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66974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0B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766974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논쟁 지점 판단 문장·제출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322576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138574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5954573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770571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586570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10634472" y="3602736"/>
            <a:ext cx="0" cy="475488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9586570" y="459486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 flipH="1">
            <a:off x="7770571" y="459486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H="1">
            <a:off x="5954573" y="459486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 flipH="1">
            <a:off x="4138574" y="459486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9504274" y="5129784"/>
            <a:ext cx="4443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1회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822960" y="4187952"/>
            <a:ext cx="237744" cy="201168"/>
          </a:xfrm>
          <a:prstGeom prst="roundRect">
            <a:avLst>
              <a:gd name="adj" fmla="val 36364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70432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판단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822960" y="4517136"/>
            <a:ext cx="237744" cy="201168"/>
          </a:xfrm>
          <a:prstGeom prst="roundRect">
            <a:avLst>
              <a:gd name="adj" fmla="val 36364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170432" y="44897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AI(LLM)가 생성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822960" y="4846320"/>
            <a:ext cx="237744" cy="201168"/>
          </a:xfrm>
          <a:prstGeom prst="roundRect">
            <a:avLst>
              <a:gd name="adj" fmla="val 36364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53" name="Text 51"/>
          <p:cNvSpPr/>
          <p:nvPr/>
        </p:nvSpPr>
        <p:spPr>
          <a:xfrm>
            <a:off x="1170432" y="48188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규칙(코드)이 검사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822960" y="544068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22960" y="562356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말한 것은 규칙이 검사하고, 최종 판단과 문장은 사람이 합니다.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822960" y="60167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6단계 · 규칙 3단계 · 사람 2단계 — 재질의는 인용이 원문에 없는 판정에만, 평가위원당 한 번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구성 · 데이터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회사 모델, 그래프 하나,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바꿔 끼우는 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도구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20574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7552" y="273405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PDF · HWPX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87552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쪽 번호·원문 인용 유지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22960" y="3611880"/>
            <a:ext cx="20574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37398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 초안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87552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비저장 · 세션 메모리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2468880"/>
            <a:ext cx="5257800" cy="219456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25968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상태 그래프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926080" y="3566160"/>
            <a:ext cx="2743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29000" y="297180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3044952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73752" y="3255264"/>
            <a:ext cx="26517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166360" y="297180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12080" y="3044952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탐색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11112" y="3255264"/>
            <a:ext cx="26517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903720" y="297180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0" y="3044952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5명 독립 채점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29000" y="3886200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3474720" y="395935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44568" y="4169664"/>
            <a:ext cx="13106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693920" y="3886200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39640" y="395935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재질의 ↺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809488" y="4169664"/>
            <a:ext cx="13106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958840" y="3886200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6004560" y="395935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074408" y="4169664"/>
            <a:ext cx="13106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223760" y="3886200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69480" y="395935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지정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 flipH="1">
            <a:off x="4160520" y="3566160"/>
            <a:ext cx="3451860" cy="292608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3246120" y="4846320"/>
            <a:ext cx="2537460" cy="777240"/>
          </a:xfrm>
          <a:prstGeom prst="roundRect">
            <a:avLst>
              <a:gd name="adj" fmla="val 9412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10712" y="4956048"/>
            <a:ext cx="22631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3410712" y="5276088"/>
            <a:ext cx="22631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파싱 · 점검 질문 · 평가위원 3명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966460" y="4846320"/>
            <a:ext cx="2537460" cy="777240"/>
          </a:xfrm>
          <a:prstGeom prst="roundRect">
            <a:avLst>
              <a:gd name="adj" fmla="val 9412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31052" y="4956048"/>
            <a:ext cx="22631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Upstage Solar (국산)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6131052" y="5276088"/>
            <a:ext cx="22631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 2명 · 장애 시 상호 대체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869680" y="2468880"/>
            <a:ext cx="249631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034272" y="259689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 서버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9034272" y="2926080"/>
            <a:ext cx="22219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 · stdio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AI 비서도 같은 도구 호출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531352" y="3017520"/>
            <a:ext cx="31089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8869680" y="3886200"/>
            <a:ext cx="249631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034272" y="399592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OpenAlex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9034272" y="4315968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공개 학술 DB · 선행연구 검색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10117836" y="3639312"/>
            <a:ext cx="0" cy="219456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8869680" y="4846320"/>
            <a:ext cx="2496312" cy="777240"/>
          </a:xfrm>
          <a:prstGeom prst="roundRect">
            <a:avLst>
              <a:gd name="adj" fmla="val 9412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034272" y="495604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</a:t>
            </a:r>
            <a:endParaRPr lang="en-US" sz="1350" dirty="0"/>
          </a:p>
        </p:txBody>
      </p:sp>
      <p:sp>
        <p:nvSpPr>
          <p:cNvPr id="49" name="Text 47"/>
          <p:cNvSpPr/>
          <p:nvPr/>
        </p:nvSpPr>
        <p:spPr>
          <a:xfrm>
            <a:off x="9034272" y="5276088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대조표 · 합의/논쟁 · 보완 위치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822960" y="594360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데이터: 공개 R&amp;D 공고 3건(국가과학기술연구회·우주항공청·산업통상부) + 쪽별 정답표 · 인용 검사·집계는 LLM을 모르는 순수 코드(테스트 22개)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가짜로 돌아가는 척을 못 하게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「충족」이라 말하려면,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초안에서 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글자 그대로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인용해야 합니다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판정마다 초안 원문 인용을 함께 제출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칭찬(충족)에도 증거를 요구합니다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675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65760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코드가 원문과 글자 단위로 대조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63040" y="40690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공백·문장부호만 빼고 연속 문자열 일치 — LLM이 아닌 규칙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6360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61772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없으면 무효 → 그 평가위원에게 한 번 재질의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63040" y="50292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그래도 없으면 「충족」을 점수에서 뺍니다(강등)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635240" y="2651760"/>
            <a:ext cx="3730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6건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7635240" y="3520440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60개 중 인용이 원문에 없던 것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635240" y="4069080"/>
            <a:ext cx="3730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6건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7635240" y="4937760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재질의로 원문 인용 교정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22960" y="55778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576072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검사를 공고에도 겁니다 — 요건·심사표도 그 쪽에 원문이 없으면 버립니다.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숫자: 예선 기획서 실행 기록(data/runs/nais-hackathon-2026--original.json의 trace)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정답표를 먼저 만들고,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쟀습니다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파싱 — 정답표 대비 요건 재현율 (목표 90%)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31520" y="2926080"/>
          <a:ext cx="594360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34924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우주항공청 37/39 · 산업통상부 53/58 · NAIS 14/26 — NAIS 공고가 가장 약한 곳, 그대로 공개합니다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7406640" y="2606040"/>
            <a:ext cx="3959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2/5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7406640" y="3474720"/>
            <a:ext cx="3959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결함 주입 — 지표별 블록을 하나씩 지운 초안 5개 중 지운 곳을 짚은 수 · 정밀도 40%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06640" y="3931920"/>
            <a:ext cx="3959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약한 숫자도 그대로 둡니다 — 항목 단위 감도가 다음 과제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406640" y="4343400"/>
            <a:ext cx="3959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44초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7406640" y="5212080"/>
            <a:ext cx="3959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1건 실행 — 평가위원 5명 · 선행연구 탐색 포함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정답표: 파이프라인(Gemini·Solar)과 독립된 모델이 공고를 쪽마다 판독 · 측정 스크립트 scripts/eval_extract.py · eval_planted.py 공개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자신에게 먼저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대회 심사표로,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를 먼저 채점했습니다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517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94.2점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예선 기획서 — 본선 심사표 기준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749040" y="274320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434840" y="265176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98점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4434840" y="35661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4160520"/>
            <a:ext cx="6309360" cy="1234440"/>
          </a:xfrm>
          <a:prstGeom prst="roundRect">
            <a:avLst>
              <a:gd name="adj" fmla="val 592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432511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도구가 짚은 합의 결핍 0곳 · 논쟁 지점 2곳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51560" y="4617720"/>
            <a:ext cx="5897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“AI 모델의 신뢰성 확보를 위해 데이터 편향성이나 윤리적 이슈에 대한 대응 방안을 포함하는가”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“연구 종료 후 기대효과를 정량적 또는 정성적 지표로 예측하여 제시하는가”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635240" y="2697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지표(배점)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738360" y="26974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561320" y="26974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후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635240" y="3008376"/>
            <a:ext cx="370332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309981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적합성 (10)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738360" y="309981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0561320" y="3099816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7635240" y="3465576"/>
            <a:ext cx="370332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35240" y="355701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활용성 (20)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38360" y="355701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18.3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0561320" y="3557016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635240" y="3922776"/>
            <a:ext cx="370332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35240" y="401421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혁신성 (25)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738360" y="401421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0561320" y="4014216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635240" y="4379976"/>
            <a:ext cx="370332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35240" y="447141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실현가능성 (25)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9738360" y="447141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10561320" y="4471416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7635240" y="4837176"/>
            <a:ext cx="370332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35240" y="492861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확장성 (20)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9738360" y="492861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15.8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10561320" y="4928616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822960" y="55778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742432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오늘 이 발표에 흐름도·AI 구성도·실제 화면을 넣었습니다.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후 = 예선 기획서에 「본선 구현 결과」 절을 사람이 추가(에이전트는 위치·근거 종류만 지정) · data/runs/*--original.json · *--after.json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확장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연구자에서 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전문기관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까지,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엔진이 갑니다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97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연구자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셀프 점검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3566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곳부터 고치고, 갈리는 곳은 판단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041648" y="3310128"/>
            <a:ext cx="3886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4539996" y="2697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전문기관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39996" y="3108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접수 후 요건 사전검토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39996" y="3566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형식 미비·필수 서류 누락 스크리닝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58684" y="3310128"/>
            <a:ext cx="3886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8257032" y="2697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평가위원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57032" y="3108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지표별 근거 위치 표시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257032" y="3566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보조 — 판정은 사람이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" y="429768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526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엔진, 다른 문서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" y="4937760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4128" y="50474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연차·성과보고서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24128" y="5394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지표 대비 실적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39996" y="4937760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41164" y="50474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연구비 정산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741164" y="5394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증빙 대비 집행 항목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57032" y="4937760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58200" y="50474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MCP로 연결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458200" y="5394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NAIS 플랫폼 · 어떤 AI 비서든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603504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정답표·측정 스크립트를 공개해 「R&amp;D 공고 결핍 벤치마크」로 — 첫 실증 후보는 전문기관 접수 사전검토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직접 눌러 보세요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다섯 명의 평가위원이,</a:t>
            </a:r>
            <a:endParaRPr lang="en-US" sz="4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먼저</a:t>
            </a:r>
            <a:pPr indent="0" marL="0">
              <a:lnSpc>
                <a:spcPct val="112000"/>
              </a:lnSpc>
              <a:buNone/>
            </a:pPr>
            <a:r>
              <a:rPr lang="en-US" sz="4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읽어 드립니다.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22960" y="40690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커밋 8개 · 코드는 전부 본선 중 커밋(첫 코드 커밋 09/30 19:19, 그 전엔 문서뿐)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루미아 · 김태걸 · 박세훈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269480" y="2377440"/>
            <a:ext cx="1874520" cy="32461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7" name="Image 0" descr="/Users/ryugi62/dev/rfp-to-fit/deliver/deck/build/img/qr-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2633472"/>
            <a:ext cx="1371600" cy="1371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52360" y="418795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452360" y="455371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invisible-sail-shame-preliminary.trycloudflare.com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9372600" y="2377440"/>
            <a:ext cx="1874520" cy="32461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1" name="Image 1" descr="/Users/ryugi62/dev/rfp-to-fit/deliver/deck/build/img/qr-re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8632" y="2633472"/>
            <a:ext cx="1371600" cy="1371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555480" y="418795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9555480" y="455371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github.com/Ryugi62/rfp-to-fit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팀 루미아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RFP-to-Fit — 팀 루미아</dc:title>
  <dc:subject>PptxGenJS Presentation</dc:subject>
  <dc:creator>PptxGenJS</dc:creator>
  <cp:lastModifiedBy>PptxGenJS</cp:lastModifiedBy>
  <cp:revision>1</cp:revision>
  <dcterms:created xsi:type="dcterms:W3CDTF">2026-09-30T11:12:16Z</dcterms:created>
  <dcterms:modified xsi:type="dcterms:W3CDTF">2026-09-30T11:12:16Z</dcterms:modified>
</cp:coreProperties>
</file>