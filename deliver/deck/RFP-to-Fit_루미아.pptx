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재현율</c:v>
                </c:pt>
              </c:strCache>
            </c:strRef>
          </c:tx>
          <c:spPr>
            <a:solidFill>
              <a:srgbClr val="3182F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91F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우주항공청 · 19쪽</c:v>
                  </c:pt>
                  <c:pt idx="1">
                    <c:v>산업통상부 · 37쪽</c:v>
                  </c:pt>
                  <c:pt idx="2">
                    <c:v>NAIS 해커톤 · 5쪽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90</c:v>
                </c:pt>
                <c:pt idx="1">
                  <c:v>97</c:v>
                </c:pt>
                <c:pt idx="2">
                  <c:v>85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91F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91F2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[10초] 안녕하세요, 팀 루미아입니다. 저희는 제안서를 대신 쓰는 AI가 아니라, 제출 전에 평가위원의 눈으로 먼저 읽어 주는 에이전트를 만들었습니다.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[30초] 여기 계신 분들 모두 제안서를 쓰고, 또 심사하시는 분들입니다. 심사 기준은 공고에 이미 다 적혀 있습니다. 산업통상부 공고 한 건을 쪽마다 읽어 보니 37쪽에 지켜야 할 요건이 58개, 평가표가 3종이었습니다. 그런데 제출 전에 그 기준의 눈으로 내 초안을 읽어 줄 사람은 없습니다. 연구자는 연구의 언어로 쓰고 평가위원은 지표의 언어로 읽기 때문에, 그 사이의 빈칸은 심사평을 받은 뒤에야 보입니다. 저희가 푼 문제는 이 하나입니다.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[30초] 평가위원 한 명의 점수는 취향입니다. 그래서 오늘 현장 멘토링에서 들은 실제 심사위원 유형 6가지로 가상 평가위원을 만들어, 서로의 답을 모른 채 채점합니다. 5명 이상이 깎으면 반드시 고칠 곳, 의견이 갈리면 연구자가 판단할 곳입니다. 심사위원은 항목 합산보다 몇 가지 결정 포인트로 마음속 등수를 먼저 정한다고 해서, 각자 선정·보류·탈락과 당락 포인트도 냅니다. 모델은 3개 회사로 나눠 한 회사 모델의 치우침이 합의로 굳지 않게 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[60초] 지금 보시는 건 이 대회 공고입니다. 공고에서 요건 39개와 본선 심사표 5개를 스스로 찾아냈고, 저희 예선 기획서를 넣었습니다. 점검 질문 15개가 여섯 명에게 따로 가고, 약 19초 뒤 모두가 깎는 곳과 의견이 갈리는 곳이 나옵니다. 보완은 문장을 써 주지 않고 '어떤 근거를, 어느 절에'만 지정합니다.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검은 칸이 사람, 파란 칸이 AI, 점선 칸이 코드 규칙입니다. 사람은 처음에 올리고, 마지막에 논쟁 지점을 판단하고 문장을 씁니다. AI가 말한 것은 매번 규칙이 검사합니다.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평가위원은 OpenAI, Google Gemini, Upstage Solar 3개 회사 모델로 나눴고, 공고 파싱과 점검 질문은 주 엔진 gpt-4.1가 맡습니다. 전체 흐름은 LangGraph 상태 그래프입니다. 검색으로 조각을 넣는 대신 원문을 통째로 넣고 인용으로 대조합니다. 인용 검사에 실패하면 재질의로 되돌아가는 루프가 있습니다. 선행연구 탐색은 MCP 도구 서버로 감싸서, 검색기를 바꿔 끼울 수 있고 다른 AI 비서도 같은 도구를 부를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LLM 심사의 가장 큰 위험은 그럴듯한 칭찬입니다. 저희는 칭찬에도 증거를 요구합니다. 인용을 코드가 원문과 대조하고, 없으면 무효로 돌려 한 번 다시 묻습니다. 이 실행에서 90개 판정 중 12건이 원문에 없는 인용이었고, 다시 물은 뒤 11건은 원문 인용을 찾았고, 0건은 부족으로 정정, 1건은 끝까지 무효라 점수에서 뺐습니다. 인용이 판정을 뒷받침하는지는 사람이 보도록 화면에 그대로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정확도는 숫자로 보여 드립니다. 정답표 대비 요건을 놓치지 않은 비율이 우주항공청 90%, 산업통상부 97%, NAIS 해커톤 85%입니다. 가장 약한 곳도 그대로 둡니다. 기획서에서 근거 블록을 일부러 하나씩 지운 초안 5개 중 4/5를 짚었고, 지운 초안은 점수도 내려갔습니다.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저희 도구로 저희 예선 기획서를 이 대회 본선 심사표로 먼저 읽혔습니다. 여섯 명 중 3명이 보류였고, 이유가 분명했습니다. 세부 전문형은 '정확도 목표(90% 재현율, 80% 정밀도)가 실제 구현 없이 목표치만 제시되어 구체성 부족', 사업성·시장형은 '시장성은 있으나 실증·구매주체가 아직 약함', 행정·관리형은 'AI 윤리·보안 대책은 있으나, 실제 구현 및 검증 계획이 해커톤 기간 내 2일만에 과도하게 압축되어 실현 가능성에 의문.'. 그래서 오늘은 목표치가 아니라 실측치를 가져왔습니다. 요건 재현율 90%, 97%, 85%, 일부러 지운 초안 5개 중 4/5를 짚었습니다.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같은 엔진이 연구자의 셀프 점검에서 전문기관 접수 사전검토, 평가위원 심사 보조로 갑니다. 오늘 멘토링에서, 실제 심사 의견 데이터는 평가기관에 있다고 들었습니다. 전문기관과 연계하면 그 의견 유형으로 가상 평가위원을 보정할 수 있습니다. 지금은 공개 자료와 심사 경험 기반 유형입니다.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[10초] 여섯 명의 평가위원이, 먼저 읽어 드립니다. 화면의 주소에서 지금 직접 눌러 보실 수 있습니다.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NAIS AI 해커톤 본선 · 팀 루미아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1645920"/>
            <a:ext cx="1054303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5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평가위원의 눈으로,</a:t>
            </a:r>
            <a:endParaRPr lang="en-US" sz="5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전에 </a:t>
            </a:r>
            <a:pPr indent="0" marL="0">
              <a:lnSpc>
                <a:spcPct val="112000"/>
              </a:lnSpc>
              <a:buNone/>
            </a:pPr>
            <a:r>
              <a:rPr lang="en-US" sz="5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빈칸</a:t>
            </a:r>
            <a:pPr indent="0" marL="0">
              <a:lnSpc>
                <a:spcPct val="112000"/>
              </a:lnSpc>
              <a:buNone/>
            </a:pPr>
            <a:r>
              <a:rPr lang="en-US" sz="5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을 먼저.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822960" y="416052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RFP-to-Fit — 국가 R&amp;D 공고를 넣으면, 가상 평가위원 6명이 초안을 먼저 채점합니다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22960" y="58521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김태걸 · 박세훈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 기준은 공고에 다 있는데,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눈으로 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 초안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을 읽어 줄 사람은 없습니다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37쪽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22960" y="40233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산업통상부 R&amp;D 공고 한 건의 분량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0" y="30632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58개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4572000" y="40233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지키지 않으면 탈락·감점되는 요건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321040" y="30632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3종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8321040" y="40233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세부사업마다 따로 있는 평가표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507492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534924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연구자는 연구의 언어로 쓰고, 평가위원은 지표의 언어로 읽습니다. 그 사이의 빈칸은 심사평을 받은 뒤에야 보입니다.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산업통상부 공고 제2026-64호 — 요건·평가표 정답표(data/gold, 저장소 공개) · 정답표는 파이프라인과 다른 모델(Claude)로 쪽마다 판독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아이디어 — 현장 멘토링(국가 R&amp;D 심사 경험) 반영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명의 점수는 취향,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여섯 명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따로 보면 갈립니다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417320" y="260604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타당성 검증형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480560" y="263347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3017520"/>
            <a:ext cx="58064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09981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17320" y="309981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큰그림형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480560" y="312724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Gemini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3511296"/>
            <a:ext cx="58064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59359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417320" y="359359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 전문형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480560" y="362102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국산 Upstage Solar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4005072"/>
            <a:ext cx="58064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08736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17320" y="408736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사업성·시장형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480560" y="41148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" y="4498848"/>
            <a:ext cx="58064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58114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417320" y="45811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행정·관리형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480560" y="460857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국산 Upstage Solar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22960" y="4992624"/>
            <a:ext cx="58064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507492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417320" y="50749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취지형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480560" y="510235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Gemini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178040" y="2606040"/>
            <a:ext cx="4187952" cy="1097280"/>
          </a:xfrm>
          <a:prstGeom prst="roundRect">
            <a:avLst>
              <a:gd name="adj" fmla="val 6667"/>
            </a:avLst>
          </a:prstGeom>
          <a:solidFill>
            <a:srgbClr val="F4F6F8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52360" y="2752344"/>
            <a:ext cx="3639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 결핍 — 다 같이 깎은 곳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7452360" y="3026664"/>
            <a:ext cx="3639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6명 중 5명 이상이 깎음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452360" y="3364992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반드시 고칠 곳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178040" y="3840480"/>
            <a:ext cx="418795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52360" y="3986784"/>
            <a:ext cx="3639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논쟁 지점 — 의견이 갈린 곳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7452360" y="4261104"/>
            <a:ext cx="3639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6명 중 2~4명이 깎음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452360" y="4599432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연구자가 판단할 곳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178040" y="5120640"/>
            <a:ext cx="4187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각자 「마음속 등수」(선정·보류·탈락)와 당락 포인트 1개도 냅니다 · 근거 충족도는 실제 심사처럼 최고·최저 제외 평균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22960" y="576072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대필·첨삭이 아니라 심사입니다.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과거 심사 기록 없이 이번 공고 심사표에서 질문을 만들고 · 평가위원 OpenAI 2명 · Google Gemini 2명 · 국산 Upstage Solar 2명 · 칭찬에도 원문 인용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데모 — 이 대회 공고로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초안 한 편을 넣으면,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19초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뒤 고칠 곳이 나옵니다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 39개 · 심사표 5개 자동 추출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파싱은 처음 한 번(5쪽 7초·37쪽 16초) · 시연은 저장본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37216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7033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점검 질문 15개를 6명에게 따로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6304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서로의 답을 모른 채 판정 + 인용 + 마음속 등수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47274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7091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고칠 곳과 판단할 곳을 나눠 표시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63040" y="5120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보완은 문장 대신 「무엇을·어디에」만 지정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532120" y="2697480"/>
            <a:ext cx="4768504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4" name="Image 0" descr="/Users/ryugi62/dev/rfp-to-fit/deliver/deck/build/img/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2788920"/>
            <a:ext cx="4585624" cy="153883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5532120" y="4663440"/>
            <a:ext cx="4087289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6" name="Image 1" descr="/Users/ryugi62/dev/rfp-to-fit/deliver/deck/build/img/res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4754880"/>
            <a:ext cx="3904409" cy="131023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 앱 실제 화면(Streamlit) — 시연 공고는 저장된 파싱 결과(8장 재현율은 별도 측정 실행) · 마지막 장 주소에서 직접 눌러 볼 수 있습니다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서비스 흐름도 — AI 개입과 사람 판단 지점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사람은 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판단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만 하고,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나머지는 AI와 규칙이 나눕니다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60604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191F28"/>
          </a:solidFill>
          <a:ln w="15875">
            <a:solidFill>
              <a:srgbClr val="191F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0976" y="271576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0B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50976" y="295351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공고·초안 올리기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638958" y="260604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66974" y="271576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766974" y="295351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3쪽씩 병렬 파싱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54957" y="260604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8B95A1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4582973" y="271576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규칙(코드)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82973" y="295351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인용 검사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70955" y="260604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98971" y="271576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98971" y="295351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점검 질문 생성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86954" y="260604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14970" y="271576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+ MCP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14970" y="295351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선행연구 탐색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902952" y="260604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30968" y="271576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030968" y="295351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6명 독립 채점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902952" y="411480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8B95A1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10030968" y="422452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규칙(코드)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0030968" y="446227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 실재 검사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86954" y="411480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14970" y="422452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14970" y="446227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무효 판정만 재질의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270955" y="411480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8B95A1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6398971" y="422452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규칙(코드)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398971" y="446227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합의·논쟁 집계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454957" y="411480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2973" y="422452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82973" y="446227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보완 위치 지정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638958" y="411480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191F28"/>
          </a:solidFill>
          <a:ln w="15875">
            <a:solidFill>
              <a:srgbClr val="191F2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66974" y="422452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0B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766974" y="446227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논쟁 지점 판단 문장·제출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322576" y="308610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4138574" y="308610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5954573" y="308610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7770571" y="308610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9586570" y="308610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10634472" y="3602736"/>
            <a:ext cx="0" cy="475488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H="1">
            <a:off x="9586570" y="459486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 flipH="1">
            <a:off x="7770571" y="459486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 flipH="1">
            <a:off x="5954573" y="459486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 flipH="1">
            <a:off x="4138574" y="459486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822960" y="4187952"/>
            <a:ext cx="237744" cy="201168"/>
          </a:xfrm>
          <a:prstGeom prst="roundRect">
            <a:avLst>
              <a:gd name="adj" fmla="val 36364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170432" y="4160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판단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822960" y="4517136"/>
            <a:ext cx="237744" cy="201168"/>
          </a:xfrm>
          <a:prstGeom prst="roundRect">
            <a:avLst>
              <a:gd name="adj" fmla="val 36364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170432" y="44897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AI(LLM)가 생성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822960" y="4846320"/>
            <a:ext cx="237744" cy="201168"/>
          </a:xfrm>
          <a:prstGeom prst="roundRect">
            <a:avLst>
              <a:gd name="adj" fmla="val 36364"/>
            </a:avLst>
          </a:prstGeom>
          <a:solidFill>
            <a:srgbClr val="FFFFFF"/>
          </a:solidFill>
          <a:ln w="12700">
            <a:solidFill>
              <a:srgbClr val="8B95A1"/>
            </a:solidFill>
            <a:prstDash val="dash"/>
          </a:ln>
        </p:spPr>
      </p:sp>
      <p:sp>
        <p:nvSpPr>
          <p:cNvPr id="52" name="Text 50"/>
          <p:cNvSpPr/>
          <p:nvPr/>
        </p:nvSpPr>
        <p:spPr>
          <a:xfrm>
            <a:off x="1170432" y="48188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규칙(코드)이 검사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822960" y="544068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22960" y="562356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AI가 말한 것은 규칙이 검사하고, 최종 판단과 문장은 사람이 합니다.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822960" y="601675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6단계 · 규칙 3단계 · 사람 2단계 — 재질의는 인용이 원문에 없는 판정에만, 평가위원당 한 번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구성 · 데이터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 회사 모델, 그래프 하나,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바꿔 끼우는 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도구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606040"/>
            <a:ext cx="20574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7552" y="273405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PDF · HWPX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987552" y="3063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쪽 번호·원문 인용 유지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22960" y="3611880"/>
            <a:ext cx="20574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" y="373989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연구자 초안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87552" y="40690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 비저장 · 세션 메모리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46120" y="2468880"/>
            <a:ext cx="5257800" cy="2194560"/>
          </a:xfrm>
          <a:prstGeom prst="roundRect">
            <a:avLst>
              <a:gd name="adj" fmla="val 3333"/>
            </a:avLst>
          </a:prstGeom>
          <a:solidFill>
            <a:srgbClr val="F9FAF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29000" y="259689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 상태 그래프 — 원문을 통째로 넣고 인용으로 대조(RAG 대신)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926080" y="3566160"/>
            <a:ext cx="27432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429000" y="297180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74720" y="3044952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점검 질문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873752" y="3255264"/>
            <a:ext cx="26517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166360" y="297180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12080" y="3044952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 탐색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11112" y="3255264"/>
            <a:ext cx="26517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903720" y="297180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49440" y="3044952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6명 독립 채점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223760" y="3886200"/>
            <a:ext cx="10972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8B95A1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269480" y="3959352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 실재 검사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 flipH="1">
            <a:off x="7074408" y="4169664"/>
            <a:ext cx="131064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958840" y="3886200"/>
            <a:ext cx="1097280" cy="566928"/>
          </a:xfrm>
          <a:prstGeom prst="roundRect">
            <a:avLst>
              <a:gd name="adj" fmla="val 12903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004560" y="3959352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재질의(1회)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 flipH="1">
            <a:off x="5809488" y="4169664"/>
            <a:ext cx="131064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693920" y="3886200"/>
            <a:ext cx="10972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8B95A1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4739640" y="3959352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합의·논쟁 집계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 flipH="1">
            <a:off x="4544568" y="4169664"/>
            <a:ext cx="131064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3429000" y="3886200"/>
            <a:ext cx="1097280" cy="566928"/>
          </a:xfrm>
          <a:prstGeom prst="roundRect">
            <a:avLst>
              <a:gd name="adj" fmla="val 12903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0" y="3959352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보완 지정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772400" y="3557016"/>
            <a:ext cx="0" cy="310896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3246120" y="4800600"/>
            <a:ext cx="1661160" cy="9144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74136" y="4892040"/>
            <a:ext cx="1459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3374136" y="5202936"/>
            <a:ext cx="1459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 엔진 gpt-4.1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평가위원 2명 gpt-5.4-mini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044440" y="4800600"/>
            <a:ext cx="1661160" cy="9144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172456" y="4892040"/>
            <a:ext cx="1459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Gemini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5172456" y="5202936"/>
            <a:ext cx="1459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평가위원 2명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한도 소진 시 gpt-4.1-mini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842760" y="4800600"/>
            <a:ext cx="1661160" cy="9144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970776" y="4892040"/>
            <a:ext cx="1459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Upstage Solar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6970776" y="5202936"/>
            <a:ext cx="1459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국산 · 평가위원 2명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 엔진 장애 시 대체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8869680" y="2468880"/>
            <a:ext cx="249631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034272" y="2596896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도구 서버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9034272" y="2898648"/>
            <a:ext cx="22219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도구 연결 표준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search_prior_art · check_quote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다른 AI 비서도 같은 도구 호출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8531352" y="3017520"/>
            <a:ext cx="310896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8869680" y="3886200"/>
            <a:ext cx="2496312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034272" y="3995928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OpenAlex</a:t>
            </a:r>
            <a:endParaRPr lang="en-US" sz="1350" dirty="0"/>
          </a:p>
        </p:txBody>
      </p:sp>
      <p:sp>
        <p:nvSpPr>
          <p:cNvPr id="48" name="Text 46"/>
          <p:cNvSpPr/>
          <p:nvPr/>
        </p:nvSpPr>
        <p:spPr>
          <a:xfrm>
            <a:off x="9034272" y="4315968"/>
            <a:ext cx="2221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선행연구 → 혁신성 판정 참고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10117836" y="3639312"/>
            <a:ext cx="0" cy="219456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8869680" y="4846320"/>
            <a:ext cx="2496312" cy="777240"/>
          </a:xfrm>
          <a:prstGeom prst="roundRect">
            <a:avLst>
              <a:gd name="adj" fmla="val 9412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034272" y="4956048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출력</a:t>
            </a:r>
            <a:endParaRPr lang="en-US" sz="1350" dirty="0"/>
          </a:p>
        </p:txBody>
      </p:sp>
      <p:sp>
        <p:nvSpPr>
          <p:cNvPr id="52" name="Text 50"/>
          <p:cNvSpPr/>
          <p:nvPr/>
        </p:nvSpPr>
        <p:spPr>
          <a:xfrm>
            <a:off x="9034272" y="5276088"/>
            <a:ext cx="2221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대조표 · 합의/논쟁 · 보완 위치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822960" y="585216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데이터: 공개 R&amp;D 공고 3건(국가과학기술연구회·우주항공청·산업통상부) + 쪽별 정답표 · 인용 검사·집계는 LLM을 모르는 순수 코드(테스트 29개)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822960" y="617220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보안: 초안은 서버에 저장하지 않지만 외부 모델 API로는 전송됩니다 — LLM은 포트로 분리돼 국산·기관 내부 모델로 교체할 수 있는 구조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없는 인용은 통과하지 못하게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「충족」이라 말하려면,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초안에서 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글자 그대로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인용해야 합니다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판정마다 초안 원문 인용을 함께 제출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칭찬(충족)에도 증거를 요구합니다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3675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657600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코드가 원문과 글자 단위로 대조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463040" y="40690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공백·문장부호만 빼고 연속 문자열 일치 — LLM이 아닌 규칙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46360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617720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없으면 무효 → 그 평가위원에게 한 번 재질의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463040" y="50292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그래도 없으면 「충족」을 인정하지 않습니다(강등)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635240" y="2651760"/>
            <a:ext cx="37307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12건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7635240" y="3520440"/>
            <a:ext cx="37307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 90개 중 인용이 원문에 없던 것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635240" y="3977640"/>
            <a:ext cx="37307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11건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7635240" y="4846320"/>
            <a:ext cx="37307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다시 물어 원문 인용을 찾은 판정(충족 유지)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635240" y="5166360"/>
            <a:ext cx="3730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「부족·누락」으로 정정 0건 · 여전히 무효 1건(충족 인정 안 함)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22960" y="557784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6072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한계: 인용이 판정을 뒷받침하는지는 사람이 봅니다 — 그래서 화면에 인용을 그대로 펼쳐 둡니다.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숫자: 예선 기획서 실행 기록(data/runs/nais-hackathon-2026--original.json의 trace)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측정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정답표를 먼저 만들고,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숫자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쟀습니다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공고 파싱 — 정답표 요건을 놓치지 않은 비율(재현율, 목표 90%)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731520" y="2926080"/>
          <a:ext cx="594360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525780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우주항공청 35/39 · 산업통상부 56/58 · NAIS 해커톤 22/26(가장 약한 곳: NAIS 해커톤)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심사표 이름·배점 일치 3건 모두 100% · 1건 7~16초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7406640" y="2606040"/>
            <a:ext cx="3959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일부러 지운 초안 시험 (예선 심사표)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406640" y="2926080"/>
            <a:ext cx="3959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4/5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7406640" y="3794760"/>
            <a:ext cx="3959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블록을 하나씩 지운 초안 5개 중 짚은 수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짚은 곳의 정확도 100%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06640" y="4434840"/>
            <a:ext cx="3959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첫 초안 세트 1~2/5 → 블록 재설계 후 결과(사전 등록 아님). 지운 초안 5개 중 3개만 근거 충족도가 원본(91.2)보다 낮음 — 판정은 총점이 아니라 「짚은 곳」.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406640" y="5440680"/>
            <a:ext cx="3959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1건 채점 19초 — 평가위원 6/6명 응답(공고 파싱 제외)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정답표: 다른 모델(Claude)이 쪽마다 판독 · 파싱 주 엔진 gpt-4.1 · 추출 수는 정답보다 많음(145·194·37개 vs 39·58·26개) · 시연은 저장된 파싱 결과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 자신에게 먼저 — 이 대회 본선 심사표로 예선 기획서를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항목 판정은 모두 충족인데,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3명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은 보류였습니다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5176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타당성 검증형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3657600" y="26517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선정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3044952"/>
            <a:ext cx="37490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10896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큰그림형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0" y="31089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선정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3502152"/>
            <a:ext cx="37490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56616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 전문형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657600" y="35661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보류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22960" y="3959352"/>
            <a:ext cx="37490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02336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사업성·시장형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57600" y="40233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보류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22960" y="4416552"/>
            <a:ext cx="37490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48056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행정·관리형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657600" y="44805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보류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22960" y="4873752"/>
            <a:ext cx="37490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93776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취지형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657600" y="49377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선정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212080" y="2606040"/>
            <a:ext cx="6153912" cy="2606040"/>
          </a:xfrm>
          <a:prstGeom prst="roundRect">
            <a:avLst>
              <a:gd name="adj" fmla="val 2807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0" y="2788920"/>
            <a:ext cx="5605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보류의 결정 포인트 — 평가위원이 쓴 원문 그대로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0" y="3154680"/>
            <a:ext cx="560527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 전문형  “정확도 목표(90% 재현율, 80% 정밀도)가 실제 구현 없이 목표치만 제시되어 구체성 부족”</a:t>
            </a:r>
            <a:endParaRPr lang="en-US" sz="12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사업성·시장형  “시장성은 있으나 실증·구매주체가 아직 약함”</a:t>
            </a:r>
            <a:endParaRPr lang="en-US" sz="12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행정·관리형  “AI 윤리·보안 대책은 있으나, 실제 구현 및 검증 계획이 해커톤 기간 내 2일만에 과도하게 압축되어 실현 가능성에 의문.”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22960" y="548640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5605272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오늘은 목표치가 아니라 실측치를 가져왔습니다.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22960" y="598932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파싱 요건 재현율 90%·97%·85%(심사표 이름·배점 100%) · 일부러 지운 초안 탐지 4/5 · 정밀도 100% — 8장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data/runs/nais-hackathon-2026--original.json 의 stances(선정·보류·탈락 + 결정 포인트) · 항목 합산보다 결정 포인트로 등수를 먼저 정한다(현장 멘토링)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확장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연구자에서 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전문기관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까지,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엔진이 갑니다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974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연구자 · 구현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1089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 셀프 점검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22960" y="35661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이 앱 — 고칠 곳부터, 갈리는 곳은 판단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041648" y="3310128"/>
            <a:ext cx="38862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4539996" y="26974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전문기관 · 계획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39996" y="31089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접수 후 요건 사전검토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39996" y="35661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형식 미비·필수 서류 누락 스크리닝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58684" y="3310128"/>
            <a:ext cx="38862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8257032" y="26974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평가위원 · 계획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57032" y="31089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지표별 근거 위치 표시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8257032" y="35661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 보조 — 판정은 사람이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22960" y="416052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343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엔진, 다른 문서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22960" y="4709160"/>
            <a:ext cx="31089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24128" y="4818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연차·성과보고서 · 계획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24128" y="5166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 지표 대비 실적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39996" y="4709160"/>
            <a:ext cx="31089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41164" y="4818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연구비 정산 · 계획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741164" y="5166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증빙 대비 집행 항목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257032" y="4709160"/>
            <a:ext cx="31089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58200" y="4818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MCP로 연결 · 구현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458200" y="5166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 2개 · NAIS 플랫폼·AI 비서 연결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589788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 단계 — 심사 의견 데이터는 평가기관에 있습니다. 전문기관과 연계하면 실제 심사 의견 유형으로 평가위원을 보정합니다.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지금은 공개 자료 + 현장 심사 경험 기반 유형 · 첫 실증 목표: 전문기관 접수 사전검토 1회(형식 미비 재현율 90%)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직접 눌러 보세요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1645920"/>
            <a:ext cx="1054303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여섯 명의 평가위원이,</a:t>
            </a:r>
            <a:endParaRPr lang="en-US" sz="4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먼저</a:t>
            </a:r>
            <a:pPr indent="0" marL="0">
              <a:lnSpc>
                <a:spcPct val="112000"/>
              </a:lnSpc>
              <a:buNone/>
            </a:pPr>
            <a:r>
              <a:rPr lang="en-US" sz="4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읽어 드립니다.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822960" y="40690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커밋 15개 · 코드는 전부 본선 중 커밋(첫 코드 커밋 09/30 19:19, 그 전엔 문서뿐)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 → 테스트 → 구현 순서 · 코딩 에이전트 활용 규칙까지 공개(AGENTS.md)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49834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라이브가 끊기면 — 앱의 「② 우리 기획서 전·후」 탭이 저장된 실행 기록으로 같은 결과를 보여 줍니다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5852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팀 루미아 · 김태걸 · 박세훈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269480" y="1828800"/>
            <a:ext cx="1874520" cy="27889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8" name="Image 0" descr="/Users/ryugi62/dev/rfp-to-fit/deliver/deck/build/img/qr-l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2084832"/>
            <a:ext cx="1371600" cy="13716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52360" y="363931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 앱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452360" y="400507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invisible-sail-shame-preliminary.trycloudflare.com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9372600" y="1828800"/>
            <a:ext cx="1874520" cy="27889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2" name="Image 1" descr="/Users/ryugi62/dev/rfp-to-fit/deliver/deck/build/img/qr-re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8632" y="2084832"/>
            <a:ext cx="1371600" cy="13716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9555480" y="363931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9555480" y="400507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github.com/Ryugi62/rfp-to-fit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팀 루미아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RFP-to-Fit — 팀 루미아</dc:title>
  <dc:subject>PptxGenJS Presentation</dc:subject>
  <dc:creator>PptxGenJS</dc:creator>
  <cp:lastModifiedBy>PptxGenJS</cp:lastModifiedBy>
  <cp:revision>1</cp:revision>
  <dcterms:created xsi:type="dcterms:W3CDTF">2026-09-30T11:59:38Z</dcterms:created>
  <dcterms:modified xsi:type="dcterms:W3CDTF">2026-09-30T11:59:38Z</dcterms:modified>
</cp:coreProperties>
</file>