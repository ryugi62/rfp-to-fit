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재현율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91F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우주항공청 · 19쪽</c:v>
                  </c:pt>
                  <c:pt idx="1">
                    <c:v>산업통상부 · 37쪽</c:v>
                  </c:pt>
                  <c:pt idx="2">
                    <c:v>NAIS 해커톤 · 5쪽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97</c:v>
                </c:pt>
                <c:pt idx="2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91F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91F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[10초] 안녕하세요, 팀 루미아입니다. 저희는 제안서를 대신 쓰는 AI가 아니라, 제출 전에 평가위원의 눈으로 먼저 읽어 주는 에이전트를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 여기 계신 분들 모두 제안서를 쓰고, 또 심사하시는 분들입니다. 저희가 산업통상부 공고 한 건을 쪽마다 읽어 보니 37쪽에 지켜야 할 요건이 58개, 평가표가 3종이었습니다. 연구자는 연구의 언어로 쓰고 평가위원은 지표의 언어로 읽는데, 그 빈칸은 제출 뒤에야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 평가위원 한 명의 점수는 취향입니다. 그래서 오늘 현장 멘토링에서 들은 실제 심사위원 유형 6가지로 가상 평가위원을 만들어, 서로의 답을 모른 채 채점합니다. 5명 이상이 깎으면 반드시 고칠 곳, 의견이 갈리면 연구자가 판단할 곳입니다. 심사위원은 항목 합산보다 몇 가지 결정 포인트로 마음속 등수를 먼저 정한다고 해서, 각자 선정·보류·탈락과 당락 포인트도 냅니다. 모델은 3개 회사로 나눠 한 회사 모델의 치우침이 합의로 굳지 않게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지금 보시는 건 이 대회 공고입니다. 공고에서 요건 39개와 본선 심사표 5개를 스스로 찾아냈고, 저희 예선 기획서를 넣었습니다. 점검 질문 15개가 여섯 명에게 따로 가고, 약 19초 뒤 모두가 깎는 곳과 의견이 갈리는 곳이 나옵니다. 보완은 문장을 써 주지 않고 '어떤 근거를, 어느 절에'만 지정합니다.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 검은 칸이 사람, 파란 칸이 AI, 점선 칸이 코드 규칙입니다. 사람은 처음에 올리고, 마지막에 논쟁 지점을 판단하고 문장을 씁니다. AI가 말한 것은 매번 규칙이 검사합니다.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 평가위원은 OpenAI, Google Gemini, Upstage Solar 3개 회사 모델로 나눴고, 공고 파싱과 점검 질문은 주 엔진 gpt-4.1가 맡습니다. 전체 흐름은 LangGraph 상태 그래프입니다. 검색으로 조각을 넣는 대신 원문을 통째로 넣고 인용으로 대조합니다. 인용 검사에 실패하면 재질의로 되돌아가는 루프가 있습니다. 선행연구 탐색은 MCP 도구 서버로 감싸서, 검색기를 바꿔 끼울 수 있고 다른 AI 비서도 같은 도구를 부를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LLM 심사의 가장 큰 위험은 그럴듯한 칭찬입니다. 저희는 칭찬에도 증거를 요구합니다. 인용을 코드가 원문과 대조하고, 없으면 무효로 돌려 한 번 다시 묻습니다. 이 실행에서 90개 판정 중 12건이 원문에 없는 인용이었고, 다시 물은 뒤 11건은 원문 인용을 찾았고, 0건은 부족으로 정정, 1건은 끝까지 무효라 점수에서 뺐습니다. 인용이 판정을 뒷받침하는지는 사람이 보도록 화면에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정확도는 숫자로 보여 드립니다. 정답표 대비 요건을 놓치지 않은 비율이 우주항공청 90%, 산업통상부 97%, NAIS 해커톤 85%입니다. 가장 약한 곳도 그대로 둡니다. 기획서에서 근거 블록을 일부러 하나씩 지운 초안 5개 중 4/5를 짚었고, 지운 초안은 점수도 내려갔습니다.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저희 도구로 저희 예선 기획서를 이 대회 본선 심사표로 먼저 읽혔습니다. 여섯 명 중 3명이 보류였고, 이유가 분명했습니다. 세부 전문형은 '정확도 목표(90% 재현율, 80% 정밀도)가 실제 구현 없이 목표치만 제시되어 구체성 부족', 사업성·시장형은 '시장성은 있으나 실증·구매주체가 아직 약함', 행정·관리형은 'AI 윤리·보안 대책은 있으나, 실제 구현 및 검증 계획이 해커톤 기간 내 2일만에 과도하게 압축되어 실현 가능성에 의문.'. 그래서 오늘은 목표치가 아니라 실측치를 가져왔습니다. 요건 재현율 90%, 97%, 85%, 일부러 지운 초안 5개 중 4/5를 짚었습니다.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 같은 엔진이 연구자의 셀프 점검에서 전문기관 접수 사전검토, 평가위원 심사 보조로 갑니다. 오늘 멘토링에서, 실제 심사 의견 데이터는 평가기관에 있다고 들었습니다. 전문기관과 연계하면 그 의견 유형으로 가상 평가위원을 보정할 수 있습니다. 지금은 공개 자료와 심사 경험 기반 유형입니다.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[10초] 여섯 명의 평가위원이, 먼저 읽어 드립니다. 화면의 주소에서 지금 직접 눌러 보실 수 있습니다.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NAIS AI 해커톤 본선 · 팀 루미아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164592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평가위원의 눈으로,</a:t>
            </a:r>
            <a:endParaRPr lang="en-US" sz="5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전에 </a:t>
            </a:r>
            <a:pPr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</a:t>
            </a:r>
            <a:pPr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먼저.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RFP-to-Fit — 국가 R&amp;D 공고를 넣으면, 가상 평가위원 6명이 초안을 먼저 채점합니다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김태걸 · 박세훈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 한 건을 쪽마다 읽어 보니,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지킬 것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이만큼입니다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37쪽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산업통상부 R&amp;D 공고 한 건의 분량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지키지 않으면 탈락·감점되는 요건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321040" y="4023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세부사업마다 따로 있는 평가표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543032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349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연구자는 연구의 언어로 쓰고, 평가위원은 지표의 언어로 읽습니다. 그 사이의 빈칸은 제출 뒤에야 보입니다.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산업통상부 공고 제2026-64호 — 요건·평가표 정답표(data/gold, 저장소 공개) · 정답표는 파이프라인과 다른 모델(Claude)로 쪽마다 판독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 — 현장 멘토링(국가 R&amp;D 심사 경험) 반영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명의 점수는 취향,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여섯 명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따로 보면 갈립니다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2606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타당성 검증형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6334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58064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998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0998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큰그림형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3127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11296"/>
            <a:ext cx="58064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935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5935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전문형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621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국산 Upstage Solar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005072"/>
            <a:ext cx="58064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873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0873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사업성·시장형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114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498848"/>
            <a:ext cx="58064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811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581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행정·관리형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4608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국산 Upstage Solar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992624"/>
            <a:ext cx="58064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074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취지형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80560" y="51023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78040" y="260604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75234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 결핍 — 다 같이 깎은 곳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52360" y="302666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6명 중 5명 이상이 깎음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52360" y="33649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반드시 고칠 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78040" y="384048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98678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논쟁 지점 — 의견이 갈린 곳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52360" y="42611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6명 중 2~4명이 깎음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52360" y="45994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연구자가 판단할 곳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120640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「마음속 등수」(선정·보류·탈락)와 당락 포인트 1개도 냅니다 · 근거 충족도는 실제 심사처럼 최고·최저 제외 평균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57607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대필·첨삭이 아니라 심사입니다.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심사 기록 없이 이번 공고 심사표에서 질문을 만들고 · 평가위원 OpenAI 2명 · Google Gemini 2명 · 국산 Upstage Solar 2명 · 칭찬에도 원문 인용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이 대회 공고로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한 편을 넣으면,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19초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뒤 고칠 곳이 나옵니다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715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697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요건 39개 · 심사표 5개 자동 추출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파싱은 처음 한 번(5쪽 7초·37쪽 16초) · 시연은 저장본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21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 질문 15개를 6명에게 따로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서로의 답을 모른 채 판정 + 인용 + 마음속 등수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727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709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고칠 곳과 판단할 곳을 나눠 표시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보완은 문장 대신 「무엇을·어디에」만 지정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32120" y="2697480"/>
            <a:ext cx="47685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4" name="Image 0" descr="/Users/ryugi62/dev/rfp-to-fit/deliver/deck/build/img/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88920"/>
            <a:ext cx="4585624" cy="153883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32120" y="4663440"/>
            <a:ext cx="408728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6" name="Image 1" descr="/Users/ryugi62/dev/rfp-to-fit/deliver/deck/build/img/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4754880"/>
            <a:ext cx="3904409" cy="13102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앱 실제 화면(Streamlit) — 시연 공고는 저장된 파싱 결과(8장 재현율은 별도 측정 실행) · 마지막 장 주소에서 직접 눌러 볼 수 있습니다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흐름도 — AI 개입과 사람 판단 지점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사람은 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하고,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나머지는 AI와 규칙이 나눕니다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91F28"/>
          </a:solidFill>
          <a:ln w="15875">
            <a:solidFill>
              <a:srgbClr val="191F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공고·초안 올리기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38958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6974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6974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3쪽씩 병렬 파싱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4957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8B95A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82973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규칙(코드)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82973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 인용 검사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0955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8971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98971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 질문 생성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6954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4970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MCP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14970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탐색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02952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0968" y="27157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30968" y="29535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6명 독립 채점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02952" y="41148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8B95A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030968" y="42245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규칙(코드)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30968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 실재 검사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86954" y="41148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4970" y="42245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14970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무효 판정만 재질의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70955" y="41148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8B95A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98971" y="42245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규칙(코드)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98971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합의·논쟁 집계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54957" y="41148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875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2973" y="42245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82973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 위치 지정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38958" y="41148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91F28"/>
          </a:solidFill>
          <a:ln w="15875">
            <a:solidFill>
              <a:srgbClr val="191F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66974" y="42245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66974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논쟁 지점 판단 문장·제출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22576" y="308610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38574" y="308610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954573" y="308610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70571" y="308610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586570" y="308610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634472" y="3602736"/>
            <a:ext cx="0" cy="475488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9586570" y="459486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7770571" y="459486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5954573" y="459486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4138574" y="4594860"/>
            <a:ext cx="27980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22960" y="4187952"/>
            <a:ext cx="237744" cy="201168"/>
          </a:xfrm>
          <a:prstGeom prst="roundRect">
            <a:avLst>
              <a:gd name="adj" fmla="val 3636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70432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판단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22960" y="4517136"/>
            <a:ext cx="237744" cy="201168"/>
          </a:xfrm>
          <a:prstGeom prst="roundRect">
            <a:avLst>
              <a:gd name="adj" fmla="val 36364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4489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AI(LLM)가 생성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4846320"/>
            <a:ext cx="237744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170432" y="4818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규칙(코드)이 검사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2960" y="5440680"/>
            <a:ext cx="10543032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말한 것은 규칙이 검사하고, 최종 판단과 문장은 사람이 합니다.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2960" y="60167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6단계 · 규칙 3단계 · 사람 2단계 — 재질의는 인용이 원문에 없는 판정에만, 평가위원당 한 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구성 · 데이터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회사 모델, 그래프 하나,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바꿔 끼우는 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7340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 PDF · HWPX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7552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쪽 번호·원문 인용 유지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7398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 초안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비저장 · 세션 메모리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46888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5968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상태 그래프 — 원문을 통째로 넣고 인용으로 대조(RAG 대신)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566160"/>
            <a:ext cx="274320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29718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0449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 질문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255264"/>
            <a:ext cx="26517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29718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0449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탐색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1112" y="3255264"/>
            <a:ext cx="265176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29718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0449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6명 독립 채점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38862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269480" y="39593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 실재 검사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H="1">
            <a:off x="7074408" y="4169664"/>
            <a:ext cx="131064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58840" y="38862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4560" y="39593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재질의(1회)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5809488" y="4169664"/>
            <a:ext cx="131064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93920" y="38862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739640" y="39593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합의·논쟁 집계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H="1">
            <a:off x="4544568" y="4169664"/>
            <a:ext cx="131064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29000" y="38862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9593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 지정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3557016"/>
            <a:ext cx="0" cy="310896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46120" y="4800600"/>
            <a:ext cx="166116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489204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74136" y="5202936"/>
            <a:ext cx="145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엔진 gpt-4.1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평가위원 2명 gpt-5.4-mini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44440" y="4800600"/>
            <a:ext cx="166116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2456" y="489204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172456" y="5202936"/>
            <a:ext cx="145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평가위원 2명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한도 소진 시 gpt-4.1-mini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42760" y="4800600"/>
            <a:ext cx="166116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70776" y="489204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Upstage Solar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970776" y="5202936"/>
            <a:ext cx="145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국산 · 평가위원 2명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엔진 장애 시 대체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69680" y="2468880"/>
            <a:ext cx="2496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34272" y="25968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도구 서버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034272" y="289864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 연결 표준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search_prior_art · check_quote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AI 비서도 같은 도구 호출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31352" y="3017520"/>
            <a:ext cx="310896" cy="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69680" y="3886200"/>
            <a:ext cx="24963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4272" y="399592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034272" y="43159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→ 혁신성 판정 참고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117836" y="3639312"/>
            <a:ext cx="0" cy="219456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869680" y="4846320"/>
            <a:ext cx="2496312" cy="777240"/>
          </a:xfrm>
          <a:prstGeom prst="roundRect">
            <a:avLst>
              <a:gd name="adj" fmla="val 941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49560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034272" y="52760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대조표 · 합의/논쟁 · 보완 위치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2960" y="58521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 공개 R&amp;D 공고 3건(국가과학기술연구회·우주항공청·산업통상부) + 쪽별 정답표 · 인용 검사·집계는 LLM을 모르는 순수 코드(테스트 29개)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보안: 초안은 서버에 저장하지 않지만 외부 모델 API로는 전송됩니다 — LLM은 포트로 분리돼 국산·기관 내부 모델로 교체할 수 있는 구조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인용은 통과하지 못하게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「충족」이라 말하려면,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초안에서 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 그대로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인용해야 합니다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715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6974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판정마다 초안 원문 인용을 함께 제출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칭찬(충족)에도 증거를 요구합니다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675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657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원문과 글자 단위로 대조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4069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공백·문장부호만 빼고 연속 문자열 일치 — LLM이 아닌 규칙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636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617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없으면 무효 → 그 평가위원에게 한 번 재질의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5029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그래도 없으면 「충족」을 인정하지 않습니다(강등)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265176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12건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635240" y="352044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90개 중 인용이 원문에 없던 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97764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11건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물어 원문 인용을 찾은 판정(충족 유지)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516636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「부족·누락」으로 정정 0건 · 여전히 무효 1건(충족 인정 안 함)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60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인용이 판정을 뒷받침하는지는 사람이 봅니다 — 그래서 화면에 인용을 그대로 펼쳐 둡니다.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숫자: 예선 기획서 실행 기록(data/runs/nais-hackathon-2026--original.json의 trace)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정답표를 먼저 만들고,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쟀습니다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공고 파싱 — 정답표 요건을 놓치지 않은 비율(재현율, 목표 90%)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926080"/>
          <a:ext cx="5943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우주항공청 35/39 · 산업통상부 56/58 · NAIS 해커톤 22/26(가장 약한 곳: NAIS 해커톤)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심사표 이름·배점 일치 3건 모두 100% · 1건 7~16초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406640" y="2606040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일부러 지운 초안 시험 (예선 심사표)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926080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406640" y="379476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블록을 하나씩 지운 초안 5개 중 짚은 수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짚은 곳의 정확도 100%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06640" y="443484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초안 세트 1~2/5 → 블록 재설계 후 결과(사전 등록 아님). 지운 초안 5개 중 3개만 근거 충족도가 원본(91.2)보다 낮음 — 판정은 총점이 아니라 「짚은 곳」.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544068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1건 채점 19초 — 평가위원 6/6명 응답(공고 파싱 제외)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정답표: 다른 모델(Claude)이 쪽마다 판독 · 파싱 주 엔진 gpt-4.1 · 추출 수는 정답보다 많음(145·194·37개 vs 39·58·26개) · 시연은 저장된 파싱 결과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자신에게 먼저 — 이 대회 본선 심사표로 예선 기획서를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 판정은 모두 충족인데,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보류였습니다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타당성 검증형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44952"/>
            <a:ext cx="37490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큰그림형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502152"/>
            <a:ext cx="37490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전문형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959352"/>
            <a:ext cx="37490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사업성·시장형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40233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416552"/>
            <a:ext cx="37490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행정·관리형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4805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873752"/>
            <a:ext cx="374904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37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취지형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4937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12080" y="2606040"/>
            <a:ext cx="6153912" cy="26060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78892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보류의 결정 포인트 — 평가위원이 쓴 원문 그대로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154680"/>
            <a:ext cx="5605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전문형  “정확도 목표(90% 재현율, 80% 정밀도)가 실제 구현 없이 목표치만 제시되어 구체성 부족”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사업성·시장형  “시장성은 있으나 실증·구매주체가 아직 약함”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행정·관리형  “AI 윤리·보안 대책은 있으나, 실제 구현 및 검증 계획이 해커톤 기간 내 2일만에 과도하게 압축되어 실현 가능성에 의문.”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486400"/>
            <a:ext cx="10543032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0527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오늘은 목표치가 아니라 실측치를 가져왔습니다.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989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 파싱 요건 재현율 90%·97%·85%(심사표 이름·배점 100%) · 일부러 지운 초안 탐지 4/5 · 정밀도 100% — 8장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data/runs/nais-hackathon-2026--original.json 의 stances(선정·보류·탈락 + 결정 포인트) · 항목 합산보다 결정 포인트로 등수를 먼저 정한다(현장 멘토링)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9601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연구자에서 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전문기관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엔진이 갑니다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연구자 · 구현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셀프 점검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이 앱 — 고칠 곳부터, 갈리는 곳은 판단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41648" y="3310128"/>
            <a:ext cx="388620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39996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전문기관 · 계획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39996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후 요건 사전검토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39996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 미비·필수 서류 누락 스크리닝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58684" y="3310128"/>
            <a:ext cx="388620" cy="0"/>
          </a:xfrm>
          <a:prstGeom prst="line">
            <a:avLst/>
          </a:prstGeom>
          <a:noFill/>
          <a:ln w="15875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57032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평가위원 · 계획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7032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지표별 근거 위치 표시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57032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 보조 — 판정은 사람이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엔진, 다른 문서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연차·성과보고서 · 계획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지표 대비 실적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39996" y="47091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1164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연구비 정산 · 계획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41164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 대비 집행 항목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57032" y="47091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MCP로 연결 · 구현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2개 · NAIS 플랫폼·AI 비서 연결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8978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 — 심사 의견 데이터는 평가기관에 있습니다. 전문기관과 연계하면 실제 심사 의견 유형으로 평가위원을 보정합니다.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지금은 공개 자료 + 현장 심사 경험 기반 유형 · 첫 실증 목표: 전문기관 접수 사전검토 1회(형식 미비 재현율 90%)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직접 눌러 보세요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1645920"/>
            <a:ext cx="105430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여섯 명의 평가위원이,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읽어 드립니다.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14개 · 코드는 전부 본선 중 커밋(첫 코드 커밋 09/30 19:19, 그 전엔 문서뿐)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테스트 → 구현 순서 · 코딩 에이전트 활용 규칙까지 공개(AGENTS.md)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983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라이브가 끊기면 — 앱의 「② 우리 기획서 전·후」 탭이 저장된 실행 기록으로 같은 결과를 보여 줍니다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루미아 · 김태걸 · 박세훈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6948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" name="Image 0" descr="/Users/ryugi62/dev/rfp-to-fit/deliver/deck/build/img/qr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2" y="2084832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52360" y="4005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invisible-sail-shame-preliminary.trycloudflare.com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37260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2" name="Image 1" descr="/Users/ryugi62/dev/rfp-to-fit/deliver/deck/build/img/qr-re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2084832"/>
            <a:ext cx="1371600" cy="1371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5548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555480" y="4005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github.com/Ryugi62/rfp-to-fit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팀 루미아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RFP-to-Fit — 팀 루미아</dc:title>
  <dc:subject>PptxGenJS Presentation</dc:subject>
  <dc:creator>PptxGenJS</dc:creator>
  <cp:lastModifiedBy>PptxGenJS</cp:lastModifiedBy>
  <cp:revision>1</cp:revision>
  <dcterms:created xsi:type="dcterms:W3CDTF">2026-09-30T11:57:18Z</dcterms:created>
  <dcterms:modified xsi:type="dcterms:W3CDTF">2026-09-30T11:57:18Z</dcterms:modified>
</cp:coreProperties>
</file>