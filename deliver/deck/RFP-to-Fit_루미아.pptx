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안녕하세요, 팀 루미아 김태걸입니다. 저희는 심사 결과를 맞히는 AI를 만들지 않았습니다. 공고가 요구하는데 내 초안에 근거가 없는 곳을, 제출 전에 원문으로 짚어 주는 에이전트를 만들었습니다.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제안서를 내 보신 분은 아실 겁니다. 떨어진 이유는 늘 심사평을 받고 나서야 압니다. 공고 한 건에 지킬 것이 58개, 37쪽에 흩어져 있고, 심사위원은 저마다 다른 것을 봅니다. 어제 멘토링에서 들은 말처럼, 심사위원은 항목 합산보다 몇 가지 결정 포인트로 등수를 먼저 정합니다. 그런데 제출 전에 그 눈으로 읽어 줄 사람은 없습니다. 저희도 올해 공고 400여 건을 읽고 지원하면서 매번 여기서 막혔습니다.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어려운 점은 세 가지였습니다. 요건이 흩어져 있고, 심사위원마다 보는 게 다르고, AI가 검사한 걸 믿을 수 있느냐. 그래서 링크만 넣으면 공고문을 찾아 요건과 심사표를 쪽 번호와 함께 뽑고, 실제 심사 경험에서 나온 관점 여섯 개로 나눠 근거를 찾게 하고, 칭찬에도 원문 인용을 요구해 코드가 대조합니다. 오른쪽 숫자는 오늘 밤 직접 잰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[35초] 연구자가 할 일은 두 번의 붙여넣기입니다. 공고 링크를 넣으면 공지에 붙은 첨부 중 공고문을 알아서 골라 읽고, 내 초안을 올리면 개인정보를 가린 뒤 여섯 명에게 보냅니다. 약 45초 뒤 모든 관점이 근거를 못 찾은 곳, 의견이 갈린 곳, 관점마다 가장 걸리는 점이 나옵니다. 보완은 문장을 써 주지 않고, 어떤 근거를 어느 절에 넣을지만 알려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역할을 나눴습니다. 사람은 세 가지만 판단합니다. 어떤 공고에 낼지, 의견이 갈린 곳을 고칠지, 그리고 문장을 직접 씁니다. AI는 생성만 합니다. 공고 파싱과 점검 질문은 주 엔진이, 관점별 근거 찾기는 세 회사 모델에 나눈 여섯 관점이 합니다. 규칙은 코드로 검사합니다. 인용이 초안에 글자 그대로 있는지, 몇 관점이 근거를 못 찾았는지로 합의와 논쟁을 나누고, 개인정보는 보내기 전에 가립니다.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저희 구조의 핵심은 LLM을 판사로 쓰지 않는다는 겁니다. LLM은 증인처럼 증거, 즉 원문 인용만 냅니다. 인용이 원문에 있는지는 코드가 보고, 그 인용이 정말 근거가 되는지는 다른 회사 모델이 반대 심문합니다. 채택·집계·보류는 결정론 코드가 정합니다. 흐름은 LangGraph 상태 그래프 한 장입니다. 점검 질문, 선행 탐색, 여섯 명 병렬 채점까지 가고, 인용 검사에서 원문에 없는 판정이 있으면 그 평가위원에게만 한 번 되돌아가 다시 묻습니다. 없으면 바로 집계로 갑니다. 한 회사 모델이 한도에 걸리거나 멈추면 다음 모델로 자동으로 넘어가고, 실제로 판정한 모델은 기록에 남깁니다.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[25초] 심사위원의 판단엔 정답이 없습니다. 그래서 저희는 심사 결과를 맞힌다고 주장하지 않습니다. 대신 신뢰를 네 가지로 정의했습니다. 모든 지적은 공고 원문과 초안 원문 두 끝에 묶여 바로 확인할 수 있고, 원문에 없는 인용은 코드가 걸러내고, 관점이 갈리면 판정하지 않고 사람에게 넘기고, 잴 수 있는 것만 숫자로 말합니다. 그리고 확인은 여러분이 직접 하실 수 있습니다. 지적마다 원문 보기를 누르면 공고 쪽과 초안 위치가 강조되고, 맞음·틀림을 누르면 사람이 확인한 정밀도가 쌓입니다.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검사 도구 두 개를 MCP 서버로 감쌌습니다. 선행연구 검색과 인용 검사입니다. 실제로 다른 AI 비서인 Codex에 이 서버를 붙여 호출해 봤고, 원문에 있는 인용은 참, 없는 인용은 거짓이 나왔습니다. OpenAlex를 쓴 이유는 무료이고 키가 필요 없어서인데, 오늘 밤 실측 중에 OpenAlex가 장애를 냈고 도구 뒤에서 Crossref로 바뀌었습니다. MCP로 감싼 이유가 바로 이겁니다. 국내 DB도 같은 자리에 꽂으면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[30초] 잴 수 있는 것만 숫자로 말씀드립니다. 예시 공고에만 맞춘 게 아닌지 보려고, 개발에 안 쓴 과기정통부 공고 두 건을 링크로 가져와 정답표를 먼저 고정하고 쟀습니다. 94%와 77%, 심사표 배점은 다섯 건 모두 맞혔습니다. 그리고 관점을 여러 개로 나눌 필요가 있는지 제거 실험을 했습니다. 관점 하나는 안 지운 곳을 3곳 잘못 짚었고, 여섯으로 나누자 0이었습니다. 회사 모델을 섞는 효과는 확인되지 않았다고 그대로 말씀드립니다.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예선 때 약속한 것을 그대로 대조했습니다. 링크 입력, 구조화, 독립 채점, 보완 지정은 했습니다. 특허·과제 탐색은 논문만 했고, RAG는 원문 인용 대조로 바꿨고, 재현율 90%는 공고에 따라 못 미친 곳이 있습니다. 못 한 것도 지우지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[20초] 이 대회 본선 심사표로 저희 예선 기획서를 먼저 검사했습니다. 결과를 예측한 게 아니라, 세 관점에서 걸리는 점을 받았습니다. 차별성의 근거가 약하다, 구매 주체가 약하다, 구현 계획이 구체적이지 않다. 그래서 오늘 구조의 차별점과 제거 실험, 첫 실증 대상, 그리고 계획 대신 구현 결과를 가져왔습니다.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[15초] 같은 엔진이 세 시점으로 이어집니다. 지금은 연구자의 제출 전 셀프 점검이고, 첫 실증 목표는 전문기관의 접수 후 요건 사전검토, 그다음은 심사 중 평가위원에게 근거 위치를 띄워 주는 보조입니다. 실제 심사 의견 데이터는 평가기관에 있으니, 연계하면 가상 평가위원을 실제 유형으로 보정할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[10초] 공고 링크 하나, 초안 하나. 제출 전에 빈칸부터 짚어 드립니다. 화면의 주소에서 지금 직접 해 보실 수 있습니다.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 NAIS AI 해커톤 본선 · 팀 루미아 · RFP-to-Fit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하나, 초안 하나.</a:t>
            </a:r>
            <a:endParaRPr lang="en-US" sz="48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4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 짚어 드립니다.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10543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결과를 맞히는 AI가 아니라 — 공고가 요구하는데 내 초안에 근거가 없는 곳을, 원문으로 짚어 주는 에이전트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822960" y="585216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김태걸 · 박세훈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문제 — 제안서를 내는 연구자의 자리에서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떨어진 이유는 늘,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심사평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받고 나서야 압니다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지킬 것 58개가 37쪽에 흩어져 있습니다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R&amp;D 공고 한 건 — 자격·서류·서식·감점 조건이 본문·주석·첨부에 나뉘어 있고 평가표도 3종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22960" y="3739896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21608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 5~7명은 저마다 다른 것을 봅니다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4133088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기술 타당성, 사업성, 행정(예산·인력·빈칸), 사업 취지 — 그리고 항목 합산보다 몇 가지 결정 포인트로 마음속 등수를 먼저 정합니다(현장 멘토링)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22960" y="4764024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745736"/>
            <a:ext cx="9902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 그 눈으로 읽어 줄 사람이 없습니다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5157216"/>
            <a:ext cx="9902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동료 검토는 같은 연구자의 눈이고, 심사위원의 눈은 심사평으로만 돌아옵니다 — 이미 늦은 뒤에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822960" y="57607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589788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저희 팀도 올해 공모·지원사업 공고 400여 건을 읽고 지원하면서 매번 이 자리에서 막혔습니다.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무엇이 어려웠고, 어떻게 풀었나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 세 가지를,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장치 세 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로 풀었습니다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5603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어려운 점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3657600" y="256032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RFP-to-Fit이 하는 일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229600" y="2560320"/>
            <a:ext cx="3136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흩어진 요건과 심사표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657600" y="292608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링크만 넣으면 공지의 첨부 중 공고문을 찾아 내려받고(PDF·HWPX·HWP), 요건과 심사표를 쪽 번호·원문 인용과 함께 뽑습니다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229600" y="292608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13/13건 성공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85~93%·처음 보는 공고 76~97%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심사표 배점 100% 일치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22960" y="39136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0233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심사위원마다 다른 관점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657600" y="402336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경험에서 나온 관점 6개로 나눠 서로 모른 채 근거를 찾게 하고 → 모두 못 찾은 곳(고칠 곳)과 갈리는 곳(사람이 판단할 곳)을 나눕니다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229600" y="402336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단일 LLM 오탐 3 → 6역할 오탐 0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(일부러 지운 초안 5개)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501091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512064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심사를 믿을 수 있나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657600" y="5120640"/>
            <a:ext cx="4389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「충족」에도 초안 원문 인용을 요구하고, 코드가 글자 단위로 대조해 없으면 무효 → 그 평가위원에게 한 번 다시 묻습니다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3136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 90개 중 9건 적발</a:t>
            </a:r>
            <a:endParaRPr lang="en-US" sz="12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5건 원문 확인 · 2건 무효 처리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출처: data/eval/(link-fetch · extract-openai-3runs · holdout-summary · planted-ablation-*) · data/runs/…original.json — 저장소 공개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사용 흐름 — 연구자가 하는 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연구자가 할 일은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붙여넣기 두 번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링크 붙여넣기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IRIS·부처·기관 게시판 공지 주소 또는 PDF 주소 — 첨부 중 공고문을 알아서 고름(공고문이 여러 파일이면 합침)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76732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74904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내 초안 올리기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1463040" y="41605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HWPX·HWP·PDF·텍스트 — 서버에 저장하지 않고, 주민번호·전화·이메일·생년월일은 가린 뒤 AI에 보냄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818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800600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 · 판단할 곳 → 원문으로 직접 확인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63040" y="521208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관점이 근거를 못 찾은 곳, 갈린 곳 + 「어떤 근거를 어느 절에」 — 「원문 보기」로 공고 쪽·초안 위치를 강조해 보고 ✓/✗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715000" y="2697480"/>
            <a:ext cx="3706477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4" name="Image 0" descr="/Users/ryugi62/dev/rfp-to-fit/deliver/deck/build/img/inp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788920"/>
            <a:ext cx="3523597" cy="1521245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5715000" y="4663440"/>
            <a:ext cx="1620982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6" name="Image 1" descr="/Users/ryugi62/dev/rfp-to-fit/deliver/deck/build/img/resul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6440" y="4754880"/>
            <a:ext cx="1438102" cy="1216855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 실제 화면 · 처음 보는 19쪽 공고를 올렸을 때 파싱 20초 + 채점 25초(브라우저 실측) · 마지막 장 주소에서 직접 해 보실 수 있습니다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서비스 흐름도 — AI 개입과 사람 판단 지점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누가 무엇을 하는가 —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은 판단, AI는 생성, 규칙은 검사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191F28"/>
          </a:solidFill>
          <a:ln w="12700">
            <a:solidFill>
              <a:srgbClr val="191F2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사람 — 판단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68680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공고·초안 넣기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68680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어떤 공고에 어떤 초안을 낼지 정함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68680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논쟁 지점 채택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의견이 갈린 곳은 연구 전략·사실을 아는 본인이 고칠지 결정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68680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문장 작성·제출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68680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에이전트는 문장을 쓰지 않음 — 위치와 근거 종류만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13504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96384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— 생성(모델)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459224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파싱·점검 질문·보완 위치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59224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 gpt-4.1 — 3쪽씩 병렬로 요건·배점을 원문 인용과 함께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459224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6개의 근거 찾기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59224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OpenAI gpt-5.4-mini · Gemini gemini-3.6-flash · Upstage Solar solar-pro3 — 질문별 충족/부족/누락 + 인용 + 선정·보류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59224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선행연구 검색어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459224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 → MCP 도구로 검색 후 관련 논문만 선별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004048" y="2514600"/>
            <a:ext cx="3361944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8B95A1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8186928" y="2606040"/>
            <a:ext cx="2996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규칙(코드) — 검사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049768" y="3154680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049768" y="3502152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공백·문장부호를 뺀 뒤 인용이 초안에 연속 문자열로 있는지 — 없으면 무효·재질의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049768" y="4178808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49768" y="4526280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유효 판정 중 부족·누락 ≥80% 합의 결핍, 20~80% 논쟁, 유효 &lt; 절반은 확인 불가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49768" y="5202936"/>
            <a:ext cx="32705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점수·개인정보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049768" y="5550408"/>
            <a:ext cx="3270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충족1·부족0.5·누락0, 최고·최저 제외 평균 · 주민번호·전화·이메일·생년월일 정규식 가림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22960" y="62636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구성 · 데이터 — LangGraph 상태 그래프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LLM은 판사가 아니라 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증인</a:t>
            </a:r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입니다 —</a:t>
            </a:r>
            <a:endParaRPr lang="en-US" sz="3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판정은 코드가 합니다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822960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rubric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14400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점검 질문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14400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048256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2156678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8118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248118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48118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→ OpenAlex/Crossref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381974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3490395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81835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581835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 채점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581835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3사 모델 병렬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4715691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4824113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20" name="Text 18"/>
          <p:cNvSpPr/>
          <p:nvPr/>
        </p:nvSpPr>
        <p:spPr>
          <a:xfrm>
            <a:off x="4915553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915553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 실재 검사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915553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57831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249271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recheck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49271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재질의 1회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6249271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판정만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7383127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491549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582989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cross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582989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82989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회사 모델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8716845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8825266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 w="15875">
            <a:solidFill>
              <a:srgbClr val="8B95A1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16706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aggregate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916706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합의·논쟁 집계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916706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코드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10050562" y="3406140"/>
            <a:ext cx="90134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38" name="Shape 36"/>
          <p:cNvSpPr/>
          <p:nvPr/>
        </p:nvSpPr>
        <p:spPr>
          <a:xfrm>
            <a:off x="10158984" y="2880360"/>
            <a:ext cx="1207008" cy="1051560"/>
          </a:xfrm>
          <a:prstGeom prst="roundRect">
            <a:avLst>
              <a:gd name="adj" fmla="val 6957"/>
            </a:avLst>
          </a:prstGeom>
          <a:solidFill>
            <a:srgbClr val="EAF3FF"/>
          </a:solidFill>
          <a:ln w="15875">
            <a:solidFill>
              <a:srgbClr val="3182F6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0250424" y="2971800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remedy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250424" y="3191256"/>
            <a:ext cx="10241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위치 지정</a:t>
            </a:r>
            <a:endParaRPr lang="en-US" sz="1300" dirty="0"/>
          </a:p>
        </p:txBody>
      </p:sp>
      <p:sp>
        <p:nvSpPr>
          <p:cNvPr id="41" name="Text 39"/>
          <p:cNvSpPr/>
          <p:nvPr/>
        </p:nvSpPr>
        <p:spPr>
          <a:xfrm>
            <a:off x="10250424" y="3593592"/>
            <a:ext cx="10241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gpt-4.1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6049409" y="3406140"/>
            <a:ext cx="90134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43" name="Text 41"/>
          <p:cNvSpPr/>
          <p:nvPr/>
        </p:nvSpPr>
        <p:spPr>
          <a:xfrm>
            <a:off x="5939681" y="2587752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있음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5427617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27617" y="4297680"/>
            <a:ext cx="2667435" cy="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8095053" y="3977640"/>
            <a:ext cx="0" cy="320040"/>
          </a:xfrm>
          <a:prstGeom prst="line">
            <a:avLst/>
          </a:prstGeom>
          <a:noFill/>
          <a:ln w="15875">
            <a:solidFill>
              <a:srgbClr val="8B95A1"/>
            </a:solidFill>
            <a:prstDash val="solid"/>
            <a:tailEnd type="triangle"/>
          </a:ln>
        </p:spPr>
      </p:sp>
      <p:sp>
        <p:nvSpPr>
          <p:cNvPr id="47" name="Text 45"/>
          <p:cNvSpPr/>
          <p:nvPr/>
        </p:nvSpPr>
        <p:spPr>
          <a:xfrm>
            <a:off x="5519057" y="434340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무효 없음 → 바로 교차 신문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822960" y="48006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상태</a:t>
            </a:r>
            <a:endParaRPr lang="en-US" sz="1250" dirty="0"/>
          </a:p>
        </p:txBody>
      </p:sp>
      <p:sp>
        <p:nvSpPr>
          <p:cNvPr id="49" name="Text 47"/>
          <p:cNvSpPr/>
          <p:nvPr/>
        </p:nvSpPr>
        <p:spPr>
          <a:xfrm>
            <a:off x="2194560" y="4800600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items · prior · verdicts · stances · failed · table · remedies — 노드는 상태를 읽고 자기 칸만 씀</a:t>
            </a:r>
            <a:endParaRPr lang="en-US" sz="1200" dirty="0"/>
          </a:p>
        </p:txBody>
      </p:sp>
      <p:sp>
        <p:nvSpPr>
          <p:cNvPr id="50" name="Text 48"/>
          <p:cNvSpPr/>
          <p:nvPr/>
        </p:nvSpPr>
        <p:spPr>
          <a:xfrm>
            <a:off x="822960" y="51846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실패 처리</a:t>
            </a:r>
            <a:endParaRPr lang="en-US" sz="1250" dirty="0"/>
          </a:p>
        </p:txBody>
      </p:sp>
      <p:sp>
        <p:nvSpPr>
          <p:cNvPr id="51" name="Text 49"/>
          <p:cNvSpPr/>
          <p:nvPr/>
        </p:nvSpPr>
        <p:spPr>
          <a:xfrm>
            <a:off x="2194560" y="5184648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평가위원 호출 실패는 순차 재시도, 그래도 실패하면 「응답 k/6」으로 화면에 표시(조용히 버리지 않음)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22960" y="556869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모델 대체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2194560" y="5568696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 엔진·평가위원마다 대체 모델 사슬 — 한도·장애 시 자동 전환, 실제로 판정한 모델을 기록에 남김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822960" y="595274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교차 신문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2194560" y="5952744"/>
            <a:ext cx="9171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엄격 모드 — 「충족」 인용을 다른 회사 모델이 반대 심문, 무관·부정·빈말이면 「부족」으로(존재 ≠ 충족). 켜면 오탐 0→2라 기본은 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신뢰도 — 정답이 없는 영역이라, 기준을 먼저 세웠습니다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맞히는 것이 아니라,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확인할 수 있는 것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을 신뢰라고 정의했습니다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291840" cy="3246120"/>
          </a:xfrm>
          <a:prstGeom prst="roundRect">
            <a:avLst>
              <a:gd name="adj" fmla="val 2254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주장하지 않는 것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51560" y="3154680"/>
            <a:ext cx="2834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심사 결과·점수를 맞힌다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가상 관점 = 실제 심사위원</a:t>
            </a:r>
            <a:endParaRPr lang="en-US" sz="1450" dirty="0"/>
          </a:p>
          <a:p>
            <a:pPr indent="0" marL="0">
              <a:lnSpc>
                <a:spcPct val="160000"/>
              </a:lnSpc>
              <a:buNone/>
            </a:pPr>
            <a:r>
              <a:rPr lang="en-US" sz="14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  제안서를 대신 써 준다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1051560" y="475488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심사위원의 판단은 주관적이고 정답이 없습니다 — 그래서 이것들은 주장하지 않습니다.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4434840" y="265176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37760" y="265176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추적 가능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903720" y="267004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지적은 두 끝에 묶입니다 — 공고 원문(쪽·인용)과 초안 원문(인용). 사람이 원문을 바로 열어 확인합니다.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434840" y="338328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840" y="347472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937760" y="34747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날조 없음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903720" y="349300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원문에 없는 인용은 코드가 걸러 판정에서 뺍니다 — 이번 실행 90개 중 9건 적발 → 5건 원문 확인 · 2건 무효.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434840" y="420624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429768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937760" y="429768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모르면 넘김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903720" y="431596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관점이 갈리면(20~80%) 판정하지 않고 「논쟁 지점」으로 사람에게, 근거 있는 판정이 절반 미만이면 「확인 불가」.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34840" y="5029200"/>
            <a:ext cx="693115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4840" y="5120640"/>
            <a:ext cx="457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4937760" y="51206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잴 수 있는 것만 숫자로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903720" y="5138928"/>
            <a:ext cx="4462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추출(정답표 대비)과 일부러 지운 근거 탐지(오탐)만 숫자로 말하고, 심사 예측 정확도는 말하지 않습니다.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22960" y="6035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6108192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현장 검증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지적마다 「원문 보기」(공고 쪽·초안 위치 강조)와 ✓/✗ → 사람이 확인한 정밀도가 화면에 쌓입니다. </a:t>
            </a:r>
            <a:pPr indent="0" marL="0">
              <a:buNone/>
            </a:pPr>
            <a:r>
              <a:rPr lang="en-US" sz="12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보안 모드 — </a:t>
            </a:r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초안은 국산 모델에만, 해외 검색 끔.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 서버 — AI 도구 연결 표준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검사 도구를 MCP로 감싸,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다른 AI 비서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도 같은 검사를 씁니다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71576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63040" y="269748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search_prior_art(query, n)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463040" y="310896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공개 학술 DB 검색 — OpenAlex 우선, 장애 시 Crossref로 자동 전환 · 결과는 혁신성 판정의 참고 자료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822960" y="367588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463040" y="365760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check_quote(quote, text)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406908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인용이 원문에 있는지 true/false — LLM 없이 같은 규칙 코드로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22960" y="463600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463040" y="4617720"/>
            <a:ext cx="51206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왜 OpenAlex인가, 왜 MCP인가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463040" y="502920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무료·키 없음·메타데이터 공개 라이선스라 기관 어디서든 비용 0 — 다만 오늘 밤 실측 중 OpenAlex가 503을 냈고 도구 뒤에서 Crossref로 바뀌었습니다. 국내 DB(NTIS·KCI)도 같은 자리에 꽂으면 됩니다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903720" y="2606040"/>
            <a:ext cx="4462272" cy="3429000"/>
          </a:xfrm>
          <a:prstGeom prst="roundRect">
            <a:avLst>
              <a:gd name="adj" fmla="val 2133"/>
            </a:avLst>
          </a:prstGeom>
          <a:solidFill>
            <a:srgbClr val="F4F6F8"/>
          </a:solidFill>
          <a:ln w="12700">
            <a:solidFill>
              <a:srgbClr val="F4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32320" y="2743200"/>
            <a:ext cx="4005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실측 — 다른 AI 비서(Codex CLI)에 서버를 붙여 호출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132320" y="3108960"/>
            <a:ext cx="40050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mcp_servers.rfp_to_fit.command = "python"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91F2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args = ["-m", "rfp_to_fit.infrastructure.mcp_server"]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132320" y="3794760"/>
            <a:ext cx="40050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check_quote(「재현율 90% 이상」) → true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check_quote(「정밀도 95% 달성」) → false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search_prior_art(「multi-agent LLM grant proposal review」) → 3편(Crossref)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132320" y="4937760"/>
            <a:ext cx="40050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찾은 선행연구 중 하나는 다중 에이전트로 지원서를 「생성」하는 연구 — 저희는 생성하지 않고, 이 공고의 심사표로 「검사」합니다.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증거: deliver/mcp-codex-transcript.txt(호출 기록) · Crossref 대체 전환은 tests/test_scholar.py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측정 — 잴 수 있는 것만 숫자로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정답표를 먼저 고정하고,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처음 보는 공고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와 제거 실험으로 쟀습니다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공고 파싱 — 요건 재현율(심사표 배점은 5건 모두 100%)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22960" y="29718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우주항공청 · 개발용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114800" y="2971800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120640" y="2999232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85~87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3355848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산업통상부 · 개발용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3355848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93%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3383280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91~95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739896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해커톤 · 개발용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114800" y="3739896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87%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20640" y="3767328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85~88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12394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국가과학자 · 처음 봄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114800" y="4123944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94%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120640" y="4151376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92~97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507992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과기정통부 라이징스타 · 처음 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114800" y="4507992"/>
            <a:ext cx="868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78%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120640" y="4535424"/>
            <a:ext cx="1188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76~78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4937760"/>
            <a:ext cx="5577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「처음 봄」= 개발에 안 쓴 공고를 링크로 새로 가져와 정답표를 측정 전에 커밋(3회). 라이징스타에서 놓친 9개 중 6개가 ※주석 조건 → 규칙 1줄 후 89~95%(따로 표기)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20840" y="2606040"/>
            <a:ext cx="4645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제거 실험 — 근거를 지운 초안 5개에서 오탐(안 지운 곳을 짚음)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6720840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58000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1개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858000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000" dirty="0"/>
          </a:p>
        </p:txBody>
      </p:sp>
      <p:sp>
        <p:nvSpPr>
          <p:cNvPr id="25" name="Text 23"/>
          <p:cNvSpPr/>
          <p:nvPr/>
        </p:nvSpPr>
        <p:spPr>
          <a:xfrm>
            <a:off x="6858000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14944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452104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한 회사 모델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452104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29" name="Text 27"/>
          <p:cNvSpPr/>
          <p:nvPr/>
        </p:nvSpPr>
        <p:spPr>
          <a:xfrm>
            <a:off x="8452104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5/5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909048" y="2971800"/>
            <a:ext cx="1456944" cy="1783080"/>
          </a:xfrm>
          <a:prstGeom prst="roundRect">
            <a:avLst>
              <a:gd name="adj" fmla="val 5021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046208" y="3063240"/>
            <a:ext cx="11826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11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6역할 · 3사 모델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046208" y="3520440"/>
            <a:ext cx="11826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4000" dirty="0"/>
          </a:p>
        </p:txBody>
      </p:sp>
      <p:sp>
        <p:nvSpPr>
          <p:cNvPr id="33" name="Text 31"/>
          <p:cNvSpPr/>
          <p:nvPr/>
        </p:nvSpPr>
        <p:spPr>
          <a:xfrm>
            <a:off x="10046208" y="4315968"/>
            <a:ext cx="1182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짚은 4/5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720840" y="4937760"/>
            <a:ext cx="4645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관점을 나누자 오탐이 0 — 세 회사 모델을 섞는 효과는 이 표본(5개·각 1회)에선 확인 안 됨(섞는 이유는 가용성)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822960" y="566928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806440"/>
            <a:ext cx="10543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링크 입력 13/13건(HWP·스크립트 다운로드·공고문 2개 합치기) · 처음 본 공고 추출 51개 원문 대조 감사: 지어낸 요건 0 · 신청 요건 맞음 44(86%) · 안내·사후 의무 7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정답표·감사: 파이프라인(OpenAI)과 다른 회사 모델(Claude) — 사람 검수 아님 · 검증 정답표 커밋 430ea7d(21:37) 뒤 측정 · 감사 data/eval/audit-national-scientist.json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약속 → 본선 구현 — 포스터와 현실의 거리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예선 때 약속한 것을,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그대로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대조했습니다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공고 URL·PDF·HWPX 입력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6583680" y="260604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223760" y="262432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+HWP, 실제 공지 13/13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22960" y="296265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99923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요건·평가지표 구조화(출처 쪽)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583680" y="2999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0" y="301752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모든 항목에 쪽·원문 인용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" y="335584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39242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가상 평가위원 독립 채점 → 합의/논쟁/확인 불가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6583680" y="339242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7223760" y="341071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관점 6개(현장 멘토링 반영)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22960" y="374904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378561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보완 지정 — 문장은 쓰지 않음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583680" y="378561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223760" y="380390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종류·넣을 위치만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22960" y="4142232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4178808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선행 탐색(논문·NTIS 과제·KIPRIS 특허, MCP)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583680" y="4178808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23760" y="4197096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논문만 — 축소 규칙 적용, NTIS·KIPRIS는 키 미확보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22960" y="4535424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22960" y="4572000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RAG(bge-m3 + FAISS)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6583680" y="457200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7223760" y="4590288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원문 전체 + 인용 대조로 교체 — 판정 근거 추적이 더 직접적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22960" y="4928616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22960" y="4965192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재현율 ≥ 90%</a:t>
            </a:r>
            <a:endParaRPr lang="en-US" sz="1350" dirty="0"/>
          </a:p>
        </p:txBody>
      </p:sp>
      <p:sp>
        <p:nvSpPr>
          <p:cNvPr id="29" name="Text 27"/>
          <p:cNvSpPr/>
          <p:nvPr/>
        </p:nvSpPr>
        <p:spPr>
          <a:xfrm>
            <a:off x="6583680" y="49651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B779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7223760" y="4983480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개발 85~93% · 처음 본 공고 77~94%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822960" y="5321808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5358384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결핍 탐지 정밀도 ≥ 80%</a:t>
            </a:r>
            <a:endParaRPr lang="en-US" sz="1350" dirty="0"/>
          </a:p>
        </p:txBody>
      </p:sp>
      <p:sp>
        <p:nvSpPr>
          <p:cNvPr id="33" name="Text 31"/>
          <p:cNvSpPr/>
          <p:nvPr/>
        </p:nvSpPr>
        <p:spPr>
          <a:xfrm>
            <a:off x="6583680" y="5358384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7223760" y="5376672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오탐 0(100%) · 탐지 4/5, 표본 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822960" y="571500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751576"/>
            <a:ext cx="5669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초안 비저장 · 오픈소스(MIT)</a:t>
            </a:r>
            <a:endParaRPr lang="en-US" sz="1350" dirty="0"/>
          </a:p>
        </p:txBody>
      </p:sp>
      <p:sp>
        <p:nvSpPr>
          <p:cNvPr id="37" name="Text 35"/>
          <p:cNvSpPr/>
          <p:nvPr/>
        </p:nvSpPr>
        <p:spPr>
          <a:xfrm>
            <a:off x="6583680" y="5751576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7223760" y="5769864"/>
            <a:ext cx="41422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+개인정보 가림 · LICENSE 공개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822960" y="635508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기획서 v2(9/5 제출)·아이디어 포스터(9/15 제출) 대비 — 못 한 것도 지우지 않았습니다 · 전체 표는 저장소 README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우리 자신에게 먼저 — 이 대회 본선 심사표로 예선 기획서를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대회 심사표로 우리를 먼저 검사하니,</a:t>
            </a:r>
            <a:endParaRPr lang="en-US" sz="3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3개 관점</a:t>
            </a:r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에서 걸린 점이 오늘의 준비물이 됐습니다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822960" y="2606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각 관점이 쓴 「가장 걸리는 점」(원문)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720840" y="2606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그래서 오늘 가져온 것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822960" y="3017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세부 전문형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22960" y="331012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“혁신성 차별성 구체성 부족”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400800" y="333756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6720840" y="312724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차별성의 근거 — LLM은 증인·판정은 코드(6장), 관점 1개 대 6개 제거 실험(9장)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사업성·시장형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42702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“시장수요는 보이나 실증·구매주체가 약함”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0" y="429768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6720840" y="408736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대상 — 전문기관 접수 후 요건 사전검토(12장)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행정·관리형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23036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“해커톤 기간 내 구현 계획의 구체성 부족”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400800" y="5257800"/>
            <a:ext cx="228600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6720840" y="5047488"/>
            <a:ext cx="46451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30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구현 계획 대신 구현 결과 — 커밋 36개·테스트 37개·예선 약속 대조(10장)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22960" y="5989320"/>
            <a:ext cx="10543032" cy="0"/>
          </a:xfrm>
          <a:prstGeom prst="line">
            <a:avLst/>
          </a:prstGeom>
          <a:noFill/>
          <a:ln w="12700">
            <a:solidFill>
              <a:srgbClr val="E5E8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6080760"/>
            <a:ext cx="10543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항목 근거는 거의 다 있었지만 3개 관점이 전체 인상을 「보류」로 적었습니다 — 결과 예측이 아니라, 발표 전에 대비할 질문을 먼저 받은 것</a:t>
            </a:r>
            <a:endParaRPr lang="en-US" sz="11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5486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확장 — 같은 엔진, 세 개의 시점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960120"/>
            <a:ext cx="1054303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→ 접수 후 → 심사 중,</a:t>
            </a:r>
            <a:endParaRPr lang="en-US" sz="34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엔진</a:t>
            </a:r>
            <a:pPr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이 이어집니다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822960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EAF3FF"/>
          </a:solidFill>
          <a:ln w="12700">
            <a:solidFill>
              <a:srgbClr val="3182F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51560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 · 연구자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셀프 점검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51560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고칠 곳·판단할 곳·관점별로 걸리는 점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51560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64D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이 앱 — 구현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181856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4428744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7344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접수 후 · 전문기관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657344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요건 사전검토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4657344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같은 요건 매트릭스로 형식 미비·필수 서류 누락을 먼저 걸러 담당자 검토 시간 단축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657344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첫 실증 목표 — 계획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7787640" y="3749040"/>
            <a:ext cx="219456" cy="0"/>
          </a:xfrm>
          <a:prstGeom prst="line">
            <a:avLst/>
          </a:prstGeom>
          <a:noFill/>
          <a:ln w="15875">
            <a:solidFill>
              <a:srgbClr val="3182F6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034528" y="2606040"/>
            <a:ext cx="3331464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63128" y="274320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심사 중 · 평가위원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63128" y="3090672"/>
            <a:ext cx="28742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근거 위치 표시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263128" y="3611880"/>
            <a:ext cx="28742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지표마다 제안서의 근거 문장 위치를 옆에 띄워 심사 보조 — 판정은 사람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63128" y="4526280"/>
            <a:ext cx="2874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계획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22960" y="5074920"/>
            <a:ext cx="1054303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NAIS 비전과의 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「가설부터 실험·분석까지 스스로 하는 AI 사이언티스트, 1인 1연구소」에서 빠진 순간이 과제 신청입니다 — 그 자리를 채우는 도구입니다.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데이터가 쌓이는 방향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실제 심사 의견은 평가기관에 있습니다(멘토링). 전문기관과 연계하면 가상 평가위원을 실제 심사 의견 유형으로 보정합니다.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연결 — 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도구로 NAIS 플랫폼·연구자 AI 비서에 그대로 꽂히고, 같은 엔진이 연차·성과보고서(지표 대비 실적)와 연구비 정산(증빙 대비 항목)으로 넓어집니다.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0515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지금 직접 해 보세요 — 공고 링크 하나, 초안 하나</a:t>
            </a:r>
            <a:endParaRPr lang="en-US" sz="1400" dirty="0"/>
          </a:p>
        </p:txBody>
      </p:sp>
      <p:sp>
        <p:nvSpPr>
          <p:cNvPr id="3" name="Text 1"/>
          <p:cNvSpPr/>
          <p:nvPr/>
        </p:nvSpPr>
        <p:spPr>
          <a:xfrm>
            <a:off x="795528" y="1645920"/>
            <a:ext cx="1054303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제출 전에,</a:t>
            </a:r>
            <a:endParaRPr lang="en-US" sz="5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3182F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빈칸</a:t>
            </a:r>
            <a:pPr indent="0" marL="0">
              <a:lnSpc>
                <a:spcPct val="112000"/>
              </a:lnSpc>
              <a:buNone/>
            </a:pPr>
            <a:r>
              <a:rPr lang="en-US" sz="52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부터.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822960" y="406908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커밋 36개 · 코드는 전부 본선 중 커밋(첫 코드 커밋 09/30 19:19, 그 전엔 문서뿐) · 테스트 37개</a:t>
            </a:r>
            <a:endParaRPr lang="en-US" sz="14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4E59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→ 테스트 → 구현 순서 · 측정 스크립트와 정답표 공개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822960" y="498348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라이브가 끊기면 — 앱의 「② 우리 기획서 먼저 채점」 탭이 저장된 실행 기록으로 같은 결과를 보여 줍니다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58521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팀 루미아 · 김태걸 · 박세훈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726948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8" name="Image 0" descr="/Users/ryugi62/dev/rfp-to-fit/deliver/deck/build/img/qr-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5512" y="2084832"/>
            <a:ext cx="1371600" cy="137160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745236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라이브 앱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745236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ryugi62.github.io/rfp-to-fit/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9372600" y="1828800"/>
            <a:ext cx="1874520" cy="27889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12700">
            <a:solidFill>
              <a:srgbClr val="E5E8EB"/>
            </a:solidFill>
            <a:prstDash val="solid"/>
          </a:ln>
        </p:spPr>
      </p:sp>
      <p:pic>
        <p:nvPicPr>
          <p:cNvPr id="12" name="Image 1" descr="/Users/ryugi62/dev/rfp-to-fit/deliver/deck/build/img/qr-rep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8632" y="2084832"/>
            <a:ext cx="1371600" cy="137160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9555480" y="3639312"/>
            <a:ext cx="1508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91F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9555480" y="4005072"/>
            <a:ext cx="1554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8B95A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github.com/Ryugi62/rfp-to-fit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팀 루미아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RFP-to-Fit — 팀 루미아</dc:title>
  <dc:subject>PptxGenJS Presentation</dc:subject>
  <dc:creator>PptxGenJS</dc:creator>
  <cp:lastModifiedBy>PptxGenJS</cp:lastModifiedBy>
  <cp:revision>1</cp:revision>
  <dcterms:created xsi:type="dcterms:W3CDTF">2026-09-30T15:34:57Z</dcterms:created>
  <dcterms:modified xsi:type="dcterms:W3CDTF">2026-09-30T15:34:57Z</dcterms:modified>
</cp:coreProperties>
</file>