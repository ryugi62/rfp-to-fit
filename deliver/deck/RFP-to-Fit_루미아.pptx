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재현율</c:v>
                </c:pt>
              </c:strCache>
            </c:strRef>
          </c:tx>
          <c:spPr>
            <a:solidFill>
              <a:srgbClr val="3182F6"/>
            </a:solidFill>
            <a:effectLst/>
          </c:spPr>
          <c:invertIfNegative val="0"/>
          <c:dLbls>
            <c:numFmt formatCode="0&quot;%&quot;" sourceLinked="0"/>
            <c:txPr>
              <a:bodyPr/>
              <a:lstStyle/>
              <a:p>
                <a:pPr>
                  <a:defRPr b="1" i="0" strike="noStrike" sz="1300" u="none">
                    <a:solidFill>
                      <a:srgbClr val="191F28"/>
                    </a:solidFill>
                    <a:latin typeface="Arial"/>
                  </a:defRPr>
                </a:pPr>
              </a:p>
            </c:txPr>
            <c:showLegendKey val="0"/>
            <c:showVal val="1"/>
            <c:showCatName val="0"/>
            <c:showSerName val="0"/>
            <c:showPercent val="0"/>
            <c:showBubbleSize val="0"/>
            <c:showLeaderLines val="0"/>
          </c:dLbls>
          <c:cat>
            <c:multiLvlStrRef>
              <c:f>Sheet1!$A$2:$A$4</c:f>
              <c:multiLvlStrCache>
                <c:ptCount val="3"/>
                <c:lvl>
                  <c:pt idx="0">
                    <c:v>우주항공청 · 19쪽</c:v>
                  </c:pt>
                  <c:pt idx="1">
                    <c:v>산업통상부 · 37쪽</c:v>
                  </c:pt>
                  <c:pt idx="2">
                    <c:v>NAIS 해커톤 · 5쪽</c:v>
                  </c:pt>
                </c:lvl>
              </c:multiLvlStrCache>
            </c:multiLvlStrRef>
          </c:cat>
          <c:val>
            <c:numRef>
              <c:f>Sheet1!$B$2:$B$4</c:f>
              <c:numCache>
                <c:formatCode>General</c:formatCode>
                <c:ptCount val="3"/>
                <c:pt idx="0">
                  <c:v>95</c:v>
                </c:pt>
                <c:pt idx="1">
                  <c:v>91</c:v>
                </c:pt>
                <c:pt idx="2">
                  <c:v>54</c:v>
                </c:pt>
              </c:numCache>
            </c:numRef>
          </c:val>
        </c:ser>
        <c:dLbls>
          <c:numFmt formatCode="0&quot;%&quot;" sourceLinked="0"/>
          <c:txPr>
            <a:bodyPr/>
            <a:lstStyle/>
            <a:p>
              <a:pPr>
                <a:defRPr b="1" i="0" strike="noStrike" sz="1300" u="none">
                  <a:solidFill>
                    <a:srgbClr val="191F28"/>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91F28"/>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팀 루미아입니다. 저희는 제안서를 대신 쓰는 AI가 아니라, 제출 전에 평가위원의 눈으로 먼저 읽어 주는 에이전트를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여기 계신 분들 모두 제안서를 쓰고, 또 심사하시는 분들입니다. 저희가 산업통상부 공고 한 건을 쪽마다 읽어 보니 37쪽에 지켜야 할 요건이 58개, 평가표가 3종이었습니다. 연구자는 연구의 언어로 쓰고 평가위원은 지표의 언어로 읽는데, 그 빈칸은 제출 뒤에야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평가위원 한 명의 점수는 취향입니다. 그래서 관점이 다른 다섯 명이 서로의 답을 모른 채 채점합니다. 네 명 이상이 깎으면 반드시 고칠 곳, 의견이 갈리면 연구자가 판단할 곳입니다. 모델도 Gemini와 국산 Solar로 나눠 한 회사 모델의 치우침이 합의로 굳지 않게 했습니다. 과거 심사 기록이 필요 없어서, 오늘 나온 새 공고에도 바로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지금 보시는 건 이 대회 공고입니다. 공고에서 요건 34개와 본선 심사표 5개를 스스로 찾아냈고, 저희 예선 기획서를 넣었습니다. 점검 질문 15개가 다섯 명에게 따로 가고, 약 44초 뒤 모두가 깎는 곳과 의견이 갈리는 곳이 나옵니다. 보완은 문장을 써 주지 않고 '어떤 근거를, 어느 절에'만 지정합니다.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검은 칸이 사람, 파란 칸이 AI, 점선 칸이 코드 규칙입니다. 사람은 처음에 올리고, 마지막에 논쟁 지점을 판단하고 문장을 씁니다. AI가 말한 것은 매번 규칙이 검사합니다.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평가위원은 Gemini와 국산 Solar로 나눴고, 전체 흐름은 LangGraph 상태 그래프입니다. 검색으로 조각을 넣는 대신 원문을 통째로 넣고 인용으로 대조합니다. 인용 검사에 실패하면 재질의로 되돌아가는 루프가 있습니다. 선행연구 탐색은 MCP 도구 서버로 감싸서, 검색기를 바꿔 끼울 수 있고 다른 AI 비서도 같은 도구를 부를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LLM 심사의 가장 큰 위험은 그럴듯한 칭찬입니다. 저희는 칭찬에도 증거를 요구합니다. 인용을 코드가 원문과 대조하고, 없으면 무효로 돌려 한 번 다시 묻습니다. 이 실행에서 60개 판정 중 6건이 원문에 없는 인용이었고, 다시 물은 뒤 6건이 무효에서 벗어났습니다. 인용이 판정을 뒷받침하는지는 사람이 보도록 화면에 그대로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정확도는 숫자로 보여 드립니다. 정답표 대비 요건을 놓치지 않은 비율이 우주항공청 95%, 산업통상부 91%, NAIS 해커톤 54%입니다. 가장 약한 곳도 그대로 둡니다. 기획서에서 근거 블록을 일부러 하나씩 지운 초안 5개 중 4/5를 짚었고, 지운 초안은 점수도 내려갔습니다.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 도구로 저희 예선 기획서를 이 대회 본선 심사표로 먼저 채점했습니다. 94.2점, 짚은 곳 2곳. 그곳을 채운 뒤 같은 질문으로 다시 채점해 99.0점입니다. 같은 판정자로 잰 자기 점검이라, 변별력 근거는 앞 장의 지운 초안 시험으로 드렸습니다.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같은 엔진이 연구자의 셀프 점검에서 전문기관 접수 사전검토, 평가위원 심사 보조로 갑니다. 문서만 바꾸면 성과보고서와 연구비 정산에도 씁니다. MCP로 NAIS 플랫폼 어디에든 붙고, 정답표는 공개해 벤치마크로 키웁니다.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다섯 명의 평가위원이, 먼저 읽어 드립니다. 화면의 주소에서 지금 직접 눌러 보실 수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1051560"/>
            <a:ext cx="7315200" cy="365760"/>
          </a:xfrm>
          <a:prstGeom prst="rect">
            <a:avLst/>
          </a:prstGeom>
          <a:noFill/>
          <a:ln/>
        </p:spPr>
        <p:txBody>
          <a:bodyPr wrap="square" lIns="0" tIns="0" rIns="0" bIns="0" rtlCol="0" anchor="t"/>
          <a:lstStyle/>
          <a:p>
            <a:pPr indent="0" marL="0">
              <a:buNone/>
            </a:pPr>
            <a:r>
              <a:rPr lang="en-US" sz="1400" b="1" dirty="0">
                <a:solidFill>
                  <a:srgbClr val="3182F6"/>
                </a:solidFill>
                <a:latin typeface="Arial" pitchFamily="34" charset="0"/>
                <a:ea typeface="Arial" pitchFamily="34" charset="-122"/>
                <a:cs typeface="Arial" pitchFamily="34" charset="-120"/>
              </a:rPr>
              <a:t>2026 NAIS AI 해커톤 본선 · 팀 루미아</a:t>
            </a:r>
            <a:endParaRPr lang="en-US" sz="1400" dirty="0"/>
          </a:p>
        </p:txBody>
      </p:sp>
      <p:sp>
        <p:nvSpPr>
          <p:cNvPr id="3" name="Text 1"/>
          <p:cNvSpPr/>
          <p:nvPr/>
        </p:nvSpPr>
        <p:spPr>
          <a:xfrm>
            <a:off x="795528" y="1645920"/>
            <a:ext cx="10543032" cy="2286000"/>
          </a:xfrm>
          <a:prstGeom prst="rect">
            <a:avLst/>
          </a:prstGeom>
          <a:noFill/>
          <a:ln/>
        </p:spPr>
        <p:txBody>
          <a:bodyPr wrap="square" lIns="0" tIns="0" rIns="0" bIns="0" rtlCol="0" anchor="t"/>
          <a:lstStyle/>
          <a:p>
            <a:pPr indent="0" marL="0">
              <a:lnSpc>
                <a:spcPct val="112000"/>
              </a:lnSpc>
              <a:buNone/>
            </a:pPr>
            <a:r>
              <a:rPr lang="en-US" sz="5600" b="1" dirty="0">
                <a:solidFill>
                  <a:srgbClr val="191F28"/>
                </a:solidFill>
                <a:latin typeface="Arial" pitchFamily="34" charset="0"/>
                <a:ea typeface="Arial" pitchFamily="34" charset="-122"/>
                <a:cs typeface="Arial" pitchFamily="34" charset="-120"/>
              </a:rPr>
              <a:t>평가위원의 눈으로,</a:t>
            </a:r>
            <a:endParaRPr lang="en-US" sz="5600" dirty="0"/>
          </a:p>
          <a:p>
            <a:pPr indent="0" marL="0">
              <a:lnSpc>
                <a:spcPct val="112000"/>
              </a:lnSpc>
              <a:buNone/>
            </a:pPr>
            <a:r>
              <a:rPr lang="en-US" sz="5600" b="1" dirty="0">
                <a:solidFill>
                  <a:srgbClr val="191F28"/>
                </a:solidFill>
                <a:latin typeface="Arial" pitchFamily="34" charset="0"/>
                <a:ea typeface="Arial" pitchFamily="34" charset="-122"/>
                <a:cs typeface="Arial" pitchFamily="34" charset="-120"/>
              </a:rPr>
              <a:t>제출 전에 </a:t>
            </a:r>
            <a:pPr indent="0" marL="0">
              <a:lnSpc>
                <a:spcPct val="112000"/>
              </a:lnSpc>
              <a:buNone/>
            </a:pPr>
            <a:r>
              <a:rPr lang="en-US" sz="5600" b="1" dirty="0">
                <a:solidFill>
                  <a:srgbClr val="3182F6"/>
                </a:solidFill>
                <a:latin typeface="Arial" pitchFamily="34" charset="0"/>
                <a:ea typeface="Arial" pitchFamily="34" charset="-122"/>
                <a:cs typeface="Arial" pitchFamily="34" charset="-120"/>
              </a:rPr>
              <a:t>빈칸</a:t>
            </a:r>
            <a:pPr indent="0" marL="0">
              <a:lnSpc>
                <a:spcPct val="112000"/>
              </a:lnSpc>
              <a:buNone/>
            </a:pPr>
            <a:r>
              <a:rPr lang="en-US" sz="5600" b="1" dirty="0">
                <a:solidFill>
                  <a:srgbClr val="191F28"/>
                </a:solidFill>
                <a:latin typeface="Arial" pitchFamily="34" charset="0"/>
                <a:ea typeface="Arial" pitchFamily="34" charset="-122"/>
                <a:cs typeface="Arial" pitchFamily="34" charset="-120"/>
              </a:rPr>
              <a:t>을 먼저.</a:t>
            </a:r>
            <a:endParaRPr lang="en-US" sz="5600" dirty="0"/>
          </a:p>
        </p:txBody>
      </p:sp>
      <p:sp>
        <p:nvSpPr>
          <p:cNvPr id="4" name="Text 2"/>
          <p:cNvSpPr/>
          <p:nvPr/>
        </p:nvSpPr>
        <p:spPr>
          <a:xfrm>
            <a:off x="822960" y="4160520"/>
            <a:ext cx="10543032" cy="457200"/>
          </a:xfrm>
          <a:prstGeom prst="rect">
            <a:avLst/>
          </a:prstGeom>
          <a:noFill/>
          <a:ln/>
        </p:spPr>
        <p:txBody>
          <a:bodyPr wrap="square" lIns="0" tIns="0" rIns="0" bIns="0" rtlCol="0" anchor="t"/>
          <a:lstStyle/>
          <a:p>
            <a:pPr indent="0" marL="0">
              <a:buNone/>
            </a:pPr>
            <a:r>
              <a:rPr lang="en-US" sz="1900" dirty="0">
                <a:solidFill>
                  <a:srgbClr val="4E5968"/>
                </a:solidFill>
                <a:latin typeface="Arial" pitchFamily="34" charset="0"/>
                <a:ea typeface="Arial" pitchFamily="34" charset="-122"/>
                <a:cs typeface="Arial" pitchFamily="34" charset="-120"/>
              </a:rPr>
              <a:t>RFP-to-Fit — 국가 R&amp;D 공고를 넣으면, 가상 평가위원 5명이 초안을 먼저 채점합니다</a:t>
            </a:r>
            <a:endParaRPr lang="en-US" sz="1900" dirty="0"/>
          </a:p>
        </p:txBody>
      </p:sp>
      <p:sp>
        <p:nvSpPr>
          <p:cNvPr id="5" name="Text 3"/>
          <p:cNvSpPr/>
          <p:nvPr/>
        </p:nvSpPr>
        <p:spPr>
          <a:xfrm>
            <a:off x="822960" y="5852160"/>
            <a:ext cx="4572000" cy="411480"/>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김태걸 · 박세훈</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48640"/>
            <a:ext cx="7315200" cy="365760"/>
          </a:xfrm>
          <a:prstGeom prst="rect">
            <a:avLst/>
          </a:prstGeom>
          <a:noFill/>
          <a:ln/>
        </p:spPr>
        <p:txBody>
          <a:bodyPr wrap="square" lIns="0" tIns="0" rIns="0" bIns="0" rtlCol="0" anchor="t"/>
          <a:lstStyle/>
          <a:p>
            <a:pPr indent="0" marL="0">
              <a:buNone/>
            </a:pPr>
            <a:r>
              <a:rPr lang="en-US" sz="1400" b="1" dirty="0">
                <a:solidFill>
                  <a:srgbClr val="3182F6"/>
                </a:solidFill>
                <a:latin typeface="Arial" pitchFamily="34" charset="0"/>
                <a:ea typeface="Arial" pitchFamily="34" charset="-122"/>
                <a:cs typeface="Arial" pitchFamily="34" charset="-120"/>
              </a:rPr>
              <a:t>문제</a:t>
            </a:r>
            <a:endParaRPr lang="en-US" sz="1400" dirty="0"/>
          </a:p>
        </p:txBody>
      </p:sp>
      <p:sp>
        <p:nvSpPr>
          <p:cNvPr id="3" name="Text 1"/>
          <p:cNvSpPr/>
          <p:nvPr/>
        </p:nvSpPr>
        <p:spPr>
          <a:xfrm>
            <a:off x="795528" y="960120"/>
            <a:ext cx="10543032" cy="1371600"/>
          </a:xfrm>
          <a:prstGeom prst="rect">
            <a:avLst/>
          </a:prstGeom>
          <a:noFill/>
          <a:ln/>
        </p:spPr>
        <p:txBody>
          <a:bodyPr wrap="square" lIns="0" tIns="0" rIns="0" bIns="0" rtlCol="0" anchor="t"/>
          <a:lstStyle/>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공고 한 건을 쪽마다 읽어 보니,</a:t>
            </a:r>
            <a:endParaRPr lang="en-US" sz="3400" dirty="0"/>
          </a:p>
          <a:p>
            <a:pPr indent="0" marL="0">
              <a:lnSpc>
                <a:spcPct val="112000"/>
              </a:lnSpc>
              <a:buNone/>
            </a:pPr>
            <a:r>
              <a:rPr lang="en-US" sz="3400" b="1" dirty="0">
                <a:solidFill>
                  <a:srgbClr val="3182F6"/>
                </a:solidFill>
                <a:latin typeface="Arial" pitchFamily="34" charset="0"/>
                <a:ea typeface="Arial" pitchFamily="34" charset="-122"/>
                <a:cs typeface="Arial" pitchFamily="34" charset="-120"/>
              </a:rPr>
              <a:t>지킬 것</a:t>
            </a:r>
            <a:pPr indent="0" marL="0">
              <a:lnSpc>
                <a:spcPct val="112000"/>
              </a:lnSpc>
              <a:buNone/>
            </a:pPr>
            <a:r>
              <a:rPr lang="en-US" sz="3400" b="1" dirty="0">
                <a:solidFill>
                  <a:srgbClr val="191F28"/>
                </a:solidFill>
                <a:latin typeface="Arial" pitchFamily="34" charset="0"/>
                <a:ea typeface="Arial" pitchFamily="34" charset="-122"/>
                <a:cs typeface="Arial" pitchFamily="34" charset="-120"/>
              </a:rPr>
              <a:t>이 이만큼입니다</a:t>
            </a:r>
            <a:endParaRPr lang="en-US" sz="3400" dirty="0"/>
          </a:p>
        </p:txBody>
      </p:sp>
      <p:sp>
        <p:nvSpPr>
          <p:cNvPr id="4" name="Text 2"/>
          <p:cNvSpPr/>
          <p:nvPr/>
        </p:nvSpPr>
        <p:spPr>
          <a:xfrm>
            <a:off x="822960" y="3063240"/>
            <a:ext cx="3291840" cy="868680"/>
          </a:xfrm>
          <a:prstGeom prst="rect">
            <a:avLst/>
          </a:prstGeom>
          <a:noFill/>
          <a:ln/>
        </p:spPr>
        <p:txBody>
          <a:bodyPr wrap="square" lIns="0" tIns="0" rIns="0" bIns="0" rtlCol="0" anchor="t"/>
          <a:lstStyle/>
          <a:p>
            <a:pPr indent="0" marL="0">
              <a:buNone/>
            </a:pPr>
            <a:r>
              <a:rPr lang="en-US" sz="4800" b="1" dirty="0">
                <a:solidFill>
                  <a:srgbClr val="191F28"/>
                </a:solidFill>
                <a:latin typeface="Arial" pitchFamily="34" charset="0"/>
                <a:ea typeface="Arial" pitchFamily="34" charset="-122"/>
                <a:cs typeface="Arial" pitchFamily="34" charset="-120"/>
              </a:rPr>
              <a:t>37쪽</a:t>
            </a:r>
            <a:endParaRPr lang="en-US" sz="4800" dirty="0"/>
          </a:p>
        </p:txBody>
      </p:sp>
      <p:sp>
        <p:nvSpPr>
          <p:cNvPr id="5" name="Text 3"/>
          <p:cNvSpPr/>
          <p:nvPr/>
        </p:nvSpPr>
        <p:spPr>
          <a:xfrm>
            <a:off x="822960" y="4023360"/>
            <a:ext cx="3291840" cy="685800"/>
          </a:xfrm>
          <a:prstGeom prst="rect">
            <a:avLst/>
          </a:prstGeom>
          <a:noFill/>
          <a:ln/>
        </p:spPr>
        <p:txBody>
          <a:bodyPr wrap="square" lIns="0" tIns="0" rIns="0" bIns="0" rtlCol="0" anchor="t"/>
          <a:lstStyle/>
          <a:p>
            <a:pPr indent="0" marL="0">
              <a:lnSpc>
                <a:spcPct val="115000"/>
              </a:lnSpc>
              <a:buNone/>
            </a:pPr>
            <a:r>
              <a:rPr lang="en-US" sz="1300" dirty="0">
                <a:solidFill>
                  <a:srgbClr val="8B95A1"/>
                </a:solidFill>
                <a:latin typeface="Arial" pitchFamily="34" charset="0"/>
                <a:ea typeface="Arial" pitchFamily="34" charset="-122"/>
                <a:cs typeface="Arial" pitchFamily="34" charset="-120"/>
              </a:rPr>
              <a:t>산업통상부 R&amp;D 공고 한 건의 분량</a:t>
            </a:r>
            <a:endParaRPr lang="en-US" sz="1300" dirty="0"/>
          </a:p>
        </p:txBody>
      </p:sp>
      <p:sp>
        <p:nvSpPr>
          <p:cNvPr id="6" name="Text 4"/>
          <p:cNvSpPr/>
          <p:nvPr/>
        </p:nvSpPr>
        <p:spPr>
          <a:xfrm>
            <a:off x="4572000" y="3063240"/>
            <a:ext cx="3291840" cy="868680"/>
          </a:xfrm>
          <a:prstGeom prst="rect">
            <a:avLst/>
          </a:prstGeom>
          <a:noFill/>
          <a:ln/>
        </p:spPr>
        <p:txBody>
          <a:bodyPr wrap="square" lIns="0" tIns="0" rIns="0" bIns="0" rtlCol="0" anchor="t"/>
          <a:lstStyle/>
          <a:p>
            <a:pPr indent="0" marL="0">
              <a:buNone/>
            </a:pPr>
            <a:r>
              <a:rPr lang="en-US" sz="4800" b="1" dirty="0">
                <a:solidFill>
                  <a:srgbClr val="191F28"/>
                </a:solidFill>
                <a:latin typeface="Arial" pitchFamily="34" charset="0"/>
                <a:ea typeface="Arial" pitchFamily="34" charset="-122"/>
                <a:cs typeface="Arial" pitchFamily="34" charset="-120"/>
              </a:rPr>
              <a:t>58개</a:t>
            </a:r>
            <a:endParaRPr lang="en-US" sz="4800" dirty="0"/>
          </a:p>
        </p:txBody>
      </p:sp>
      <p:sp>
        <p:nvSpPr>
          <p:cNvPr id="7" name="Text 5"/>
          <p:cNvSpPr/>
          <p:nvPr/>
        </p:nvSpPr>
        <p:spPr>
          <a:xfrm>
            <a:off x="4572000" y="4023360"/>
            <a:ext cx="3291840" cy="685800"/>
          </a:xfrm>
          <a:prstGeom prst="rect">
            <a:avLst/>
          </a:prstGeom>
          <a:noFill/>
          <a:ln/>
        </p:spPr>
        <p:txBody>
          <a:bodyPr wrap="square" lIns="0" tIns="0" rIns="0" bIns="0" rtlCol="0" anchor="t"/>
          <a:lstStyle/>
          <a:p>
            <a:pPr indent="0" marL="0">
              <a:lnSpc>
                <a:spcPct val="115000"/>
              </a:lnSpc>
              <a:buNone/>
            </a:pPr>
            <a:r>
              <a:rPr lang="en-US" sz="1300" dirty="0">
                <a:solidFill>
                  <a:srgbClr val="8B95A1"/>
                </a:solidFill>
                <a:latin typeface="Arial" pitchFamily="34" charset="0"/>
                <a:ea typeface="Arial" pitchFamily="34" charset="-122"/>
                <a:cs typeface="Arial" pitchFamily="34" charset="-120"/>
              </a:rPr>
              <a:t>지키지 않으면 탈락·감점되는 요건</a:t>
            </a:r>
            <a:endParaRPr lang="en-US" sz="1300" dirty="0"/>
          </a:p>
        </p:txBody>
      </p:sp>
      <p:sp>
        <p:nvSpPr>
          <p:cNvPr id="8" name="Text 6"/>
          <p:cNvSpPr/>
          <p:nvPr/>
        </p:nvSpPr>
        <p:spPr>
          <a:xfrm>
            <a:off x="8321040" y="3063240"/>
            <a:ext cx="3017520" cy="868680"/>
          </a:xfrm>
          <a:prstGeom prst="rect">
            <a:avLst/>
          </a:prstGeom>
          <a:noFill/>
          <a:ln/>
        </p:spPr>
        <p:txBody>
          <a:bodyPr wrap="square" lIns="0" tIns="0" rIns="0" bIns="0" rtlCol="0" anchor="t"/>
          <a:lstStyle/>
          <a:p>
            <a:pPr indent="0" marL="0">
              <a:buNone/>
            </a:pPr>
            <a:r>
              <a:rPr lang="en-US" sz="4800" b="1" dirty="0">
                <a:solidFill>
                  <a:srgbClr val="3182F6"/>
                </a:solidFill>
                <a:latin typeface="Arial" pitchFamily="34" charset="0"/>
                <a:ea typeface="Arial" pitchFamily="34" charset="-122"/>
                <a:cs typeface="Arial" pitchFamily="34" charset="-120"/>
              </a:rPr>
              <a:t>3종</a:t>
            </a:r>
            <a:endParaRPr lang="en-US" sz="4800" dirty="0"/>
          </a:p>
        </p:txBody>
      </p:sp>
      <p:sp>
        <p:nvSpPr>
          <p:cNvPr id="9" name="Text 7"/>
          <p:cNvSpPr/>
          <p:nvPr/>
        </p:nvSpPr>
        <p:spPr>
          <a:xfrm>
            <a:off x="8321040" y="4023360"/>
            <a:ext cx="3017520" cy="685800"/>
          </a:xfrm>
          <a:prstGeom prst="rect">
            <a:avLst/>
          </a:prstGeom>
          <a:noFill/>
          <a:ln/>
        </p:spPr>
        <p:txBody>
          <a:bodyPr wrap="square" lIns="0" tIns="0" rIns="0" bIns="0" rtlCol="0" anchor="t"/>
          <a:lstStyle/>
          <a:p>
            <a:pPr indent="0" marL="0">
              <a:lnSpc>
                <a:spcPct val="115000"/>
              </a:lnSpc>
              <a:buNone/>
            </a:pPr>
            <a:r>
              <a:rPr lang="en-US" sz="1300" dirty="0">
                <a:solidFill>
                  <a:srgbClr val="8B95A1"/>
                </a:solidFill>
                <a:latin typeface="Arial" pitchFamily="34" charset="0"/>
                <a:ea typeface="Arial" pitchFamily="34" charset="-122"/>
                <a:cs typeface="Arial" pitchFamily="34" charset="-120"/>
              </a:rPr>
              <a:t>세부사업마다 따로 있는 평가표</a:t>
            </a:r>
            <a:endParaRPr lang="en-US" sz="1300" dirty="0"/>
          </a:p>
        </p:txBody>
      </p:sp>
      <p:sp>
        <p:nvSpPr>
          <p:cNvPr id="10" name="Shape 8"/>
          <p:cNvSpPr/>
          <p:nvPr/>
        </p:nvSpPr>
        <p:spPr>
          <a:xfrm>
            <a:off x="822960" y="5074920"/>
            <a:ext cx="10543032" cy="0"/>
          </a:xfrm>
          <a:prstGeom prst="line">
            <a:avLst/>
          </a:prstGeom>
          <a:noFill/>
          <a:ln w="12700">
            <a:solidFill>
              <a:srgbClr val="E5E8EB"/>
            </a:solidFill>
            <a:prstDash val="solid"/>
          </a:ln>
        </p:spPr>
      </p:sp>
      <p:sp>
        <p:nvSpPr>
          <p:cNvPr id="11" name="Text 9"/>
          <p:cNvSpPr/>
          <p:nvPr/>
        </p:nvSpPr>
        <p:spPr>
          <a:xfrm>
            <a:off x="822960" y="5349240"/>
            <a:ext cx="10543032" cy="457200"/>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연구자는 연구의 언어로 쓰고, 평가위원은 지표의 언어로 읽습니다. 그 사이의 빈칸은 제출 뒤에야 보입니다.</a:t>
            </a:r>
            <a:endParaRPr lang="en-US" sz="1600" dirty="0"/>
          </a:p>
        </p:txBody>
      </p:sp>
      <p:sp>
        <p:nvSpPr>
          <p:cNvPr id="12" name="Text 10"/>
          <p:cNvSpPr/>
          <p:nvPr/>
        </p:nvSpPr>
        <p:spPr>
          <a:xfrm>
            <a:off x="822960" y="6355080"/>
            <a:ext cx="10543032" cy="274320"/>
          </a:xfrm>
          <a:prstGeom prst="rect">
            <a:avLst/>
          </a:prstGeom>
          <a:noFill/>
          <a:ln/>
        </p:spPr>
        <p:txBody>
          <a:bodyPr wrap="square" lIns="0" tIns="0" rIns="0" bIns="0" rtlCol="0" anchor="t"/>
          <a:lstStyle/>
          <a:p>
            <a:pPr indent="0" marL="0">
              <a:buNone/>
            </a:pPr>
            <a:r>
              <a:rPr lang="en-US" sz="1000" dirty="0">
                <a:solidFill>
                  <a:srgbClr val="8B95A1"/>
                </a:solidFill>
                <a:latin typeface="Arial" pitchFamily="34" charset="0"/>
                <a:ea typeface="Arial" pitchFamily="34" charset="-122"/>
                <a:cs typeface="Arial" pitchFamily="34" charset="-120"/>
              </a:rPr>
              <a:t>산업통상부 공고 제2026-64호 — 요건·평가표 정답표(data/gold, 저장소 공개) · 정답표는 파이프라인과 다른 모델(Claude)로 쪽마다 판독</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48640"/>
            <a:ext cx="7315200" cy="365760"/>
          </a:xfrm>
          <a:prstGeom prst="rect">
            <a:avLst/>
          </a:prstGeom>
          <a:noFill/>
          <a:ln/>
        </p:spPr>
        <p:txBody>
          <a:bodyPr wrap="square" lIns="0" tIns="0" rIns="0" bIns="0" rtlCol="0" anchor="t"/>
          <a:lstStyle/>
          <a:p>
            <a:pPr indent="0" marL="0">
              <a:buNone/>
            </a:pPr>
            <a:r>
              <a:rPr lang="en-US" sz="1400" b="1" dirty="0">
                <a:solidFill>
                  <a:srgbClr val="3182F6"/>
                </a:solidFill>
                <a:latin typeface="Arial" pitchFamily="34" charset="0"/>
                <a:ea typeface="Arial" pitchFamily="34" charset="-122"/>
                <a:cs typeface="Arial" pitchFamily="34" charset="-120"/>
              </a:rPr>
              <a:t>핵심 아이디어</a:t>
            </a:r>
            <a:endParaRPr lang="en-US" sz="1400" dirty="0"/>
          </a:p>
        </p:txBody>
      </p:sp>
      <p:sp>
        <p:nvSpPr>
          <p:cNvPr id="3" name="Text 1"/>
          <p:cNvSpPr/>
          <p:nvPr/>
        </p:nvSpPr>
        <p:spPr>
          <a:xfrm>
            <a:off x="795528" y="960120"/>
            <a:ext cx="10543032" cy="1371600"/>
          </a:xfrm>
          <a:prstGeom prst="rect">
            <a:avLst/>
          </a:prstGeom>
          <a:noFill/>
          <a:ln/>
        </p:spPr>
        <p:txBody>
          <a:bodyPr wrap="square" lIns="0" tIns="0" rIns="0" bIns="0" rtlCol="0" anchor="t"/>
          <a:lstStyle/>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한 명의 점수는 취향,</a:t>
            </a:r>
            <a:endParaRPr lang="en-US" sz="3400" dirty="0"/>
          </a:p>
          <a:p>
            <a:pPr indent="0" marL="0">
              <a:lnSpc>
                <a:spcPct val="112000"/>
              </a:lnSpc>
              <a:buNone/>
            </a:pPr>
            <a:r>
              <a:rPr lang="en-US" sz="3400" b="1" dirty="0">
                <a:solidFill>
                  <a:srgbClr val="3182F6"/>
                </a:solidFill>
                <a:latin typeface="Arial" pitchFamily="34" charset="0"/>
                <a:ea typeface="Arial" pitchFamily="34" charset="-122"/>
                <a:cs typeface="Arial" pitchFamily="34" charset="-120"/>
              </a:rPr>
              <a:t>다섯 명</a:t>
            </a:r>
            <a:pPr indent="0" marL="0">
              <a:lnSpc>
                <a:spcPct val="112000"/>
              </a:lnSpc>
              <a:buNone/>
            </a:pPr>
            <a:r>
              <a:rPr lang="en-US" sz="3400" b="1" dirty="0">
                <a:solidFill>
                  <a:srgbClr val="191F28"/>
                </a:solidFill>
                <a:latin typeface="Arial" pitchFamily="34" charset="0"/>
                <a:ea typeface="Arial" pitchFamily="34" charset="-122"/>
                <a:cs typeface="Arial" pitchFamily="34" charset="-120"/>
              </a:rPr>
              <a:t>이 따로 보면 갈립니다</a:t>
            </a:r>
            <a:endParaRPr lang="en-US" sz="3400" dirty="0"/>
          </a:p>
        </p:txBody>
      </p:sp>
      <p:sp>
        <p:nvSpPr>
          <p:cNvPr id="4" name="Text 2"/>
          <p:cNvSpPr/>
          <p:nvPr/>
        </p:nvSpPr>
        <p:spPr>
          <a:xfrm>
            <a:off x="822960" y="2697480"/>
            <a:ext cx="548640" cy="365760"/>
          </a:xfrm>
          <a:prstGeom prst="rect">
            <a:avLst/>
          </a:prstGeom>
          <a:noFill/>
          <a:ln/>
        </p:spPr>
        <p:txBody>
          <a:bodyPr wrap="square" lIns="0" tIns="0" rIns="0" bIns="0" rtlCol="0" anchor="t"/>
          <a:lstStyle/>
          <a:p>
            <a:pPr indent="0" marL="0">
              <a:buNone/>
            </a:pPr>
            <a:r>
              <a:rPr lang="en-US" sz="1600" b="1" dirty="0">
                <a:solidFill>
                  <a:srgbClr val="3182F6"/>
                </a:solidFill>
                <a:latin typeface="Arial" pitchFamily="34" charset="0"/>
                <a:ea typeface="Arial" pitchFamily="34" charset="-122"/>
                <a:cs typeface="Arial" pitchFamily="34" charset="-120"/>
              </a:rPr>
              <a:t>01</a:t>
            </a:r>
            <a:endParaRPr lang="en-US" sz="1600" dirty="0"/>
          </a:p>
        </p:txBody>
      </p:sp>
      <p:sp>
        <p:nvSpPr>
          <p:cNvPr id="5" name="Text 3"/>
          <p:cNvSpPr/>
          <p:nvPr/>
        </p:nvSpPr>
        <p:spPr>
          <a:xfrm>
            <a:off x="1417320" y="2697480"/>
            <a:ext cx="3108960" cy="365760"/>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출연연 연구기획 책임자</a:t>
            </a:r>
            <a:endParaRPr lang="en-US" sz="1600" dirty="0"/>
          </a:p>
        </p:txBody>
      </p:sp>
      <p:sp>
        <p:nvSpPr>
          <p:cNvPr id="6" name="Text 4"/>
          <p:cNvSpPr/>
          <p:nvPr/>
        </p:nvSpPr>
        <p:spPr>
          <a:xfrm>
            <a:off x="4526280" y="2724912"/>
            <a:ext cx="210312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Google Gemini</a:t>
            </a:r>
            <a:endParaRPr lang="en-US" sz="1250" dirty="0"/>
          </a:p>
        </p:txBody>
      </p:sp>
      <p:sp>
        <p:nvSpPr>
          <p:cNvPr id="7" name="Shape 5"/>
          <p:cNvSpPr/>
          <p:nvPr/>
        </p:nvSpPr>
        <p:spPr>
          <a:xfrm>
            <a:off x="822960" y="3182112"/>
            <a:ext cx="5806440" cy="0"/>
          </a:xfrm>
          <a:prstGeom prst="line">
            <a:avLst/>
          </a:prstGeom>
          <a:noFill/>
          <a:ln w="12700">
            <a:solidFill>
              <a:srgbClr val="E5E8EB"/>
            </a:solidFill>
            <a:prstDash val="solid"/>
          </a:ln>
        </p:spPr>
      </p:sp>
      <p:sp>
        <p:nvSpPr>
          <p:cNvPr id="8" name="Text 6"/>
          <p:cNvSpPr/>
          <p:nvPr/>
        </p:nvSpPr>
        <p:spPr>
          <a:xfrm>
            <a:off x="822960" y="3300984"/>
            <a:ext cx="548640" cy="365760"/>
          </a:xfrm>
          <a:prstGeom prst="rect">
            <a:avLst/>
          </a:prstGeom>
          <a:noFill/>
          <a:ln/>
        </p:spPr>
        <p:txBody>
          <a:bodyPr wrap="square" lIns="0" tIns="0" rIns="0" bIns="0" rtlCol="0" anchor="t"/>
          <a:lstStyle/>
          <a:p>
            <a:pPr indent="0" marL="0">
              <a:buNone/>
            </a:pPr>
            <a:r>
              <a:rPr lang="en-US" sz="1600" b="1" dirty="0">
                <a:solidFill>
                  <a:srgbClr val="3182F6"/>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417320" y="3300984"/>
            <a:ext cx="3108960" cy="365760"/>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산업체 CTO</a:t>
            </a:r>
            <a:endParaRPr lang="en-US" sz="1600" dirty="0"/>
          </a:p>
        </p:txBody>
      </p:sp>
      <p:sp>
        <p:nvSpPr>
          <p:cNvPr id="10" name="Text 8"/>
          <p:cNvSpPr/>
          <p:nvPr/>
        </p:nvSpPr>
        <p:spPr>
          <a:xfrm>
            <a:off x="4526280" y="3328416"/>
            <a:ext cx="210312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Upstage Solar(국산)</a:t>
            </a:r>
            <a:endParaRPr lang="en-US" sz="1250" dirty="0"/>
          </a:p>
        </p:txBody>
      </p:sp>
      <p:sp>
        <p:nvSpPr>
          <p:cNvPr id="11" name="Shape 9"/>
          <p:cNvSpPr/>
          <p:nvPr/>
        </p:nvSpPr>
        <p:spPr>
          <a:xfrm>
            <a:off x="822960" y="3785616"/>
            <a:ext cx="5806440" cy="0"/>
          </a:xfrm>
          <a:prstGeom prst="line">
            <a:avLst/>
          </a:prstGeom>
          <a:noFill/>
          <a:ln w="12700">
            <a:solidFill>
              <a:srgbClr val="E5E8EB"/>
            </a:solidFill>
            <a:prstDash val="solid"/>
          </a:ln>
        </p:spPr>
      </p:sp>
      <p:sp>
        <p:nvSpPr>
          <p:cNvPr id="12" name="Text 10"/>
          <p:cNvSpPr/>
          <p:nvPr/>
        </p:nvSpPr>
        <p:spPr>
          <a:xfrm>
            <a:off x="822960" y="3904488"/>
            <a:ext cx="548640" cy="365760"/>
          </a:xfrm>
          <a:prstGeom prst="rect">
            <a:avLst/>
          </a:prstGeom>
          <a:noFill/>
          <a:ln/>
        </p:spPr>
        <p:txBody>
          <a:bodyPr wrap="square" lIns="0" tIns="0" rIns="0" bIns="0" rtlCol="0" anchor="t"/>
          <a:lstStyle/>
          <a:p>
            <a:pPr indent="0" marL="0">
              <a:buNone/>
            </a:pPr>
            <a:r>
              <a:rPr lang="en-US" sz="1600" b="1" dirty="0">
                <a:solidFill>
                  <a:srgbClr val="3182F6"/>
                </a:solidFill>
                <a:latin typeface="Arial" pitchFamily="34" charset="0"/>
                <a:ea typeface="Arial" pitchFamily="34" charset="-122"/>
                <a:cs typeface="Arial" pitchFamily="34" charset="-120"/>
              </a:rPr>
              <a:t>03</a:t>
            </a:r>
            <a:endParaRPr lang="en-US" sz="1600" dirty="0"/>
          </a:p>
        </p:txBody>
      </p:sp>
      <p:sp>
        <p:nvSpPr>
          <p:cNvPr id="13" name="Text 11"/>
          <p:cNvSpPr/>
          <p:nvPr/>
        </p:nvSpPr>
        <p:spPr>
          <a:xfrm>
            <a:off x="1417320" y="3904488"/>
            <a:ext cx="3108960" cy="365760"/>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AI 기술 전문가</a:t>
            </a:r>
            <a:endParaRPr lang="en-US" sz="1600" dirty="0"/>
          </a:p>
        </p:txBody>
      </p:sp>
      <p:sp>
        <p:nvSpPr>
          <p:cNvPr id="14" name="Text 12"/>
          <p:cNvSpPr/>
          <p:nvPr/>
        </p:nvSpPr>
        <p:spPr>
          <a:xfrm>
            <a:off x="4526280" y="3931920"/>
            <a:ext cx="210312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Google Gemini</a:t>
            </a:r>
            <a:endParaRPr lang="en-US" sz="1250" dirty="0"/>
          </a:p>
        </p:txBody>
      </p:sp>
      <p:sp>
        <p:nvSpPr>
          <p:cNvPr id="15" name="Shape 13"/>
          <p:cNvSpPr/>
          <p:nvPr/>
        </p:nvSpPr>
        <p:spPr>
          <a:xfrm>
            <a:off x="822960" y="4389120"/>
            <a:ext cx="5806440" cy="0"/>
          </a:xfrm>
          <a:prstGeom prst="line">
            <a:avLst/>
          </a:prstGeom>
          <a:noFill/>
          <a:ln w="12700">
            <a:solidFill>
              <a:srgbClr val="E5E8EB"/>
            </a:solidFill>
            <a:prstDash val="solid"/>
          </a:ln>
        </p:spPr>
      </p:sp>
      <p:sp>
        <p:nvSpPr>
          <p:cNvPr id="16" name="Text 14"/>
          <p:cNvSpPr/>
          <p:nvPr/>
        </p:nvSpPr>
        <p:spPr>
          <a:xfrm>
            <a:off x="822960" y="4507992"/>
            <a:ext cx="548640" cy="365760"/>
          </a:xfrm>
          <a:prstGeom prst="rect">
            <a:avLst/>
          </a:prstGeom>
          <a:noFill/>
          <a:ln/>
        </p:spPr>
        <p:txBody>
          <a:bodyPr wrap="square" lIns="0" tIns="0" rIns="0" bIns="0" rtlCol="0" anchor="t"/>
          <a:lstStyle/>
          <a:p>
            <a:pPr indent="0" marL="0">
              <a:buNone/>
            </a:pPr>
            <a:r>
              <a:rPr lang="en-US" sz="1600" b="1" dirty="0">
                <a:solidFill>
                  <a:srgbClr val="3182F6"/>
                </a:solidFill>
                <a:latin typeface="Arial" pitchFamily="34" charset="0"/>
                <a:ea typeface="Arial" pitchFamily="34" charset="-122"/>
                <a:cs typeface="Arial" pitchFamily="34" charset="-120"/>
              </a:rPr>
              <a:t>04</a:t>
            </a:r>
            <a:endParaRPr lang="en-US" sz="1600" dirty="0"/>
          </a:p>
        </p:txBody>
      </p:sp>
      <p:sp>
        <p:nvSpPr>
          <p:cNvPr id="17" name="Text 15"/>
          <p:cNvSpPr/>
          <p:nvPr/>
        </p:nvSpPr>
        <p:spPr>
          <a:xfrm>
            <a:off x="1417320" y="4507992"/>
            <a:ext cx="3108960" cy="365760"/>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전문기관 과제관리 PM</a:t>
            </a:r>
            <a:endParaRPr lang="en-US" sz="1600" dirty="0"/>
          </a:p>
        </p:txBody>
      </p:sp>
      <p:sp>
        <p:nvSpPr>
          <p:cNvPr id="18" name="Text 16"/>
          <p:cNvSpPr/>
          <p:nvPr/>
        </p:nvSpPr>
        <p:spPr>
          <a:xfrm>
            <a:off x="4526280" y="4535424"/>
            <a:ext cx="210312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Upstage Solar(국산)</a:t>
            </a:r>
            <a:endParaRPr lang="en-US" sz="1250" dirty="0"/>
          </a:p>
        </p:txBody>
      </p:sp>
      <p:sp>
        <p:nvSpPr>
          <p:cNvPr id="19" name="Shape 17"/>
          <p:cNvSpPr/>
          <p:nvPr/>
        </p:nvSpPr>
        <p:spPr>
          <a:xfrm>
            <a:off x="822960" y="4992624"/>
            <a:ext cx="5806440" cy="0"/>
          </a:xfrm>
          <a:prstGeom prst="line">
            <a:avLst/>
          </a:prstGeom>
          <a:noFill/>
          <a:ln w="12700">
            <a:solidFill>
              <a:srgbClr val="E5E8EB"/>
            </a:solidFill>
            <a:prstDash val="solid"/>
          </a:ln>
        </p:spPr>
      </p:sp>
      <p:sp>
        <p:nvSpPr>
          <p:cNvPr id="20" name="Text 18"/>
          <p:cNvSpPr/>
          <p:nvPr/>
        </p:nvSpPr>
        <p:spPr>
          <a:xfrm>
            <a:off x="822960" y="5111496"/>
            <a:ext cx="548640" cy="365760"/>
          </a:xfrm>
          <a:prstGeom prst="rect">
            <a:avLst/>
          </a:prstGeom>
          <a:noFill/>
          <a:ln/>
        </p:spPr>
        <p:txBody>
          <a:bodyPr wrap="square" lIns="0" tIns="0" rIns="0" bIns="0" rtlCol="0" anchor="t"/>
          <a:lstStyle/>
          <a:p>
            <a:pPr indent="0" marL="0">
              <a:buNone/>
            </a:pPr>
            <a:r>
              <a:rPr lang="en-US" sz="1600" b="1" dirty="0">
                <a:solidFill>
                  <a:srgbClr val="3182F6"/>
                </a:solidFill>
                <a:latin typeface="Arial" pitchFamily="34" charset="0"/>
                <a:ea typeface="Arial" pitchFamily="34" charset="-122"/>
                <a:cs typeface="Arial" pitchFamily="34" charset="-120"/>
              </a:rPr>
              <a:t>05</a:t>
            </a:r>
            <a:endParaRPr lang="en-US" sz="1600" dirty="0"/>
          </a:p>
        </p:txBody>
      </p:sp>
      <p:sp>
        <p:nvSpPr>
          <p:cNvPr id="21" name="Text 19"/>
          <p:cNvSpPr/>
          <p:nvPr/>
        </p:nvSpPr>
        <p:spPr>
          <a:xfrm>
            <a:off x="1417320" y="5111496"/>
            <a:ext cx="3108960" cy="365760"/>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연구윤리·신뢰성 심사자</a:t>
            </a:r>
            <a:endParaRPr lang="en-US" sz="1600" dirty="0"/>
          </a:p>
        </p:txBody>
      </p:sp>
      <p:sp>
        <p:nvSpPr>
          <p:cNvPr id="22" name="Text 20"/>
          <p:cNvSpPr/>
          <p:nvPr/>
        </p:nvSpPr>
        <p:spPr>
          <a:xfrm>
            <a:off x="4526280" y="5138928"/>
            <a:ext cx="210312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Google Gemini</a:t>
            </a:r>
            <a:endParaRPr lang="en-US" sz="1250" dirty="0"/>
          </a:p>
        </p:txBody>
      </p:sp>
      <p:sp>
        <p:nvSpPr>
          <p:cNvPr id="23" name="Shape 21"/>
          <p:cNvSpPr/>
          <p:nvPr/>
        </p:nvSpPr>
        <p:spPr>
          <a:xfrm>
            <a:off x="7178040" y="2697480"/>
            <a:ext cx="4187952" cy="1280160"/>
          </a:xfrm>
          <a:prstGeom prst="roundRect">
            <a:avLst>
              <a:gd name="adj" fmla="val 5714"/>
            </a:avLst>
          </a:prstGeom>
          <a:solidFill>
            <a:srgbClr val="F4F6F8"/>
          </a:solidFill>
          <a:ln w="12700">
            <a:solidFill>
              <a:srgbClr val="E5E8EB"/>
            </a:solidFill>
            <a:prstDash val="solid"/>
          </a:ln>
        </p:spPr>
      </p:sp>
      <p:sp>
        <p:nvSpPr>
          <p:cNvPr id="24" name="Text 22"/>
          <p:cNvSpPr/>
          <p:nvPr/>
        </p:nvSpPr>
        <p:spPr>
          <a:xfrm>
            <a:off x="7452360" y="2898648"/>
            <a:ext cx="3639312" cy="320040"/>
          </a:xfrm>
          <a:prstGeom prst="rect">
            <a:avLst/>
          </a:prstGeom>
          <a:noFill/>
          <a:ln/>
        </p:spPr>
        <p:txBody>
          <a:bodyPr wrap="square" lIns="0" tIns="0" rIns="0" bIns="0" rtlCol="0" anchor="t"/>
          <a:lstStyle/>
          <a:p>
            <a:pPr indent="0" marL="0">
              <a:buNone/>
            </a:pPr>
            <a:r>
              <a:rPr lang="en-US" sz="1300" b="1" dirty="0">
                <a:solidFill>
                  <a:srgbClr val="3182F6"/>
                </a:solidFill>
                <a:latin typeface="Arial" pitchFamily="34" charset="0"/>
                <a:ea typeface="Arial" pitchFamily="34" charset="-122"/>
                <a:cs typeface="Arial" pitchFamily="34" charset="-120"/>
              </a:rPr>
              <a:t>합의 결핍 — 다 같이 깎은 곳</a:t>
            </a:r>
            <a:endParaRPr lang="en-US" sz="1300" dirty="0"/>
          </a:p>
        </p:txBody>
      </p:sp>
      <p:sp>
        <p:nvSpPr>
          <p:cNvPr id="25" name="Text 23"/>
          <p:cNvSpPr/>
          <p:nvPr/>
        </p:nvSpPr>
        <p:spPr>
          <a:xfrm>
            <a:off x="7452360" y="3200400"/>
            <a:ext cx="3639312" cy="365760"/>
          </a:xfrm>
          <a:prstGeom prst="rect">
            <a:avLst/>
          </a:prstGeom>
          <a:noFill/>
          <a:ln/>
        </p:spPr>
        <p:txBody>
          <a:bodyPr wrap="square" lIns="0" tIns="0" rIns="0" bIns="0" rtlCol="0" anchor="t"/>
          <a:lstStyle/>
          <a:p>
            <a:pPr indent="0" marL="0">
              <a:buNone/>
            </a:pPr>
            <a:r>
              <a:rPr lang="en-US" sz="1700" b="1" dirty="0">
                <a:solidFill>
                  <a:srgbClr val="191F28"/>
                </a:solidFill>
                <a:latin typeface="Arial" pitchFamily="34" charset="0"/>
                <a:ea typeface="Arial" pitchFamily="34" charset="-122"/>
                <a:cs typeface="Arial" pitchFamily="34" charset="-120"/>
              </a:rPr>
              <a:t>응답자의 80% 이상(5명 중 4명+)</a:t>
            </a:r>
            <a:endParaRPr lang="en-US" sz="1700" dirty="0"/>
          </a:p>
        </p:txBody>
      </p:sp>
      <p:sp>
        <p:nvSpPr>
          <p:cNvPr id="26" name="Text 24"/>
          <p:cNvSpPr/>
          <p:nvPr/>
        </p:nvSpPr>
        <p:spPr>
          <a:xfrm>
            <a:off x="7452360" y="3575304"/>
            <a:ext cx="3639312" cy="320040"/>
          </a:xfrm>
          <a:prstGeom prst="rect">
            <a:avLst/>
          </a:prstGeom>
          <a:noFill/>
          <a:ln/>
        </p:spPr>
        <p:txBody>
          <a:bodyPr wrap="square" lIns="0" tIns="0" rIns="0" bIns="0" rtlCol="0" anchor="t"/>
          <a:lstStyle/>
          <a:p>
            <a:pPr indent="0" marL="0">
              <a:buNone/>
            </a:pPr>
            <a:r>
              <a:rPr lang="en-US" sz="1300" dirty="0">
                <a:solidFill>
                  <a:srgbClr val="4E5968"/>
                </a:solidFill>
                <a:latin typeface="Arial" pitchFamily="34" charset="0"/>
                <a:ea typeface="Arial" pitchFamily="34" charset="-122"/>
                <a:cs typeface="Arial" pitchFamily="34" charset="-120"/>
              </a:rPr>
              <a:t>→ 반드시 고칠 곳</a:t>
            </a:r>
            <a:endParaRPr lang="en-US" sz="1300" dirty="0"/>
          </a:p>
        </p:txBody>
      </p:sp>
      <p:sp>
        <p:nvSpPr>
          <p:cNvPr id="27" name="Shape 25"/>
          <p:cNvSpPr/>
          <p:nvPr/>
        </p:nvSpPr>
        <p:spPr>
          <a:xfrm>
            <a:off x="7178040" y="4206240"/>
            <a:ext cx="4187952" cy="1280160"/>
          </a:xfrm>
          <a:prstGeom prst="roundRect">
            <a:avLst>
              <a:gd name="adj" fmla="val 5714"/>
            </a:avLst>
          </a:prstGeom>
          <a:solidFill>
            <a:srgbClr val="FFFFFF"/>
          </a:solidFill>
          <a:ln w="12700">
            <a:solidFill>
              <a:srgbClr val="E5E8EB"/>
            </a:solidFill>
            <a:prstDash val="solid"/>
          </a:ln>
        </p:spPr>
      </p:sp>
      <p:sp>
        <p:nvSpPr>
          <p:cNvPr id="28" name="Text 26"/>
          <p:cNvSpPr/>
          <p:nvPr/>
        </p:nvSpPr>
        <p:spPr>
          <a:xfrm>
            <a:off x="7452360" y="4407408"/>
            <a:ext cx="3639312" cy="320040"/>
          </a:xfrm>
          <a:prstGeom prst="rect">
            <a:avLst/>
          </a:prstGeom>
          <a:noFill/>
          <a:ln/>
        </p:spPr>
        <p:txBody>
          <a:bodyPr wrap="square" lIns="0" tIns="0" rIns="0" bIns="0" rtlCol="0" anchor="t"/>
          <a:lstStyle/>
          <a:p>
            <a:pPr indent="0" marL="0">
              <a:buNone/>
            </a:pPr>
            <a:r>
              <a:rPr lang="en-US" sz="1300" b="1" dirty="0">
                <a:solidFill>
                  <a:srgbClr val="3182F6"/>
                </a:solidFill>
                <a:latin typeface="Arial" pitchFamily="34" charset="0"/>
                <a:ea typeface="Arial" pitchFamily="34" charset="-122"/>
                <a:cs typeface="Arial" pitchFamily="34" charset="-120"/>
              </a:rPr>
              <a:t>논쟁 지점 — 의견이 갈린 곳</a:t>
            </a:r>
            <a:endParaRPr lang="en-US" sz="1300" dirty="0"/>
          </a:p>
        </p:txBody>
      </p:sp>
      <p:sp>
        <p:nvSpPr>
          <p:cNvPr id="29" name="Text 27"/>
          <p:cNvSpPr/>
          <p:nvPr/>
        </p:nvSpPr>
        <p:spPr>
          <a:xfrm>
            <a:off x="7452360" y="4709160"/>
            <a:ext cx="3639312" cy="365760"/>
          </a:xfrm>
          <a:prstGeom prst="rect">
            <a:avLst/>
          </a:prstGeom>
          <a:noFill/>
          <a:ln/>
        </p:spPr>
        <p:txBody>
          <a:bodyPr wrap="square" lIns="0" tIns="0" rIns="0" bIns="0" rtlCol="0" anchor="t"/>
          <a:lstStyle/>
          <a:p>
            <a:pPr indent="0" marL="0">
              <a:buNone/>
            </a:pPr>
            <a:r>
              <a:rPr lang="en-US" sz="1700" b="1" dirty="0">
                <a:solidFill>
                  <a:srgbClr val="191F28"/>
                </a:solidFill>
                <a:latin typeface="Arial" pitchFamily="34" charset="0"/>
                <a:ea typeface="Arial" pitchFamily="34" charset="-122"/>
                <a:cs typeface="Arial" pitchFamily="34" charset="-120"/>
              </a:rPr>
              <a:t>응답자의 20~80%가 깎음(5명 중 2~3명)</a:t>
            </a:r>
            <a:endParaRPr lang="en-US" sz="1700" dirty="0"/>
          </a:p>
        </p:txBody>
      </p:sp>
      <p:sp>
        <p:nvSpPr>
          <p:cNvPr id="30" name="Text 28"/>
          <p:cNvSpPr/>
          <p:nvPr/>
        </p:nvSpPr>
        <p:spPr>
          <a:xfrm>
            <a:off x="7452360" y="5084064"/>
            <a:ext cx="3639312" cy="320040"/>
          </a:xfrm>
          <a:prstGeom prst="rect">
            <a:avLst/>
          </a:prstGeom>
          <a:noFill/>
          <a:ln/>
        </p:spPr>
        <p:txBody>
          <a:bodyPr wrap="square" lIns="0" tIns="0" rIns="0" bIns="0" rtlCol="0" anchor="t"/>
          <a:lstStyle/>
          <a:p>
            <a:pPr indent="0" marL="0">
              <a:buNone/>
            </a:pPr>
            <a:r>
              <a:rPr lang="en-US" sz="1300" dirty="0">
                <a:solidFill>
                  <a:srgbClr val="4E5968"/>
                </a:solidFill>
                <a:latin typeface="Arial" pitchFamily="34" charset="0"/>
                <a:ea typeface="Arial" pitchFamily="34" charset="-122"/>
                <a:cs typeface="Arial" pitchFamily="34" charset="-120"/>
              </a:rPr>
              <a:t>→ 연구자가 판단할 곳</a:t>
            </a:r>
            <a:endParaRPr lang="en-US" sz="1300" dirty="0"/>
          </a:p>
        </p:txBody>
      </p:sp>
      <p:sp>
        <p:nvSpPr>
          <p:cNvPr id="31" name="Text 29"/>
          <p:cNvSpPr/>
          <p:nvPr/>
        </p:nvSpPr>
        <p:spPr>
          <a:xfrm>
            <a:off x="822960" y="5715000"/>
            <a:ext cx="10543032" cy="685800"/>
          </a:xfrm>
          <a:prstGeom prst="rect">
            <a:avLst/>
          </a:prstGeom>
          <a:noFill/>
          <a:ln/>
        </p:spPr>
        <p:txBody>
          <a:bodyPr wrap="square" lIns="0" tIns="0" rIns="0" bIns="0" rtlCol="0" anchor="t"/>
          <a:lstStyle/>
          <a:p>
            <a:pPr indent="0" marL="0">
              <a:lnSpc>
                <a:spcPct val="125000"/>
              </a:lnSpc>
              <a:buNone/>
            </a:pPr>
            <a:r>
              <a:rPr lang="en-US" sz="1300" b="1" dirty="0">
                <a:solidFill>
                  <a:srgbClr val="191F28"/>
                </a:solidFill>
                <a:latin typeface="Arial" pitchFamily="34" charset="0"/>
                <a:ea typeface="Arial" pitchFamily="34" charset="-122"/>
                <a:cs typeface="Arial" pitchFamily="34" charset="-120"/>
              </a:rPr>
              <a:t>대필·첨삭이 아니라 심사입니다.</a:t>
            </a:r>
            <a:endParaRPr lang="en-US" sz="1300" dirty="0"/>
          </a:p>
          <a:p>
            <a:pPr indent="0" marL="0">
              <a:lnSpc>
                <a:spcPct val="125000"/>
              </a:lnSpc>
              <a:buNone/>
            </a:pPr>
            <a:r>
              <a:rPr lang="en-US" sz="1300" dirty="0">
                <a:solidFill>
                  <a:srgbClr val="4E5968"/>
                </a:solidFill>
                <a:latin typeface="Arial" pitchFamily="34" charset="0"/>
                <a:ea typeface="Arial" pitchFamily="34" charset="-122"/>
                <a:cs typeface="Arial" pitchFamily="34" charset="-120"/>
              </a:rPr>
              <a:t>과거 심사 기록 없이 이번 공고 심사표에서 질문을 만들고 · 평가위원 Gemini 3명 + 국산 Solar 2명 · 칭찬에도 원문 인용</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48640"/>
            <a:ext cx="7315200" cy="365760"/>
          </a:xfrm>
          <a:prstGeom prst="rect">
            <a:avLst/>
          </a:prstGeom>
          <a:noFill/>
          <a:ln/>
        </p:spPr>
        <p:txBody>
          <a:bodyPr wrap="square" lIns="0" tIns="0" rIns="0" bIns="0" rtlCol="0" anchor="t"/>
          <a:lstStyle/>
          <a:p>
            <a:pPr indent="0" marL="0">
              <a:buNone/>
            </a:pPr>
            <a:r>
              <a:rPr lang="en-US" sz="1400" b="1" dirty="0">
                <a:solidFill>
                  <a:srgbClr val="3182F6"/>
                </a:solidFill>
                <a:latin typeface="Arial" pitchFamily="34" charset="0"/>
                <a:ea typeface="Arial" pitchFamily="34" charset="-122"/>
                <a:cs typeface="Arial" pitchFamily="34" charset="-120"/>
              </a:rPr>
              <a:t>데모 — 이 대회 공고로</a:t>
            </a:r>
            <a:endParaRPr lang="en-US" sz="1400" dirty="0"/>
          </a:p>
        </p:txBody>
      </p:sp>
      <p:sp>
        <p:nvSpPr>
          <p:cNvPr id="3" name="Text 1"/>
          <p:cNvSpPr/>
          <p:nvPr/>
        </p:nvSpPr>
        <p:spPr>
          <a:xfrm>
            <a:off x="795528" y="960120"/>
            <a:ext cx="10543032" cy="1371600"/>
          </a:xfrm>
          <a:prstGeom prst="rect">
            <a:avLst/>
          </a:prstGeom>
          <a:noFill/>
          <a:ln/>
        </p:spPr>
        <p:txBody>
          <a:bodyPr wrap="square" lIns="0" tIns="0" rIns="0" bIns="0" rtlCol="0" anchor="t"/>
          <a:lstStyle/>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초안 한 편을 넣으면,</a:t>
            </a:r>
            <a:endParaRPr lang="en-US" sz="3400" dirty="0"/>
          </a:p>
          <a:p>
            <a:pPr indent="0" marL="0">
              <a:lnSpc>
                <a:spcPct val="112000"/>
              </a:lnSpc>
              <a:buNone/>
            </a:pPr>
            <a:r>
              <a:rPr lang="en-US" sz="3400" b="1" dirty="0">
                <a:solidFill>
                  <a:srgbClr val="3182F6"/>
                </a:solidFill>
                <a:latin typeface="Arial" pitchFamily="34" charset="0"/>
                <a:ea typeface="Arial" pitchFamily="34" charset="-122"/>
                <a:cs typeface="Arial" pitchFamily="34" charset="-120"/>
              </a:rPr>
              <a:t>44초</a:t>
            </a:r>
            <a:pPr indent="0" marL="0">
              <a:lnSpc>
                <a:spcPct val="112000"/>
              </a:lnSpc>
              <a:buNone/>
            </a:pPr>
            <a:r>
              <a:rPr lang="en-US" sz="3400" b="1" dirty="0">
                <a:solidFill>
                  <a:srgbClr val="191F28"/>
                </a:solidFill>
                <a:latin typeface="Arial" pitchFamily="34" charset="0"/>
                <a:ea typeface="Arial" pitchFamily="34" charset="-122"/>
                <a:cs typeface="Arial" pitchFamily="34" charset="-120"/>
              </a:rPr>
              <a:t> 뒤 고칠 곳이 나옵니다</a:t>
            </a:r>
            <a:endParaRPr lang="en-US" sz="3400" dirty="0"/>
          </a:p>
        </p:txBody>
      </p:sp>
      <p:sp>
        <p:nvSpPr>
          <p:cNvPr id="4" name="Text 2"/>
          <p:cNvSpPr/>
          <p:nvPr/>
        </p:nvSpPr>
        <p:spPr>
          <a:xfrm>
            <a:off x="822960" y="2715768"/>
            <a:ext cx="548640" cy="365760"/>
          </a:xfrm>
          <a:prstGeom prst="rect">
            <a:avLst/>
          </a:prstGeom>
          <a:noFill/>
          <a:ln/>
        </p:spPr>
        <p:txBody>
          <a:bodyPr wrap="square" lIns="0" tIns="0" rIns="0" bIns="0" rtlCol="0" anchor="t"/>
          <a:lstStyle/>
          <a:p>
            <a:pPr indent="0" marL="0">
              <a:buNone/>
            </a:pPr>
            <a:r>
              <a:rPr lang="en-US" sz="1800" b="1" dirty="0">
                <a:solidFill>
                  <a:srgbClr val="3182F6"/>
                </a:solidFill>
                <a:latin typeface="Arial" pitchFamily="34" charset="0"/>
                <a:ea typeface="Arial" pitchFamily="34" charset="-122"/>
                <a:cs typeface="Arial" pitchFamily="34" charset="-120"/>
              </a:rPr>
              <a:t>01</a:t>
            </a:r>
            <a:endParaRPr lang="en-US" sz="1800" dirty="0"/>
          </a:p>
        </p:txBody>
      </p:sp>
      <p:sp>
        <p:nvSpPr>
          <p:cNvPr id="5" name="Text 3"/>
          <p:cNvSpPr/>
          <p:nvPr/>
        </p:nvSpPr>
        <p:spPr>
          <a:xfrm>
            <a:off x="1463040" y="2697480"/>
            <a:ext cx="3657600" cy="384048"/>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요건 34개 · 심사표 5개 자동 추출</a:t>
            </a:r>
            <a:endParaRPr lang="en-US" sz="1600" dirty="0"/>
          </a:p>
        </p:txBody>
      </p:sp>
      <p:sp>
        <p:nvSpPr>
          <p:cNvPr id="6" name="Text 4"/>
          <p:cNvSpPr/>
          <p:nvPr/>
        </p:nvSpPr>
        <p:spPr>
          <a:xfrm>
            <a:off x="1463040" y="3108960"/>
            <a:ext cx="365760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공고 파싱은 처음 한 번(5쪽 15초·37쪽 41초)</a:t>
            </a:r>
            <a:endParaRPr lang="en-US" sz="1250" dirty="0"/>
          </a:p>
        </p:txBody>
      </p:sp>
      <p:sp>
        <p:nvSpPr>
          <p:cNvPr id="7" name="Text 5"/>
          <p:cNvSpPr/>
          <p:nvPr/>
        </p:nvSpPr>
        <p:spPr>
          <a:xfrm>
            <a:off x="822960" y="3721608"/>
            <a:ext cx="548640" cy="365760"/>
          </a:xfrm>
          <a:prstGeom prst="rect">
            <a:avLst/>
          </a:prstGeom>
          <a:noFill/>
          <a:ln/>
        </p:spPr>
        <p:txBody>
          <a:bodyPr wrap="square" lIns="0" tIns="0" rIns="0" bIns="0" rtlCol="0" anchor="t"/>
          <a:lstStyle/>
          <a:p>
            <a:pPr indent="0" marL="0">
              <a:buNone/>
            </a:pPr>
            <a:r>
              <a:rPr lang="en-US" sz="1800" b="1" dirty="0">
                <a:solidFill>
                  <a:srgbClr val="3182F6"/>
                </a:solidFill>
                <a:latin typeface="Arial" pitchFamily="34" charset="0"/>
                <a:ea typeface="Arial" pitchFamily="34" charset="-122"/>
                <a:cs typeface="Arial" pitchFamily="34" charset="-120"/>
              </a:rPr>
              <a:t>02</a:t>
            </a:r>
            <a:endParaRPr lang="en-US" sz="1800" dirty="0"/>
          </a:p>
        </p:txBody>
      </p:sp>
      <p:sp>
        <p:nvSpPr>
          <p:cNvPr id="8" name="Text 6"/>
          <p:cNvSpPr/>
          <p:nvPr/>
        </p:nvSpPr>
        <p:spPr>
          <a:xfrm>
            <a:off x="1463040" y="3703320"/>
            <a:ext cx="3657600" cy="384048"/>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점검 질문 15개를 5명에게 따로</a:t>
            </a:r>
            <a:endParaRPr lang="en-US" sz="1600" dirty="0"/>
          </a:p>
        </p:txBody>
      </p:sp>
      <p:sp>
        <p:nvSpPr>
          <p:cNvPr id="9" name="Text 7"/>
          <p:cNvSpPr/>
          <p:nvPr/>
        </p:nvSpPr>
        <p:spPr>
          <a:xfrm>
            <a:off x="1463040" y="4114800"/>
            <a:ext cx="365760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서로의 답을 모른 채 판정 + 인용</a:t>
            </a:r>
            <a:endParaRPr lang="en-US" sz="1250" dirty="0"/>
          </a:p>
        </p:txBody>
      </p:sp>
      <p:sp>
        <p:nvSpPr>
          <p:cNvPr id="10" name="Text 8"/>
          <p:cNvSpPr/>
          <p:nvPr/>
        </p:nvSpPr>
        <p:spPr>
          <a:xfrm>
            <a:off x="822960" y="4727448"/>
            <a:ext cx="548640" cy="365760"/>
          </a:xfrm>
          <a:prstGeom prst="rect">
            <a:avLst/>
          </a:prstGeom>
          <a:noFill/>
          <a:ln/>
        </p:spPr>
        <p:txBody>
          <a:bodyPr wrap="square" lIns="0" tIns="0" rIns="0" bIns="0" rtlCol="0" anchor="t"/>
          <a:lstStyle/>
          <a:p>
            <a:pPr indent="0" marL="0">
              <a:buNone/>
            </a:pPr>
            <a:r>
              <a:rPr lang="en-US" sz="1800" b="1" dirty="0">
                <a:solidFill>
                  <a:srgbClr val="3182F6"/>
                </a:solidFill>
                <a:latin typeface="Arial" pitchFamily="34" charset="0"/>
                <a:ea typeface="Arial" pitchFamily="34" charset="-122"/>
                <a:cs typeface="Arial" pitchFamily="34" charset="-120"/>
              </a:rPr>
              <a:t>03</a:t>
            </a:r>
            <a:endParaRPr lang="en-US" sz="1800" dirty="0"/>
          </a:p>
        </p:txBody>
      </p:sp>
      <p:sp>
        <p:nvSpPr>
          <p:cNvPr id="11" name="Text 9"/>
          <p:cNvSpPr/>
          <p:nvPr/>
        </p:nvSpPr>
        <p:spPr>
          <a:xfrm>
            <a:off x="1463040" y="4709160"/>
            <a:ext cx="3657600" cy="384048"/>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고칠 곳과 판단할 곳을 나눠 표시</a:t>
            </a:r>
            <a:endParaRPr lang="en-US" sz="1600" dirty="0"/>
          </a:p>
        </p:txBody>
      </p:sp>
      <p:sp>
        <p:nvSpPr>
          <p:cNvPr id="12" name="Text 10"/>
          <p:cNvSpPr/>
          <p:nvPr/>
        </p:nvSpPr>
        <p:spPr>
          <a:xfrm>
            <a:off x="1463040" y="5120640"/>
            <a:ext cx="365760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보완은 문장 대신 「무엇을·어디에」만 지정</a:t>
            </a:r>
            <a:endParaRPr lang="en-US" sz="1250" dirty="0"/>
          </a:p>
        </p:txBody>
      </p:sp>
      <p:sp>
        <p:nvSpPr>
          <p:cNvPr id="13" name="Shape 11"/>
          <p:cNvSpPr/>
          <p:nvPr/>
        </p:nvSpPr>
        <p:spPr>
          <a:xfrm>
            <a:off x="5532120" y="2697480"/>
            <a:ext cx="4768504" cy="1783080"/>
          </a:xfrm>
          <a:prstGeom prst="roundRect">
            <a:avLst>
              <a:gd name="adj" fmla="val 4103"/>
            </a:avLst>
          </a:prstGeom>
          <a:solidFill>
            <a:srgbClr val="FFFFFF"/>
          </a:solidFill>
          <a:ln w="12700">
            <a:solidFill>
              <a:srgbClr val="E5E8EB"/>
            </a:solidFill>
            <a:prstDash val="solid"/>
          </a:ln>
        </p:spPr>
      </p:sp>
      <p:pic>
        <p:nvPicPr>
          <p:cNvPr id="14" name="Image 0" descr="/Users/ryugi62/dev/rfp-to-fit/deliver/deck/build/img/input.png">    </p:cNvPr>
          <p:cNvPicPr>
            <a:picLocks noChangeAspect="1"/>
          </p:cNvPicPr>
          <p:nvPr/>
        </p:nvPicPr>
        <p:blipFill>
          <a:blip r:embed="rId1"/>
          <a:stretch>
            <a:fillRect/>
          </a:stretch>
        </p:blipFill>
        <p:spPr>
          <a:xfrm>
            <a:off x="5623560" y="2788920"/>
            <a:ext cx="4585624" cy="1538830"/>
          </a:xfrm>
          <a:prstGeom prst="rect">
            <a:avLst/>
          </a:prstGeom>
        </p:spPr>
      </p:pic>
      <p:sp>
        <p:nvSpPr>
          <p:cNvPr id="15" name="Shape 12"/>
          <p:cNvSpPr/>
          <p:nvPr/>
        </p:nvSpPr>
        <p:spPr>
          <a:xfrm>
            <a:off x="5532120" y="4663440"/>
            <a:ext cx="3176980" cy="1554480"/>
          </a:xfrm>
          <a:prstGeom prst="roundRect">
            <a:avLst>
              <a:gd name="adj" fmla="val 4706"/>
            </a:avLst>
          </a:prstGeom>
          <a:solidFill>
            <a:srgbClr val="FFFFFF"/>
          </a:solidFill>
          <a:ln w="12700">
            <a:solidFill>
              <a:srgbClr val="E5E8EB"/>
            </a:solidFill>
            <a:prstDash val="solid"/>
          </a:ln>
        </p:spPr>
      </p:sp>
      <p:pic>
        <p:nvPicPr>
          <p:cNvPr id="16" name="Image 1" descr="/Users/ryugi62/dev/rfp-to-fit/deliver/deck/build/img/result.png">    </p:cNvPr>
          <p:cNvPicPr>
            <a:picLocks noChangeAspect="1"/>
          </p:cNvPicPr>
          <p:nvPr/>
        </p:nvPicPr>
        <p:blipFill>
          <a:blip r:embed="rId2"/>
          <a:stretch>
            <a:fillRect/>
          </a:stretch>
        </p:blipFill>
        <p:spPr>
          <a:xfrm>
            <a:off x="5623560" y="4754880"/>
            <a:ext cx="2994100" cy="1292645"/>
          </a:xfrm>
          <a:prstGeom prst="rect">
            <a:avLst/>
          </a:prstGeom>
        </p:spPr>
      </p:pic>
      <p:sp>
        <p:nvSpPr>
          <p:cNvPr id="17" name="Text 13"/>
          <p:cNvSpPr/>
          <p:nvPr/>
        </p:nvSpPr>
        <p:spPr>
          <a:xfrm>
            <a:off x="822960" y="6355080"/>
            <a:ext cx="10543032" cy="274320"/>
          </a:xfrm>
          <a:prstGeom prst="rect">
            <a:avLst/>
          </a:prstGeom>
          <a:noFill/>
          <a:ln/>
        </p:spPr>
        <p:txBody>
          <a:bodyPr wrap="square" lIns="0" tIns="0" rIns="0" bIns="0" rtlCol="0" anchor="t"/>
          <a:lstStyle/>
          <a:p>
            <a:pPr indent="0" marL="0">
              <a:buNone/>
            </a:pPr>
            <a:r>
              <a:rPr lang="en-US" sz="1000" dirty="0">
                <a:solidFill>
                  <a:srgbClr val="8B95A1"/>
                </a:solidFill>
                <a:latin typeface="Arial" pitchFamily="34" charset="0"/>
                <a:ea typeface="Arial" pitchFamily="34" charset="-122"/>
                <a:cs typeface="Arial" pitchFamily="34" charset="-120"/>
              </a:rPr>
              <a:t>라이브 앱 실제 화면(Streamlit) — 마지막 장의 주소에서 직접 눌러 볼 수 있습니다</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48640"/>
            <a:ext cx="7315200" cy="365760"/>
          </a:xfrm>
          <a:prstGeom prst="rect">
            <a:avLst/>
          </a:prstGeom>
          <a:noFill/>
          <a:ln/>
        </p:spPr>
        <p:txBody>
          <a:bodyPr wrap="square" lIns="0" tIns="0" rIns="0" bIns="0" rtlCol="0" anchor="t"/>
          <a:lstStyle/>
          <a:p>
            <a:pPr indent="0" marL="0">
              <a:buNone/>
            </a:pPr>
            <a:r>
              <a:rPr lang="en-US" sz="1400" b="1" dirty="0">
                <a:solidFill>
                  <a:srgbClr val="3182F6"/>
                </a:solidFill>
                <a:latin typeface="Arial" pitchFamily="34" charset="0"/>
                <a:ea typeface="Arial" pitchFamily="34" charset="-122"/>
                <a:cs typeface="Arial" pitchFamily="34" charset="-120"/>
              </a:rPr>
              <a:t>서비스 흐름도 — AI 개입과 사람 판단 지점</a:t>
            </a:r>
            <a:endParaRPr lang="en-US" sz="1400" dirty="0"/>
          </a:p>
        </p:txBody>
      </p:sp>
      <p:sp>
        <p:nvSpPr>
          <p:cNvPr id="3" name="Text 1"/>
          <p:cNvSpPr/>
          <p:nvPr/>
        </p:nvSpPr>
        <p:spPr>
          <a:xfrm>
            <a:off x="795528" y="960120"/>
            <a:ext cx="10543032" cy="1371600"/>
          </a:xfrm>
          <a:prstGeom prst="rect">
            <a:avLst/>
          </a:prstGeom>
          <a:noFill/>
          <a:ln/>
        </p:spPr>
        <p:txBody>
          <a:bodyPr wrap="square" lIns="0" tIns="0" rIns="0" bIns="0" rtlCol="0" anchor="t"/>
          <a:lstStyle/>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사람은 </a:t>
            </a:r>
            <a:pPr indent="0" marL="0">
              <a:lnSpc>
                <a:spcPct val="112000"/>
              </a:lnSpc>
              <a:buNone/>
            </a:pPr>
            <a:r>
              <a:rPr lang="en-US" sz="3400" b="1" dirty="0">
                <a:solidFill>
                  <a:srgbClr val="3182F6"/>
                </a:solidFill>
                <a:latin typeface="Arial" pitchFamily="34" charset="0"/>
                <a:ea typeface="Arial" pitchFamily="34" charset="-122"/>
                <a:cs typeface="Arial" pitchFamily="34" charset="-120"/>
              </a:rPr>
              <a:t>판단</a:t>
            </a:r>
            <a:pPr indent="0" marL="0">
              <a:lnSpc>
                <a:spcPct val="112000"/>
              </a:lnSpc>
              <a:buNone/>
            </a:pPr>
            <a:r>
              <a:rPr lang="en-US" sz="3400" b="1" dirty="0">
                <a:solidFill>
                  <a:srgbClr val="191F28"/>
                </a:solidFill>
                <a:latin typeface="Arial" pitchFamily="34" charset="0"/>
                <a:ea typeface="Arial" pitchFamily="34" charset="-122"/>
                <a:cs typeface="Arial" pitchFamily="34" charset="-120"/>
              </a:rPr>
              <a:t>만 하고,</a:t>
            </a:r>
            <a:endParaRPr lang="en-US" sz="3400" dirty="0"/>
          </a:p>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나머지는 AI와 규칙이 나눕니다</a:t>
            </a:r>
            <a:endParaRPr lang="en-US" sz="3400" dirty="0"/>
          </a:p>
        </p:txBody>
      </p:sp>
      <p:sp>
        <p:nvSpPr>
          <p:cNvPr id="4" name="Shape 2"/>
          <p:cNvSpPr/>
          <p:nvPr/>
        </p:nvSpPr>
        <p:spPr>
          <a:xfrm>
            <a:off x="822960" y="2606040"/>
            <a:ext cx="1463040" cy="960120"/>
          </a:xfrm>
          <a:prstGeom prst="roundRect">
            <a:avLst>
              <a:gd name="adj" fmla="val 7619"/>
            </a:avLst>
          </a:prstGeom>
          <a:solidFill>
            <a:srgbClr val="191F28"/>
          </a:solidFill>
          <a:ln w="15875">
            <a:solidFill>
              <a:srgbClr val="191F28"/>
            </a:solidFill>
            <a:prstDash val="solid"/>
          </a:ln>
        </p:spPr>
      </p:sp>
      <p:sp>
        <p:nvSpPr>
          <p:cNvPr id="5" name="Text 3"/>
          <p:cNvSpPr/>
          <p:nvPr/>
        </p:nvSpPr>
        <p:spPr>
          <a:xfrm>
            <a:off x="950976" y="2715768"/>
            <a:ext cx="1207008" cy="228600"/>
          </a:xfrm>
          <a:prstGeom prst="rect">
            <a:avLst/>
          </a:prstGeom>
          <a:noFill/>
          <a:ln/>
        </p:spPr>
        <p:txBody>
          <a:bodyPr wrap="square" lIns="0" tIns="0" rIns="0" bIns="0" rtlCol="0" anchor="t"/>
          <a:lstStyle/>
          <a:p>
            <a:pPr indent="0" marL="0">
              <a:buNone/>
            </a:pPr>
            <a:r>
              <a:rPr lang="en-US" sz="1000" b="1" dirty="0">
                <a:solidFill>
                  <a:srgbClr val="B0B8C1"/>
                </a:solidFill>
                <a:latin typeface="Arial" pitchFamily="34" charset="0"/>
                <a:ea typeface="Arial" pitchFamily="34" charset="-122"/>
                <a:cs typeface="Arial" pitchFamily="34" charset="-120"/>
              </a:rPr>
              <a:t>사람</a:t>
            </a:r>
            <a:endParaRPr lang="en-US" sz="1000" dirty="0"/>
          </a:p>
        </p:txBody>
      </p:sp>
      <p:sp>
        <p:nvSpPr>
          <p:cNvPr id="6" name="Text 4"/>
          <p:cNvSpPr/>
          <p:nvPr/>
        </p:nvSpPr>
        <p:spPr>
          <a:xfrm>
            <a:off x="950976" y="2953512"/>
            <a:ext cx="1207008" cy="548640"/>
          </a:xfrm>
          <a:prstGeom prst="rect">
            <a:avLst/>
          </a:prstGeom>
          <a:noFill/>
          <a:ln/>
        </p:spPr>
        <p:txBody>
          <a:bodyPr wrap="square" lIns="0" tIns="0" rIns="0" bIns="0" rtlCol="0" anchor="t"/>
          <a:lstStyle/>
          <a:p>
            <a:pPr indent="0" marL="0">
              <a:lnSpc>
                <a:spcPct val="105000"/>
              </a:lnSpc>
              <a:buNone/>
            </a:pPr>
            <a:r>
              <a:rPr lang="en-US" sz="1300" b="1" dirty="0">
                <a:solidFill>
                  <a:srgbClr val="FFFFFF"/>
                </a:solidFill>
                <a:latin typeface="Arial" pitchFamily="34" charset="0"/>
                <a:ea typeface="Arial" pitchFamily="34" charset="-122"/>
                <a:cs typeface="Arial" pitchFamily="34" charset="-120"/>
              </a:rPr>
              <a:t>공고·초안 올리기</a:t>
            </a:r>
            <a:endParaRPr lang="en-US" sz="1300" dirty="0"/>
          </a:p>
        </p:txBody>
      </p:sp>
      <p:sp>
        <p:nvSpPr>
          <p:cNvPr id="7" name="Shape 5"/>
          <p:cNvSpPr/>
          <p:nvPr/>
        </p:nvSpPr>
        <p:spPr>
          <a:xfrm>
            <a:off x="2638958" y="2606040"/>
            <a:ext cx="1463040" cy="960120"/>
          </a:xfrm>
          <a:prstGeom prst="roundRect">
            <a:avLst>
              <a:gd name="adj" fmla="val 7619"/>
            </a:avLst>
          </a:prstGeom>
          <a:solidFill>
            <a:srgbClr val="EAF3FF"/>
          </a:solidFill>
          <a:ln w="15875">
            <a:solidFill>
              <a:srgbClr val="3182F6"/>
            </a:solidFill>
            <a:prstDash val="solid"/>
          </a:ln>
        </p:spPr>
      </p:sp>
      <p:sp>
        <p:nvSpPr>
          <p:cNvPr id="8" name="Text 6"/>
          <p:cNvSpPr/>
          <p:nvPr/>
        </p:nvSpPr>
        <p:spPr>
          <a:xfrm>
            <a:off x="2766974" y="2715768"/>
            <a:ext cx="1207008" cy="228600"/>
          </a:xfrm>
          <a:prstGeom prst="rect">
            <a:avLst/>
          </a:prstGeom>
          <a:noFill/>
          <a:ln/>
        </p:spPr>
        <p:txBody>
          <a:bodyPr wrap="square" lIns="0" tIns="0" rIns="0" bIns="0" rtlCol="0" anchor="t"/>
          <a:lstStyle/>
          <a:p>
            <a:pPr indent="0" marL="0">
              <a:buNone/>
            </a:pPr>
            <a:r>
              <a:rPr lang="en-US" sz="1000" b="1" dirty="0">
                <a:solidFill>
                  <a:srgbClr val="3182F6"/>
                </a:solidFill>
                <a:latin typeface="Arial" pitchFamily="34" charset="0"/>
                <a:ea typeface="Arial" pitchFamily="34" charset="-122"/>
                <a:cs typeface="Arial" pitchFamily="34" charset="-120"/>
              </a:rPr>
              <a:t>AI</a:t>
            </a:r>
            <a:endParaRPr lang="en-US" sz="1000" dirty="0"/>
          </a:p>
        </p:txBody>
      </p:sp>
      <p:sp>
        <p:nvSpPr>
          <p:cNvPr id="9" name="Text 7"/>
          <p:cNvSpPr/>
          <p:nvPr/>
        </p:nvSpPr>
        <p:spPr>
          <a:xfrm>
            <a:off x="2766974" y="2953512"/>
            <a:ext cx="1207008" cy="548640"/>
          </a:xfrm>
          <a:prstGeom prst="rect">
            <a:avLst/>
          </a:prstGeom>
          <a:noFill/>
          <a:ln/>
        </p:spPr>
        <p:txBody>
          <a:bodyPr wrap="square" lIns="0" tIns="0" rIns="0" bIns="0" rtlCol="0" anchor="t"/>
          <a:lstStyle/>
          <a:p>
            <a:pPr indent="0" marL="0">
              <a:lnSpc>
                <a:spcPct val="105000"/>
              </a:lnSpc>
              <a:buNone/>
            </a:pPr>
            <a:r>
              <a:rPr lang="en-US" sz="1300" b="1" dirty="0">
                <a:solidFill>
                  <a:srgbClr val="1B64DA"/>
                </a:solidFill>
                <a:latin typeface="Arial" pitchFamily="34" charset="0"/>
                <a:ea typeface="Arial" pitchFamily="34" charset="-122"/>
                <a:cs typeface="Arial" pitchFamily="34" charset="-120"/>
              </a:rPr>
              <a:t>3쪽씩 병렬 파싱</a:t>
            </a:r>
            <a:endParaRPr lang="en-US" sz="1300" dirty="0"/>
          </a:p>
        </p:txBody>
      </p:sp>
      <p:sp>
        <p:nvSpPr>
          <p:cNvPr id="10" name="Shape 8"/>
          <p:cNvSpPr/>
          <p:nvPr/>
        </p:nvSpPr>
        <p:spPr>
          <a:xfrm>
            <a:off x="4454957" y="2606040"/>
            <a:ext cx="1463040" cy="960120"/>
          </a:xfrm>
          <a:prstGeom prst="roundRect">
            <a:avLst>
              <a:gd name="adj" fmla="val 7619"/>
            </a:avLst>
          </a:prstGeom>
          <a:solidFill>
            <a:srgbClr val="FFFFFF"/>
          </a:solidFill>
          <a:ln w="15875">
            <a:solidFill>
              <a:srgbClr val="8B95A1"/>
            </a:solidFill>
            <a:prstDash val="dash"/>
          </a:ln>
        </p:spPr>
      </p:sp>
      <p:sp>
        <p:nvSpPr>
          <p:cNvPr id="11" name="Text 9"/>
          <p:cNvSpPr/>
          <p:nvPr/>
        </p:nvSpPr>
        <p:spPr>
          <a:xfrm>
            <a:off x="4582973" y="2715768"/>
            <a:ext cx="1207008" cy="228600"/>
          </a:xfrm>
          <a:prstGeom prst="rect">
            <a:avLst/>
          </a:prstGeom>
          <a:noFill/>
          <a:ln/>
        </p:spPr>
        <p:txBody>
          <a:bodyPr wrap="square" lIns="0" tIns="0" rIns="0" bIns="0" rtlCol="0" anchor="t"/>
          <a:lstStyle/>
          <a:p>
            <a:pPr indent="0" marL="0">
              <a:buNone/>
            </a:pPr>
            <a:r>
              <a:rPr lang="en-US" sz="1000" b="1" dirty="0">
                <a:solidFill>
                  <a:srgbClr val="8B95A1"/>
                </a:solidFill>
                <a:latin typeface="Arial" pitchFamily="34" charset="0"/>
                <a:ea typeface="Arial" pitchFamily="34" charset="-122"/>
                <a:cs typeface="Arial" pitchFamily="34" charset="-120"/>
              </a:rPr>
              <a:t>규칙(코드)</a:t>
            </a:r>
            <a:endParaRPr lang="en-US" sz="1000" dirty="0"/>
          </a:p>
        </p:txBody>
      </p:sp>
      <p:sp>
        <p:nvSpPr>
          <p:cNvPr id="12" name="Text 10"/>
          <p:cNvSpPr/>
          <p:nvPr/>
        </p:nvSpPr>
        <p:spPr>
          <a:xfrm>
            <a:off x="4582973" y="2953512"/>
            <a:ext cx="1207008" cy="548640"/>
          </a:xfrm>
          <a:prstGeom prst="rect">
            <a:avLst/>
          </a:prstGeom>
          <a:noFill/>
          <a:ln/>
        </p:spPr>
        <p:txBody>
          <a:bodyPr wrap="square" lIns="0" tIns="0" rIns="0" bIns="0" rtlCol="0" anchor="t"/>
          <a:lstStyle/>
          <a:p>
            <a:pPr indent="0" marL="0">
              <a:lnSpc>
                <a:spcPct val="105000"/>
              </a:lnSpc>
              <a:buNone/>
            </a:pPr>
            <a:r>
              <a:rPr lang="en-US" sz="1300" b="1" dirty="0">
                <a:solidFill>
                  <a:srgbClr val="191F28"/>
                </a:solidFill>
                <a:latin typeface="Arial" pitchFamily="34" charset="0"/>
                <a:ea typeface="Arial" pitchFamily="34" charset="-122"/>
                <a:cs typeface="Arial" pitchFamily="34" charset="-120"/>
              </a:rPr>
              <a:t>공고 인용 검사</a:t>
            </a:r>
            <a:endParaRPr lang="en-US" sz="1300" dirty="0"/>
          </a:p>
        </p:txBody>
      </p:sp>
      <p:sp>
        <p:nvSpPr>
          <p:cNvPr id="13" name="Shape 11"/>
          <p:cNvSpPr/>
          <p:nvPr/>
        </p:nvSpPr>
        <p:spPr>
          <a:xfrm>
            <a:off x="6270955" y="2606040"/>
            <a:ext cx="1463040" cy="960120"/>
          </a:xfrm>
          <a:prstGeom prst="roundRect">
            <a:avLst>
              <a:gd name="adj" fmla="val 7619"/>
            </a:avLst>
          </a:prstGeom>
          <a:solidFill>
            <a:srgbClr val="EAF3FF"/>
          </a:solidFill>
          <a:ln w="15875">
            <a:solidFill>
              <a:srgbClr val="3182F6"/>
            </a:solidFill>
            <a:prstDash val="solid"/>
          </a:ln>
        </p:spPr>
      </p:sp>
      <p:sp>
        <p:nvSpPr>
          <p:cNvPr id="14" name="Text 12"/>
          <p:cNvSpPr/>
          <p:nvPr/>
        </p:nvSpPr>
        <p:spPr>
          <a:xfrm>
            <a:off x="6398971" y="2715768"/>
            <a:ext cx="1207008" cy="228600"/>
          </a:xfrm>
          <a:prstGeom prst="rect">
            <a:avLst/>
          </a:prstGeom>
          <a:noFill/>
          <a:ln/>
        </p:spPr>
        <p:txBody>
          <a:bodyPr wrap="square" lIns="0" tIns="0" rIns="0" bIns="0" rtlCol="0" anchor="t"/>
          <a:lstStyle/>
          <a:p>
            <a:pPr indent="0" marL="0">
              <a:buNone/>
            </a:pPr>
            <a:r>
              <a:rPr lang="en-US" sz="1000" b="1" dirty="0">
                <a:solidFill>
                  <a:srgbClr val="3182F6"/>
                </a:solidFill>
                <a:latin typeface="Arial" pitchFamily="34" charset="0"/>
                <a:ea typeface="Arial" pitchFamily="34" charset="-122"/>
                <a:cs typeface="Arial" pitchFamily="34" charset="-120"/>
              </a:rPr>
              <a:t>AI</a:t>
            </a:r>
            <a:endParaRPr lang="en-US" sz="1000" dirty="0"/>
          </a:p>
        </p:txBody>
      </p:sp>
      <p:sp>
        <p:nvSpPr>
          <p:cNvPr id="15" name="Text 13"/>
          <p:cNvSpPr/>
          <p:nvPr/>
        </p:nvSpPr>
        <p:spPr>
          <a:xfrm>
            <a:off x="6398971" y="2953512"/>
            <a:ext cx="1207008" cy="548640"/>
          </a:xfrm>
          <a:prstGeom prst="rect">
            <a:avLst/>
          </a:prstGeom>
          <a:noFill/>
          <a:ln/>
        </p:spPr>
        <p:txBody>
          <a:bodyPr wrap="square" lIns="0" tIns="0" rIns="0" bIns="0" rtlCol="0" anchor="t"/>
          <a:lstStyle/>
          <a:p>
            <a:pPr indent="0" marL="0">
              <a:lnSpc>
                <a:spcPct val="105000"/>
              </a:lnSpc>
              <a:buNone/>
            </a:pPr>
            <a:r>
              <a:rPr lang="en-US" sz="1300" b="1" dirty="0">
                <a:solidFill>
                  <a:srgbClr val="1B64DA"/>
                </a:solidFill>
                <a:latin typeface="Arial" pitchFamily="34" charset="0"/>
                <a:ea typeface="Arial" pitchFamily="34" charset="-122"/>
                <a:cs typeface="Arial" pitchFamily="34" charset="-120"/>
              </a:rPr>
              <a:t>점검 질문 생성</a:t>
            </a:r>
            <a:endParaRPr lang="en-US" sz="1300" dirty="0"/>
          </a:p>
        </p:txBody>
      </p:sp>
      <p:sp>
        <p:nvSpPr>
          <p:cNvPr id="16" name="Shape 14"/>
          <p:cNvSpPr/>
          <p:nvPr/>
        </p:nvSpPr>
        <p:spPr>
          <a:xfrm>
            <a:off x="8086954" y="2606040"/>
            <a:ext cx="1463040" cy="960120"/>
          </a:xfrm>
          <a:prstGeom prst="roundRect">
            <a:avLst>
              <a:gd name="adj" fmla="val 7619"/>
            </a:avLst>
          </a:prstGeom>
          <a:solidFill>
            <a:srgbClr val="EAF3FF"/>
          </a:solidFill>
          <a:ln w="15875">
            <a:solidFill>
              <a:srgbClr val="3182F6"/>
            </a:solidFill>
            <a:prstDash val="solid"/>
          </a:ln>
        </p:spPr>
      </p:sp>
      <p:sp>
        <p:nvSpPr>
          <p:cNvPr id="17" name="Text 15"/>
          <p:cNvSpPr/>
          <p:nvPr/>
        </p:nvSpPr>
        <p:spPr>
          <a:xfrm>
            <a:off x="8214970" y="2715768"/>
            <a:ext cx="1207008" cy="228600"/>
          </a:xfrm>
          <a:prstGeom prst="rect">
            <a:avLst/>
          </a:prstGeom>
          <a:noFill/>
          <a:ln/>
        </p:spPr>
        <p:txBody>
          <a:bodyPr wrap="square" lIns="0" tIns="0" rIns="0" bIns="0" rtlCol="0" anchor="t"/>
          <a:lstStyle/>
          <a:p>
            <a:pPr indent="0" marL="0">
              <a:buNone/>
            </a:pPr>
            <a:r>
              <a:rPr lang="en-US" sz="1000" b="1" dirty="0">
                <a:solidFill>
                  <a:srgbClr val="3182F6"/>
                </a:solidFill>
                <a:latin typeface="Arial" pitchFamily="34" charset="0"/>
                <a:ea typeface="Arial" pitchFamily="34" charset="-122"/>
                <a:cs typeface="Arial" pitchFamily="34" charset="-120"/>
              </a:rPr>
              <a:t>AI + MCP</a:t>
            </a:r>
            <a:endParaRPr lang="en-US" sz="1000" dirty="0"/>
          </a:p>
        </p:txBody>
      </p:sp>
      <p:sp>
        <p:nvSpPr>
          <p:cNvPr id="18" name="Text 16"/>
          <p:cNvSpPr/>
          <p:nvPr/>
        </p:nvSpPr>
        <p:spPr>
          <a:xfrm>
            <a:off x="8214970" y="2953512"/>
            <a:ext cx="1207008" cy="548640"/>
          </a:xfrm>
          <a:prstGeom prst="rect">
            <a:avLst/>
          </a:prstGeom>
          <a:noFill/>
          <a:ln/>
        </p:spPr>
        <p:txBody>
          <a:bodyPr wrap="square" lIns="0" tIns="0" rIns="0" bIns="0" rtlCol="0" anchor="t"/>
          <a:lstStyle/>
          <a:p>
            <a:pPr indent="0" marL="0">
              <a:lnSpc>
                <a:spcPct val="105000"/>
              </a:lnSpc>
              <a:buNone/>
            </a:pPr>
            <a:r>
              <a:rPr lang="en-US" sz="1300" b="1" dirty="0">
                <a:solidFill>
                  <a:srgbClr val="1B64DA"/>
                </a:solidFill>
                <a:latin typeface="Arial" pitchFamily="34" charset="0"/>
                <a:ea typeface="Arial" pitchFamily="34" charset="-122"/>
                <a:cs typeface="Arial" pitchFamily="34" charset="-120"/>
              </a:rPr>
              <a:t>선행연구 탐색</a:t>
            </a:r>
            <a:endParaRPr lang="en-US" sz="1300" dirty="0"/>
          </a:p>
        </p:txBody>
      </p:sp>
      <p:sp>
        <p:nvSpPr>
          <p:cNvPr id="19" name="Shape 17"/>
          <p:cNvSpPr/>
          <p:nvPr/>
        </p:nvSpPr>
        <p:spPr>
          <a:xfrm>
            <a:off x="9902952" y="2606040"/>
            <a:ext cx="1463040" cy="960120"/>
          </a:xfrm>
          <a:prstGeom prst="roundRect">
            <a:avLst>
              <a:gd name="adj" fmla="val 7619"/>
            </a:avLst>
          </a:prstGeom>
          <a:solidFill>
            <a:srgbClr val="EAF3FF"/>
          </a:solidFill>
          <a:ln w="15875">
            <a:solidFill>
              <a:srgbClr val="3182F6"/>
            </a:solidFill>
            <a:prstDash val="solid"/>
          </a:ln>
        </p:spPr>
      </p:sp>
      <p:sp>
        <p:nvSpPr>
          <p:cNvPr id="20" name="Text 18"/>
          <p:cNvSpPr/>
          <p:nvPr/>
        </p:nvSpPr>
        <p:spPr>
          <a:xfrm>
            <a:off x="10030968" y="2715768"/>
            <a:ext cx="1207008" cy="228600"/>
          </a:xfrm>
          <a:prstGeom prst="rect">
            <a:avLst/>
          </a:prstGeom>
          <a:noFill/>
          <a:ln/>
        </p:spPr>
        <p:txBody>
          <a:bodyPr wrap="square" lIns="0" tIns="0" rIns="0" bIns="0" rtlCol="0" anchor="t"/>
          <a:lstStyle/>
          <a:p>
            <a:pPr indent="0" marL="0">
              <a:buNone/>
            </a:pPr>
            <a:r>
              <a:rPr lang="en-US" sz="1000" b="1" dirty="0">
                <a:solidFill>
                  <a:srgbClr val="3182F6"/>
                </a:solidFill>
                <a:latin typeface="Arial" pitchFamily="34" charset="0"/>
                <a:ea typeface="Arial" pitchFamily="34" charset="-122"/>
                <a:cs typeface="Arial" pitchFamily="34" charset="-120"/>
              </a:rPr>
              <a:t>AI</a:t>
            </a:r>
            <a:endParaRPr lang="en-US" sz="1000" dirty="0"/>
          </a:p>
        </p:txBody>
      </p:sp>
      <p:sp>
        <p:nvSpPr>
          <p:cNvPr id="21" name="Text 19"/>
          <p:cNvSpPr/>
          <p:nvPr/>
        </p:nvSpPr>
        <p:spPr>
          <a:xfrm>
            <a:off x="10030968" y="2953512"/>
            <a:ext cx="1207008" cy="548640"/>
          </a:xfrm>
          <a:prstGeom prst="rect">
            <a:avLst/>
          </a:prstGeom>
          <a:noFill/>
          <a:ln/>
        </p:spPr>
        <p:txBody>
          <a:bodyPr wrap="square" lIns="0" tIns="0" rIns="0" bIns="0" rtlCol="0" anchor="t"/>
          <a:lstStyle/>
          <a:p>
            <a:pPr indent="0" marL="0">
              <a:lnSpc>
                <a:spcPct val="105000"/>
              </a:lnSpc>
              <a:buNone/>
            </a:pPr>
            <a:r>
              <a:rPr lang="en-US" sz="1300" b="1" dirty="0">
                <a:solidFill>
                  <a:srgbClr val="1B64DA"/>
                </a:solidFill>
                <a:latin typeface="Arial" pitchFamily="34" charset="0"/>
                <a:ea typeface="Arial" pitchFamily="34" charset="-122"/>
                <a:cs typeface="Arial" pitchFamily="34" charset="-120"/>
              </a:rPr>
              <a:t>5명 독립 채점</a:t>
            </a:r>
            <a:endParaRPr lang="en-US" sz="1300" dirty="0"/>
          </a:p>
        </p:txBody>
      </p:sp>
      <p:sp>
        <p:nvSpPr>
          <p:cNvPr id="22" name="Shape 20"/>
          <p:cNvSpPr/>
          <p:nvPr/>
        </p:nvSpPr>
        <p:spPr>
          <a:xfrm>
            <a:off x="9902952" y="4114800"/>
            <a:ext cx="1463040" cy="960120"/>
          </a:xfrm>
          <a:prstGeom prst="roundRect">
            <a:avLst>
              <a:gd name="adj" fmla="val 7619"/>
            </a:avLst>
          </a:prstGeom>
          <a:solidFill>
            <a:srgbClr val="FFFFFF"/>
          </a:solidFill>
          <a:ln w="15875">
            <a:solidFill>
              <a:srgbClr val="8B95A1"/>
            </a:solidFill>
            <a:prstDash val="dash"/>
          </a:ln>
        </p:spPr>
      </p:sp>
      <p:sp>
        <p:nvSpPr>
          <p:cNvPr id="23" name="Text 21"/>
          <p:cNvSpPr/>
          <p:nvPr/>
        </p:nvSpPr>
        <p:spPr>
          <a:xfrm>
            <a:off x="10030968" y="4224528"/>
            <a:ext cx="1207008" cy="228600"/>
          </a:xfrm>
          <a:prstGeom prst="rect">
            <a:avLst/>
          </a:prstGeom>
          <a:noFill/>
          <a:ln/>
        </p:spPr>
        <p:txBody>
          <a:bodyPr wrap="square" lIns="0" tIns="0" rIns="0" bIns="0" rtlCol="0" anchor="t"/>
          <a:lstStyle/>
          <a:p>
            <a:pPr indent="0" marL="0">
              <a:buNone/>
            </a:pPr>
            <a:r>
              <a:rPr lang="en-US" sz="1000" b="1" dirty="0">
                <a:solidFill>
                  <a:srgbClr val="8B95A1"/>
                </a:solidFill>
                <a:latin typeface="Arial" pitchFamily="34" charset="0"/>
                <a:ea typeface="Arial" pitchFamily="34" charset="-122"/>
                <a:cs typeface="Arial" pitchFamily="34" charset="-120"/>
              </a:rPr>
              <a:t>규칙(코드)</a:t>
            </a:r>
            <a:endParaRPr lang="en-US" sz="1000" dirty="0"/>
          </a:p>
        </p:txBody>
      </p:sp>
      <p:sp>
        <p:nvSpPr>
          <p:cNvPr id="24" name="Text 22"/>
          <p:cNvSpPr/>
          <p:nvPr/>
        </p:nvSpPr>
        <p:spPr>
          <a:xfrm>
            <a:off x="10030968" y="4462272"/>
            <a:ext cx="1207008" cy="548640"/>
          </a:xfrm>
          <a:prstGeom prst="rect">
            <a:avLst/>
          </a:prstGeom>
          <a:noFill/>
          <a:ln/>
        </p:spPr>
        <p:txBody>
          <a:bodyPr wrap="square" lIns="0" tIns="0" rIns="0" bIns="0" rtlCol="0" anchor="t"/>
          <a:lstStyle/>
          <a:p>
            <a:pPr indent="0" marL="0">
              <a:lnSpc>
                <a:spcPct val="105000"/>
              </a:lnSpc>
              <a:buNone/>
            </a:pPr>
            <a:r>
              <a:rPr lang="en-US" sz="1300" b="1" dirty="0">
                <a:solidFill>
                  <a:srgbClr val="191F28"/>
                </a:solidFill>
                <a:latin typeface="Arial" pitchFamily="34" charset="0"/>
                <a:ea typeface="Arial" pitchFamily="34" charset="-122"/>
                <a:cs typeface="Arial" pitchFamily="34" charset="-120"/>
              </a:rPr>
              <a:t>인용 실재 검사</a:t>
            </a:r>
            <a:endParaRPr lang="en-US" sz="1300" dirty="0"/>
          </a:p>
        </p:txBody>
      </p:sp>
      <p:sp>
        <p:nvSpPr>
          <p:cNvPr id="25" name="Shape 23"/>
          <p:cNvSpPr/>
          <p:nvPr/>
        </p:nvSpPr>
        <p:spPr>
          <a:xfrm>
            <a:off x="8086954" y="4114800"/>
            <a:ext cx="1463040" cy="960120"/>
          </a:xfrm>
          <a:prstGeom prst="roundRect">
            <a:avLst>
              <a:gd name="adj" fmla="val 7619"/>
            </a:avLst>
          </a:prstGeom>
          <a:solidFill>
            <a:srgbClr val="EAF3FF"/>
          </a:solidFill>
          <a:ln w="15875">
            <a:solidFill>
              <a:srgbClr val="3182F6"/>
            </a:solidFill>
            <a:prstDash val="solid"/>
          </a:ln>
        </p:spPr>
      </p:sp>
      <p:sp>
        <p:nvSpPr>
          <p:cNvPr id="26" name="Text 24"/>
          <p:cNvSpPr/>
          <p:nvPr/>
        </p:nvSpPr>
        <p:spPr>
          <a:xfrm>
            <a:off x="8214970" y="4224528"/>
            <a:ext cx="1207008" cy="228600"/>
          </a:xfrm>
          <a:prstGeom prst="rect">
            <a:avLst/>
          </a:prstGeom>
          <a:noFill/>
          <a:ln/>
        </p:spPr>
        <p:txBody>
          <a:bodyPr wrap="square" lIns="0" tIns="0" rIns="0" bIns="0" rtlCol="0" anchor="t"/>
          <a:lstStyle/>
          <a:p>
            <a:pPr indent="0" marL="0">
              <a:buNone/>
            </a:pPr>
            <a:r>
              <a:rPr lang="en-US" sz="1000" b="1" dirty="0">
                <a:solidFill>
                  <a:srgbClr val="3182F6"/>
                </a:solidFill>
                <a:latin typeface="Arial" pitchFamily="34" charset="0"/>
                <a:ea typeface="Arial" pitchFamily="34" charset="-122"/>
                <a:cs typeface="Arial" pitchFamily="34" charset="-120"/>
              </a:rPr>
              <a:t>AI</a:t>
            </a:r>
            <a:endParaRPr lang="en-US" sz="1000" dirty="0"/>
          </a:p>
        </p:txBody>
      </p:sp>
      <p:sp>
        <p:nvSpPr>
          <p:cNvPr id="27" name="Text 25"/>
          <p:cNvSpPr/>
          <p:nvPr/>
        </p:nvSpPr>
        <p:spPr>
          <a:xfrm>
            <a:off x="8214970" y="4462272"/>
            <a:ext cx="1207008" cy="548640"/>
          </a:xfrm>
          <a:prstGeom prst="rect">
            <a:avLst/>
          </a:prstGeom>
          <a:noFill/>
          <a:ln/>
        </p:spPr>
        <p:txBody>
          <a:bodyPr wrap="square" lIns="0" tIns="0" rIns="0" bIns="0" rtlCol="0" anchor="t"/>
          <a:lstStyle/>
          <a:p>
            <a:pPr indent="0" marL="0">
              <a:lnSpc>
                <a:spcPct val="105000"/>
              </a:lnSpc>
              <a:buNone/>
            </a:pPr>
            <a:r>
              <a:rPr lang="en-US" sz="1300" b="1" dirty="0">
                <a:solidFill>
                  <a:srgbClr val="1B64DA"/>
                </a:solidFill>
                <a:latin typeface="Arial" pitchFamily="34" charset="0"/>
                <a:ea typeface="Arial" pitchFamily="34" charset="-122"/>
                <a:cs typeface="Arial" pitchFamily="34" charset="-120"/>
              </a:rPr>
              <a:t>무효 판정만 재질의</a:t>
            </a:r>
            <a:endParaRPr lang="en-US" sz="1300" dirty="0"/>
          </a:p>
        </p:txBody>
      </p:sp>
      <p:sp>
        <p:nvSpPr>
          <p:cNvPr id="28" name="Shape 26"/>
          <p:cNvSpPr/>
          <p:nvPr/>
        </p:nvSpPr>
        <p:spPr>
          <a:xfrm>
            <a:off x="6270955" y="4114800"/>
            <a:ext cx="1463040" cy="960120"/>
          </a:xfrm>
          <a:prstGeom prst="roundRect">
            <a:avLst>
              <a:gd name="adj" fmla="val 7619"/>
            </a:avLst>
          </a:prstGeom>
          <a:solidFill>
            <a:srgbClr val="FFFFFF"/>
          </a:solidFill>
          <a:ln w="15875">
            <a:solidFill>
              <a:srgbClr val="8B95A1"/>
            </a:solidFill>
            <a:prstDash val="dash"/>
          </a:ln>
        </p:spPr>
      </p:sp>
      <p:sp>
        <p:nvSpPr>
          <p:cNvPr id="29" name="Text 27"/>
          <p:cNvSpPr/>
          <p:nvPr/>
        </p:nvSpPr>
        <p:spPr>
          <a:xfrm>
            <a:off x="6398971" y="4224528"/>
            <a:ext cx="1207008" cy="228600"/>
          </a:xfrm>
          <a:prstGeom prst="rect">
            <a:avLst/>
          </a:prstGeom>
          <a:noFill/>
          <a:ln/>
        </p:spPr>
        <p:txBody>
          <a:bodyPr wrap="square" lIns="0" tIns="0" rIns="0" bIns="0" rtlCol="0" anchor="t"/>
          <a:lstStyle/>
          <a:p>
            <a:pPr indent="0" marL="0">
              <a:buNone/>
            </a:pPr>
            <a:r>
              <a:rPr lang="en-US" sz="1000" b="1" dirty="0">
                <a:solidFill>
                  <a:srgbClr val="8B95A1"/>
                </a:solidFill>
                <a:latin typeface="Arial" pitchFamily="34" charset="0"/>
                <a:ea typeface="Arial" pitchFamily="34" charset="-122"/>
                <a:cs typeface="Arial" pitchFamily="34" charset="-120"/>
              </a:rPr>
              <a:t>규칙(코드)</a:t>
            </a:r>
            <a:endParaRPr lang="en-US" sz="1000" dirty="0"/>
          </a:p>
        </p:txBody>
      </p:sp>
      <p:sp>
        <p:nvSpPr>
          <p:cNvPr id="30" name="Text 28"/>
          <p:cNvSpPr/>
          <p:nvPr/>
        </p:nvSpPr>
        <p:spPr>
          <a:xfrm>
            <a:off x="6398971" y="4462272"/>
            <a:ext cx="1207008" cy="548640"/>
          </a:xfrm>
          <a:prstGeom prst="rect">
            <a:avLst/>
          </a:prstGeom>
          <a:noFill/>
          <a:ln/>
        </p:spPr>
        <p:txBody>
          <a:bodyPr wrap="square" lIns="0" tIns="0" rIns="0" bIns="0" rtlCol="0" anchor="t"/>
          <a:lstStyle/>
          <a:p>
            <a:pPr indent="0" marL="0">
              <a:lnSpc>
                <a:spcPct val="105000"/>
              </a:lnSpc>
              <a:buNone/>
            </a:pPr>
            <a:r>
              <a:rPr lang="en-US" sz="1300" b="1" dirty="0">
                <a:solidFill>
                  <a:srgbClr val="191F28"/>
                </a:solidFill>
                <a:latin typeface="Arial" pitchFamily="34" charset="0"/>
                <a:ea typeface="Arial" pitchFamily="34" charset="-122"/>
                <a:cs typeface="Arial" pitchFamily="34" charset="-120"/>
              </a:rPr>
              <a:t>합의·논쟁 집계</a:t>
            </a:r>
            <a:endParaRPr lang="en-US" sz="1300" dirty="0"/>
          </a:p>
        </p:txBody>
      </p:sp>
      <p:sp>
        <p:nvSpPr>
          <p:cNvPr id="31" name="Shape 29"/>
          <p:cNvSpPr/>
          <p:nvPr/>
        </p:nvSpPr>
        <p:spPr>
          <a:xfrm>
            <a:off x="4454957" y="4114800"/>
            <a:ext cx="1463040" cy="960120"/>
          </a:xfrm>
          <a:prstGeom prst="roundRect">
            <a:avLst>
              <a:gd name="adj" fmla="val 7619"/>
            </a:avLst>
          </a:prstGeom>
          <a:solidFill>
            <a:srgbClr val="EAF3FF"/>
          </a:solidFill>
          <a:ln w="15875">
            <a:solidFill>
              <a:srgbClr val="3182F6"/>
            </a:solidFill>
            <a:prstDash val="solid"/>
          </a:ln>
        </p:spPr>
      </p:sp>
      <p:sp>
        <p:nvSpPr>
          <p:cNvPr id="32" name="Text 30"/>
          <p:cNvSpPr/>
          <p:nvPr/>
        </p:nvSpPr>
        <p:spPr>
          <a:xfrm>
            <a:off x="4582973" y="4224528"/>
            <a:ext cx="1207008" cy="228600"/>
          </a:xfrm>
          <a:prstGeom prst="rect">
            <a:avLst/>
          </a:prstGeom>
          <a:noFill/>
          <a:ln/>
        </p:spPr>
        <p:txBody>
          <a:bodyPr wrap="square" lIns="0" tIns="0" rIns="0" bIns="0" rtlCol="0" anchor="t"/>
          <a:lstStyle/>
          <a:p>
            <a:pPr indent="0" marL="0">
              <a:buNone/>
            </a:pPr>
            <a:r>
              <a:rPr lang="en-US" sz="1000" b="1" dirty="0">
                <a:solidFill>
                  <a:srgbClr val="3182F6"/>
                </a:solidFill>
                <a:latin typeface="Arial" pitchFamily="34" charset="0"/>
                <a:ea typeface="Arial" pitchFamily="34" charset="-122"/>
                <a:cs typeface="Arial" pitchFamily="34" charset="-120"/>
              </a:rPr>
              <a:t>AI</a:t>
            </a:r>
            <a:endParaRPr lang="en-US" sz="1000" dirty="0"/>
          </a:p>
        </p:txBody>
      </p:sp>
      <p:sp>
        <p:nvSpPr>
          <p:cNvPr id="33" name="Text 31"/>
          <p:cNvSpPr/>
          <p:nvPr/>
        </p:nvSpPr>
        <p:spPr>
          <a:xfrm>
            <a:off x="4582973" y="4462272"/>
            <a:ext cx="1207008" cy="548640"/>
          </a:xfrm>
          <a:prstGeom prst="rect">
            <a:avLst/>
          </a:prstGeom>
          <a:noFill/>
          <a:ln/>
        </p:spPr>
        <p:txBody>
          <a:bodyPr wrap="square" lIns="0" tIns="0" rIns="0" bIns="0" rtlCol="0" anchor="t"/>
          <a:lstStyle/>
          <a:p>
            <a:pPr indent="0" marL="0">
              <a:lnSpc>
                <a:spcPct val="105000"/>
              </a:lnSpc>
              <a:buNone/>
            </a:pPr>
            <a:r>
              <a:rPr lang="en-US" sz="1300" b="1" dirty="0">
                <a:solidFill>
                  <a:srgbClr val="1B64DA"/>
                </a:solidFill>
                <a:latin typeface="Arial" pitchFamily="34" charset="0"/>
                <a:ea typeface="Arial" pitchFamily="34" charset="-122"/>
                <a:cs typeface="Arial" pitchFamily="34" charset="-120"/>
              </a:rPr>
              <a:t>보완 위치 지정</a:t>
            </a:r>
            <a:endParaRPr lang="en-US" sz="1300" dirty="0"/>
          </a:p>
        </p:txBody>
      </p:sp>
      <p:sp>
        <p:nvSpPr>
          <p:cNvPr id="34" name="Shape 32"/>
          <p:cNvSpPr/>
          <p:nvPr/>
        </p:nvSpPr>
        <p:spPr>
          <a:xfrm>
            <a:off x="2638958" y="4114800"/>
            <a:ext cx="1463040" cy="960120"/>
          </a:xfrm>
          <a:prstGeom prst="roundRect">
            <a:avLst>
              <a:gd name="adj" fmla="val 7619"/>
            </a:avLst>
          </a:prstGeom>
          <a:solidFill>
            <a:srgbClr val="191F28"/>
          </a:solidFill>
          <a:ln w="15875">
            <a:solidFill>
              <a:srgbClr val="191F28"/>
            </a:solidFill>
            <a:prstDash val="solid"/>
          </a:ln>
        </p:spPr>
      </p:sp>
      <p:sp>
        <p:nvSpPr>
          <p:cNvPr id="35" name="Text 33"/>
          <p:cNvSpPr/>
          <p:nvPr/>
        </p:nvSpPr>
        <p:spPr>
          <a:xfrm>
            <a:off x="2766974" y="4224528"/>
            <a:ext cx="1207008" cy="228600"/>
          </a:xfrm>
          <a:prstGeom prst="rect">
            <a:avLst/>
          </a:prstGeom>
          <a:noFill/>
          <a:ln/>
        </p:spPr>
        <p:txBody>
          <a:bodyPr wrap="square" lIns="0" tIns="0" rIns="0" bIns="0" rtlCol="0" anchor="t"/>
          <a:lstStyle/>
          <a:p>
            <a:pPr indent="0" marL="0">
              <a:buNone/>
            </a:pPr>
            <a:r>
              <a:rPr lang="en-US" sz="1000" b="1" dirty="0">
                <a:solidFill>
                  <a:srgbClr val="B0B8C1"/>
                </a:solidFill>
                <a:latin typeface="Arial" pitchFamily="34" charset="0"/>
                <a:ea typeface="Arial" pitchFamily="34" charset="-122"/>
                <a:cs typeface="Arial" pitchFamily="34" charset="-120"/>
              </a:rPr>
              <a:t>사람</a:t>
            </a:r>
            <a:endParaRPr lang="en-US" sz="1000" dirty="0"/>
          </a:p>
        </p:txBody>
      </p:sp>
      <p:sp>
        <p:nvSpPr>
          <p:cNvPr id="36" name="Text 34"/>
          <p:cNvSpPr/>
          <p:nvPr/>
        </p:nvSpPr>
        <p:spPr>
          <a:xfrm>
            <a:off x="2766974" y="4462272"/>
            <a:ext cx="1207008" cy="548640"/>
          </a:xfrm>
          <a:prstGeom prst="rect">
            <a:avLst/>
          </a:prstGeom>
          <a:noFill/>
          <a:ln/>
        </p:spPr>
        <p:txBody>
          <a:bodyPr wrap="square" lIns="0" tIns="0" rIns="0" bIns="0" rtlCol="0" anchor="t"/>
          <a:lstStyle/>
          <a:p>
            <a:pPr indent="0" marL="0">
              <a:lnSpc>
                <a:spcPct val="105000"/>
              </a:lnSpc>
              <a:buNone/>
            </a:pPr>
            <a:r>
              <a:rPr lang="en-US" sz="1300" b="1" dirty="0">
                <a:solidFill>
                  <a:srgbClr val="FFFFFF"/>
                </a:solidFill>
                <a:latin typeface="Arial" pitchFamily="34" charset="0"/>
                <a:ea typeface="Arial" pitchFamily="34" charset="-122"/>
                <a:cs typeface="Arial" pitchFamily="34" charset="-120"/>
              </a:rPr>
              <a:t>논쟁 지점 판단 문장·제출</a:t>
            </a:r>
            <a:endParaRPr lang="en-US" sz="1300" dirty="0"/>
          </a:p>
        </p:txBody>
      </p:sp>
      <p:sp>
        <p:nvSpPr>
          <p:cNvPr id="37" name="Shape 35"/>
          <p:cNvSpPr/>
          <p:nvPr/>
        </p:nvSpPr>
        <p:spPr>
          <a:xfrm>
            <a:off x="2322576" y="3086100"/>
            <a:ext cx="279806" cy="0"/>
          </a:xfrm>
          <a:prstGeom prst="line">
            <a:avLst/>
          </a:prstGeom>
          <a:noFill/>
          <a:ln w="15875">
            <a:solidFill>
              <a:srgbClr val="8B95A1"/>
            </a:solidFill>
            <a:prstDash val="solid"/>
            <a:tailEnd type="triangle"/>
          </a:ln>
        </p:spPr>
      </p:sp>
      <p:sp>
        <p:nvSpPr>
          <p:cNvPr id="38" name="Shape 36"/>
          <p:cNvSpPr/>
          <p:nvPr/>
        </p:nvSpPr>
        <p:spPr>
          <a:xfrm>
            <a:off x="4138574" y="3086100"/>
            <a:ext cx="279806" cy="0"/>
          </a:xfrm>
          <a:prstGeom prst="line">
            <a:avLst/>
          </a:prstGeom>
          <a:noFill/>
          <a:ln w="15875">
            <a:solidFill>
              <a:srgbClr val="8B95A1"/>
            </a:solidFill>
            <a:prstDash val="solid"/>
            <a:tailEnd type="triangle"/>
          </a:ln>
        </p:spPr>
      </p:sp>
      <p:sp>
        <p:nvSpPr>
          <p:cNvPr id="39" name="Shape 37"/>
          <p:cNvSpPr/>
          <p:nvPr/>
        </p:nvSpPr>
        <p:spPr>
          <a:xfrm>
            <a:off x="5954573" y="3086100"/>
            <a:ext cx="279806" cy="0"/>
          </a:xfrm>
          <a:prstGeom prst="line">
            <a:avLst/>
          </a:prstGeom>
          <a:noFill/>
          <a:ln w="15875">
            <a:solidFill>
              <a:srgbClr val="8B95A1"/>
            </a:solidFill>
            <a:prstDash val="solid"/>
            <a:tailEnd type="triangle"/>
          </a:ln>
        </p:spPr>
      </p:sp>
      <p:sp>
        <p:nvSpPr>
          <p:cNvPr id="40" name="Shape 38"/>
          <p:cNvSpPr/>
          <p:nvPr/>
        </p:nvSpPr>
        <p:spPr>
          <a:xfrm>
            <a:off x="7770571" y="3086100"/>
            <a:ext cx="279806" cy="0"/>
          </a:xfrm>
          <a:prstGeom prst="line">
            <a:avLst/>
          </a:prstGeom>
          <a:noFill/>
          <a:ln w="15875">
            <a:solidFill>
              <a:srgbClr val="8B95A1"/>
            </a:solidFill>
            <a:prstDash val="solid"/>
            <a:tailEnd type="triangle"/>
          </a:ln>
        </p:spPr>
      </p:sp>
      <p:sp>
        <p:nvSpPr>
          <p:cNvPr id="41" name="Shape 39"/>
          <p:cNvSpPr/>
          <p:nvPr/>
        </p:nvSpPr>
        <p:spPr>
          <a:xfrm>
            <a:off x="9586570" y="3086100"/>
            <a:ext cx="279806" cy="0"/>
          </a:xfrm>
          <a:prstGeom prst="line">
            <a:avLst/>
          </a:prstGeom>
          <a:noFill/>
          <a:ln w="15875">
            <a:solidFill>
              <a:srgbClr val="8B95A1"/>
            </a:solidFill>
            <a:prstDash val="solid"/>
            <a:tailEnd type="triangle"/>
          </a:ln>
        </p:spPr>
      </p:sp>
      <p:sp>
        <p:nvSpPr>
          <p:cNvPr id="42" name="Shape 40"/>
          <p:cNvSpPr/>
          <p:nvPr/>
        </p:nvSpPr>
        <p:spPr>
          <a:xfrm>
            <a:off x="10634472" y="3602736"/>
            <a:ext cx="0" cy="475488"/>
          </a:xfrm>
          <a:prstGeom prst="line">
            <a:avLst/>
          </a:prstGeom>
          <a:noFill/>
          <a:ln w="15875">
            <a:solidFill>
              <a:srgbClr val="8B95A1"/>
            </a:solidFill>
            <a:prstDash val="solid"/>
            <a:tailEnd type="triangle"/>
          </a:ln>
        </p:spPr>
      </p:sp>
      <p:sp>
        <p:nvSpPr>
          <p:cNvPr id="43" name="Shape 41"/>
          <p:cNvSpPr/>
          <p:nvPr/>
        </p:nvSpPr>
        <p:spPr>
          <a:xfrm flipH="1">
            <a:off x="9586570" y="4594860"/>
            <a:ext cx="279806" cy="0"/>
          </a:xfrm>
          <a:prstGeom prst="line">
            <a:avLst/>
          </a:prstGeom>
          <a:noFill/>
          <a:ln w="15875">
            <a:solidFill>
              <a:srgbClr val="8B95A1"/>
            </a:solidFill>
            <a:prstDash val="solid"/>
            <a:tailEnd type="triangle"/>
          </a:ln>
        </p:spPr>
      </p:sp>
      <p:sp>
        <p:nvSpPr>
          <p:cNvPr id="44" name="Shape 42"/>
          <p:cNvSpPr/>
          <p:nvPr/>
        </p:nvSpPr>
        <p:spPr>
          <a:xfrm flipH="1">
            <a:off x="7770571" y="4594860"/>
            <a:ext cx="279806" cy="0"/>
          </a:xfrm>
          <a:prstGeom prst="line">
            <a:avLst/>
          </a:prstGeom>
          <a:noFill/>
          <a:ln w="15875">
            <a:solidFill>
              <a:srgbClr val="8B95A1"/>
            </a:solidFill>
            <a:prstDash val="solid"/>
            <a:tailEnd type="triangle"/>
          </a:ln>
        </p:spPr>
      </p:sp>
      <p:sp>
        <p:nvSpPr>
          <p:cNvPr id="45" name="Shape 43"/>
          <p:cNvSpPr/>
          <p:nvPr/>
        </p:nvSpPr>
        <p:spPr>
          <a:xfrm flipH="1">
            <a:off x="5954573" y="4594860"/>
            <a:ext cx="279806" cy="0"/>
          </a:xfrm>
          <a:prstGeom prst="line">
            <a:avLst/>
          </a:prstGeom>
          <a:noFill/>
          <a:ln w="15875">
            <a:solidFill>
              <a:srgbClr val="8B95A1"/>
            </a:solidFill>
            <a:prstDash val="solid"/>
            <a:tailEnd type="triangle"/>
          </a:ln>
        </p:spPr>
      </p:sp>
      <p:sp>
        <p:nvSpPr>
          <p:cNvPr id="46" name="Shape 44"/>
          <p:cNvSpPr/>
          <p:nvPr/>
        </p:nvSpPr>
        <p:spPr>
          <a:xfrm flipH="1">
            <a:off x="4138574" y="4594860"/>
            <a:ext cx="279806" cy="0"/>
          </a:xfrm>
          <a:prstGeom prst="line">
            <a:avLst/>
          </a:prstGeom>
          <a:noFill/>
          <a:ln w="15875">
            <a:solidFill>
              <a:srgbClr val="8B95A1"/>
            </a:solidFill>
            <a:prstDash val="solid"/>
            <a:tailEnd type="triangle"/>
          </a:ln>
        </p:spPr>
      </p:sp>
      <p:sp>
        <p:nvSpPr>
          <p:cNvPr id="47" name="Shape 45"/>
          <p:cNvSpPr/>
          <p:nvPr/>
        </p:nvSpPr>
        <p:spPr>
          <a:xfrm>
            <a:off x="822960" y="4187952"/>
            <a:ext cx="237744" cy="201168"/>
          </a:xfrm>
          <a:prstGeom prst="roundRect">
            <a:avLst>
              <a:gd name="adj" fmla="val 36364"/>
            </a:avLst>
          </a:prstGeom>
          <a:solidFill>
            <a:srgbClr val="191F28"/>
          </a:solidFill>
          <a:ln w="12700">
            <a:solidFill>
              <a:srgbClr val="191F28"/>
            </a:solidFill>
            <a:prstDash val="solid"/>
          </a:ln>
        </p:spPr>
      </p:sp>
      <p:sp>
        <p:nvSpPr>
          <p:cNvPr id="48" name="Text 46"/>
          <p:cNvSpPr/>
          <p:nvPr/>
        </p:nvSpPr>
        <p:spPr>
          <a:xfrm>
            <a:off x="1170432" y="4160520"/>
            <a:ext cx="1280160" cy="274320"/>
          </a:xfrm>
          <a:prstGeom prst="rect">
            <a:avLst/>
          </a:prstGeom>
          <a:noFill/>
          <a:ln/>
        </p:spPr>
        <p:txBody>
          <a:bodyPr wrap="square" lIns="0" tIns="0" rIns="0" bIns="0" rtlCol="0" anchor="t"/>
          <a:lstStyle/>
          <a:p>
            <a:pPr indent="0" marL="0">
              <a:buNone/>
            </a:pPr>
            <a:r>
              <a:rPr lang="en-US" sz="1150" dirty="0">
                <a:solidFill>
                  <a:srgbClr val="4E5968"/>
                </a:solidFill>
                <a:latin typeface="Arial" pitchFamily="34" charset="0"/>
                <a:ea typeface="Arial" pitchFamily="34" charset="-122"/>
                <a:cs typeface="Arial" pitchFamily="34" charset="-120"/>
              </a:rPr>
              <a:t>사람이 판단</a:t>
            </a:r>
            <a:endParaRPr lang="en-US" sz="1150" dirty="0"/>
          </a:p>
        </p:txBody>
      </p:sp>
      <p:sp>
        <p:nvSpPr>
          <p:cNvPr id="49" name="Shape 47"/>
          <p:cNvSpPr/>
          <p:nvPr/>
        </p:nvSpPr>
        <p:spPr>
          <a:xfrm>
            <a:off x="822960" y="4517136"/>
            <a:ext cx="237744" cy="201168"/>
          </a:xfrm>
          <a:prstGeom prst="roundRect">
            <a:avLst>
              <a:gd name="adj" fmla="val 36364"/>
            </a:avLst>
          </a:prstGeom>
          <a:solidFill>
            <a:srgbClr val="EAF3FF"/>
          </a:solidFill>
          <a:ln w="12700">
            <a:solidFill>
              <a:srgbClr val="3182F6"/>
            </a:solidFill>
            <a:prstDash val="solid"/>
          </a:ln>
        </p:spPr>
      </p:sp>
      <p:sp>
        <p:nvSpPr>
          <p:cNvPr id="50" name="Text 48"/>
          <p:cNvSpPr/>
          <p:nvPr/>
        </p:nvSpPr>
        <p:spPr>
          <a:xfrm>
            <a:off x="1170432" y="4489704"/>
            <a:ext cx="1280160" cy="274320"/>
          </a:xfrm>
          <a:prstGeom prst="rect">
            <a:avLst/>
          </a:prstGeom>
          <a:noFill/>
          <a:ln/>
        </p:spPr>
        <p:txBody>
          <a:bodyPr wrap="square" lIns="0" tIns="0" rIns="0" bIns="0" rtlCol="0" anchor="t"/>
          <a:lstStyle/>
          <a:p>
            <a:pPr indent="0" marL="0">
              <a:buNone/>
            </a:pPr>
            <a:r>
              <a:rPr lang="en-US" sz="1150" dirty="0">
                <a:solidFill>
                  <a:srgbClr val="4E5968"/>
                </a:solidFill>
                <a:latin typeface="Arial" pitchFamily="34" charset="0"/>
                <a:ea typeface="Arial" pitchFamily="34" charset="-122"/>
                <a:cs typeface="Arial" pitchFamily="34" charset="-120"/>
              </a:rPr>
              <a:t>AI(LLM)가 생성</a:t>
            </a:r>
            <a:endParaRPr lang="en-US" sz="1150" dirty="0"/>
          </a:p>
        </p:txBody>
      </p:sp>
      <p:sp>
        <p:nvSpPr>
          <p:cNvPr id="51" name="Shape 49"/>
          <p:cNvSpPr/>
          <p:nvPr/>
        </p:nvSpPr>
        <p:spPr>
          <a:xfrm>
            <a:off x="822960" y="4846320"/>
            <a:ext cx="237744" cy="201168"/>
          </a:xfrm>
          <a:prstGeom prst="roundRect">
            <a:avLst>
              <a:gd name="adj" fmla="val 36364"/>
            </a:avLst>
          </a:prstGeom>
          <a:solidFill>
            <a:srgbClr val="FFFFFF"/>
          </a:solidFill>
          <a:ln w="12700">
            <a:solidFill>
              <a:srgbClr val="8B95A1"/>
            </a:solidFill>
            <a:prstDash val="dash"/>
          </a:ln>
        </p:spPr>
      </p:sp>
      <p:sp>
        <p:nvSpPr>
          <p:cNvPr id="52" name="Text 50"/>
          <p:cNvSpPr/>
          <p:nvPr/>
        </p:nvSpPr>
        <p:spPr>
          <a:xfrm>
            <a:off x="1170432" y="4818888"/>
            <a:ext cx="1280160" cy="274320"/>
          </a:xfrm>
          <a:prstGeom prst="rect">
            <a:avLst/>
          </a:prstGeom>
          <a:noFill/>
          <a:ln/>
        </p:spPr>
        <p:txBody>
          <a:bodyPr wrap="square" lIns="0" tIns="0" rIns="0" bIns="0" rtlCol="0" anchor="t"/>
          <a:lstStyle/>
          <a:p>
            <a:pPr indent="0" marL="0">
              <a:buNone/>
            </a:pPr>
            <a:r>
              <a:rPr lang="en-US" sz="1150" dirty="0">
                <a:solidFill>
                  <a:srgbClr val="4E5968"/>
                </a:solidFill>
                <a:latin typeface="Arial" pitchFamily="34" charset="0"/>
                <a:ea typeface="Arial" pitchFamily="34" charset="-122"/>
                <a:cs typeface="Arial" pitchFamily="34" charset="-120"/>
              </a:rPr>
              <a:t>규칙(코드)이 검사</a:t>
            </a:r>
            <a:endParaRPr lang="en-US" sz="1150" dirty="0"/>
          </a:p>
        </p:txBody>
      </p:sp>
      <p:sp>
        <p:nvSpPr>
          <p:cNvPr id="53" name="Shape 51"/>
          <p:cNvSpPr/>
          <p:nvPr/>
        </p:nvSpPr>
        <p:spPr>
          <a:xfrm>
            <a:off x="822960" y="5440680"/>
            <a:ext cx="10543032" cy="0"/>
          </a:xfrm>
          <a:prstGeom prst="line">
            <a:avLst/>
          </a:prstGeom>
          <a:noFill/>
          <a:ln w="12700">
            <a:solidFill>
              <a:srgbClr val="E5E8EB"/>
            </a:solidFill>
            <a:prstDash val="solid"/>
          </a:ln>
        </p:spPr>
      </p:sp>
      <p:sp>
        <p:nvSpPr>
          <p:cNvPr id="54" name="Text 52"/>
          <p:cNvSpPr/>
          <p:nvPr/>
        </p:nvSpPr>
        <p:spPr>
          <a:xfrm>
            <a:off x="822960" y="5623560"/>
            <a:ext cx="10543032" cy="365760"/>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AI가 말한 것은 규칙이 검사하고, 최종 판단과 문장은 사람이 합니다.</a:t>
            </a:r>
            <a:endParaRPr lang="en-US" sz="1600" dirty="0"/>
          </a:p>
        </p:txBody>
      </p:sp>
      <p:sp>
        <p:nvSpPr>
          <p:cNvPr id="55" name="Text 53"/>
          <p:cNvSpPr/>
          <p:nvPr/>
        </p:nvSpPr>
        <p:spPr>
          <a:xfrm>
            <a:off x="822960" y="6016752"/>
            <a:ext cx="10543032" cy="274320"/>
          </a:xfrm>
          <a:prstGeom prst="rect">
            <a:avLst/>
          </a:prstGeom>
          <a:noFill/>
          <a:ln/>
        </p:spPr>
        <p:txBody>
          <a:bodyPr wrap="square" lIns="0" tIns="0" rIns="0" bIns="0" rtlCol="0" anchor="t"/>
          <a:lstStyle/>
          <a:p>
            <a:pPr indent="0" marL="0">
              <a:buNone/>
            </a:pPr>
            <a:r>
              <a:rPr lang="en-US" sz="1200" dirty="0">
                <a:solidFill>
                  <a:srgbClr val="8B95A1"/>
                </a:solidFill>
                <a:latin typeface="Arial" pitchFamily="34" charset="0"/>
                <a:ea typeface="Arial" pitchFamily="34" charset="-122"/>
                <a:cs typeface="Arial" pitchFamily="34" charset="-120"/>
              </a:rPr>
              <a:t>AI 6단계 · 규칙 3단계 · 사람 2단계 — 재질의는 인용이 원문에 없는 판정에만, 평가위원당 한 번</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48640"/>
            <a:ext cx="7315200" cy="365760"/>
          </a:xfrm>
          <a:prstGeom prst="rect">
            <a:avLst/>
          </a:prstGeom>
          <a:noFill/>
          <a:ln/>
        </p:spPr>
        <p:txBody>
          <a:bodyPr wrap="square" lIns="0" tIns="0" rIns="0" bIns="0" rtlCol="0" anchor="t"/>
          <a:lstStyle/>
          <a:p>
            <a:pPr indent="0" marL="0">
              <a:buNone/>
            </a:pPr>
            <a:r>
              <a:rPr lang="en-US" sz="1400" b="1" dirty="0">
                <a:solidFill>
                  <a:srgbClr val="3182F6"/>
                </a:solidFill>
                <a:latin typeface="Arial" pitchFamily="34" charset="0"/>
                <a:ea typeface="Arial" pitchFamily="34" charset="-122"/>
                <a:cs typeface="Arial" pitchFamily="34" charset="-120"/>
              </a:rPr>
              <a:t>AI 구성 · 데이터</a:t>
            </a:r>
            <a:endParaRPr lang="en-US" sz="1400" dirty="0"/>
          </a:p>
        </p:txBody>
      </p:sp>
      <p:sp>
        <p:nvSpPr>
          <p:cNvPr id="3" name="Text 1"/>
          <p:cNvSpPr/>
          <p:nvPr/>
        </p:nvSpPr>
        <p:spPr>
          <a:xfrm>
            <a:off x="795528" y="960120"/>
            <a:ext cx="10543032" cy="1371600"/>
          </a:xfrm>
          <a:prstGeom prst="rect">
            <a:avLst/>
          </a:prstGeom>
          <a:noFill/>
          <a:ln/>
        </p:spPr>
        <p:txBody>
          <a:bodyPr wrap="square" lIns="0" tIns="0" rIns="0" bIns="0" rtlCol="0" anchor="t"/>
          <a:lstStyle/>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두 회사 모델, 그래프 하나,</a:t>
            </a:r>
            <a:endParaRPr lang="en-US" sz="3400" dirty="0"/>
          </a:p>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바꿔 끼우는 </a:t>
            </a:r>
            <a:pPr indent="0" marL="0">
              <a:lnSpc>
                <a:spcPct val="112000"/>
              </a:lnSpc>
              <a:buNone/>
            </a:pPr>
            <a:r>
              <a:rPr lang="en-US" sz="3400" b="1" dirty="0">
                <a:solidFill>
                  <a:srgbClr val="3182F6"/>
                </a:solidFill>
                <a:latin typeface="Arial" pitchFamily="34" charset="0"/>
                <a:ea typeface="Arial" pitchFamily="34" charset="-122"/>
                <a:cs typeface="Arial" pitchFamily="34" charset="-120"/>
              </a:rPr>
              <a:t>MCP</a:t>
            </a:r>
            <a:pPr indent="0" marL="0">
              <a:lnSpc>
                <a:spcPct val="112000"/>
              </a:lnSpc>
              <a:buNone/>
            </a:pPr>
            <a:r>
              <a:rPr lang="en-US" sz="3400" b="1" dirty="0">
                <a:solidFill>
                  <a:srgbClr val="191F28"/>
                </a:solidFill>
                <a:latin typeface="Arial" pitchFamily="34" charset="0"/>
                <a:ea typeface="Arial" pitchFamily="34" charset="-122"/>
                <a:cs typeface="Arial" pitchFamily="34" charset="-120"/>
              </a:rPr>
              <a:t> 도구</a:t>
            </a:r>
            <a:endParaRPr lang="en-US" sz="3400" dirty="0"/>
          </a:p>
        </p:txBody>
      </p:sp>
      <p:sp>
        <p:nvSpPr>
          <p:cNvPr id="4" name="Shape 2"/>
          <p:cNvSpPr/>
          <p:nvPr/>
        </p:nvSpPr>
        <p:spPr>
          <a:xfrm>
            <a:off x="822960" y="2606040"/>
            <a:ext cx="2057400" cy="822960"/>
          </a:xfrm>
          <a:prstGeom prst="roundRect">
            <a:avLst>
              <a:gd name="adj" fmla="val 8889"/>
            </a:avLst>
          </a:prstGeom>
          <a:solidFill>
            <a:srgbClr val="FFFFFF"/>
          </a:solidFill>
          <a:ln w="12700">
            <a:solidFill>
              <a:srgbClr val="E5E8EB"/>
            </a:solidFill>
            <a:prstDash val="solid"/>
          </a:ln>
        </p:spPr>
      </p:sp>
      <p:sp>
        <p:nvSpPr>
          <p:cNvPr id="5" name="Text 3"/>
          <p:cNvSpPr/>
          <p:nvPr/>
        </p:nvSpPr>
        <p:spPr>
          <a:xfrm>
            <a:off x="987552" y="2734056"/>
            <a:ext cx="1783080" cy="292608"/>
          </a:xfrm>
          <a:prstGeom prst="rect">
            <a:avLst/>
          </a:prstGeom>
          <a:noFill/>
          <a:ln/>
        </p:spPr>
        <p:txBody>
          <a:bodyPr wrap="square" lIns="0" tIns="0" rIns="0" bIns="0" rtlCol="0" anchor="t"/>
          <a:lstStyle/>
          <a:p>
            <a:pPr indent="0" marL="0">
              <a:buNone/>
            </a:pPr>
            <a:r>
              <a:rPr lang="en-US" sz="1350" b="1" dirty="0">
                <a:solidFill>
                  <a:srgbClr val="191F28"/>
                </a:solidFill>
                <a:latin typeface="Arial" pitchFamily="34" charset="0"/>
                <a:ea typeface="Arial" pitchFamily="34" charset="-122"/>
                <a:cs typeface="Arial" pitchFamily="34" charset="-120"/>
              </a:rPr>
              <a:t>공고 PDF · HWPX</a:t>
            </a:r>
            <a:endParaRPr lang="en-US" sz="1350" dirty="0"/>
          </a:p>
        </p:txBody>
      </p:sp>
      <p:sp>
        <p:nvSpPr>
          <p:cNvPr id="6" name="Text 4"/>
          <p:cNvSpPr/>
          <p:nvPr/>
        </p:nvSpPr>
        <p:spPr>
          <a:xfrm>
            <a:off x="987552" y="3063240"/>
            <a:ext cx="1783080" cy="274320"/>
          </a:xfrm>
          <a:prstGeom prst="rect">
            <a:avLst/>
          </a:prstGeom>
          <a:noFill/>
          <a:ln/>
        </p:spPr>
        <p:txBody>
          <a:bodyPr wrap="square" lIns="0" tIns="0" rIns="0" bIns="0" rtlCol="0" anchor="t"/>
          <a:lstStyle/>
          <a:p>
            <a:pPr indent="0" marL="0">
              <a:buNone/>
            </a:pPr>
            <a:r>
              <a:rPr lang="en-US" sz="1050" dirty="0">
                <a:solidFill>
                  <a:srgbClr val="8B95A1"/>
                </a:solidFill>
                <a:latin typeface="Arial" pitchFamily="34" charset="0"/>
                <a:ea typeface="Arial" pitchFamily="34" charset="-122"/>
                <a:cs typeface="Arial" pitchFamily="34" charset="-120"/>
              </a:rPr>
              <a:t>쪽 번호·원문 인용 유지</a:t>
            </a:r>
            <a:endParaRPr lang="en-US" sz="1050" dirty="0"/>
          </a:p>
        </p:txBody>
      </p:sp>
      <p:sp>
        <p:nvSpPr>
          <p:cNvPr id="7" name="Shape 5"/>
          <p:cNvSpPr/>
          <p:nvPr/>
        </p:nvSpPr>
        <p:spPr>
          <a:xfrm>
            <a:off x="822960" y="3611880"/>
            <a:ext cx="2057400" cy="822960"/>
          </a:xfrm>
          <a:prstGeom prst="roundRect">
            <a:avLst>
              <a:gd name="adj" fmla="val 8889"/>
            </a:avLst>
          </a:prstGeom>
          <a:solidFill>
            <a:srgbClr val="FFFFFF"/>
          </a:solidFill>
          <a:ln w="12700">
            <a:solidFill>
              <a:srgbClr val="E5E8EB"/>
            </a:solidFill>
            <a:prstDash val="solid"/>
          </a:ln>
        </p:spPr>
      </p:sp>
      <p:sp>
        <p:nvSpPr>
          <p:cNvPr id="8" name="Text 6"/>
          <p:cNvSpPr/>
          <p:nvPr/>
        </p:nvSpPr>
        <p:spPr>
          <a:xfrm>
            <a:off x="987552" y="3739896"/>
            <a:ext cx="1783080" cy="292608"/>
          </a:xfrm>
          <a:prstGeom prst="rect">
            <a:avLst/>
          </a:prstGeom>
          <a:noFill/>
          <a:ln/>
        </p:spPr>
        <p:txBody>
          <a:bodyPr wrap="square" lIns="0" tIns="0" rIns="0" bIns="0" rtlCol="0" anchor="t"/>
          <a:lstStyle/>
          <a:p>
            <a:pPr indent="0" marL="0">
              <a:buNone/>
            </a:pPr>
            <a:r>
              <a:rPr lang="en-US" sz="1350" b="1" dirty="0">
                <a:solidFill>
                  <a:srgbClr val="191F28"/>
                </a:solidFill>
                <a:latin typeface="Arial" pitchFamily="34" charset="0"/>
                <a:ea typeface="Arial" pitchFamily="34" charset="-122"/>
                <a:cs typeface="Arial" pitchFamily="34" charset="-120"/>
              </a:rPr>
              <a:t>연구자 초안</a:t>
            </a:r>
            <a:endParaRPr lang="en-US" sz="1350" dirty="0"/>
          </a:p>
        </p:txBody>
      </p:sp>
      <p:sp>
        <p:nvSpPr>
          <p:cNvPr id="9" name="Text 7"/>
          <p:cNvSpPr/>
          <p:nvPr/>
        </p:nvSpPr>
        <p:spPr>
          <a:xfrm>
            <a:off x="987552" y="4069080"/>
            <a:ext cx="1783080" cy="274320"/>
          </a:xfrm>
          <a:prstGeom prst="rect">
            <a:avLst/>
          </a:prstGeom>
          <a:noFill/>
          <a:ln/>
        </p:spPr>
        <p:txBody>
          <a:bodyPr wrap="square" lIns="0" tIns="0" rIns="0" bIns="0" rtlCol="0" anchor="t"/>
          <a:lstStyle/>
          <a:p>
            <a:pPr indent="0" marL="0">
              <a:buNone/>
            </a:pPr>
            <a:r>
              <a:rPr lang="en-US" sz="1050" dirty="0">
                <a:solidFill>
                  <a:srgbClr val="8B95A1"/>
                </a:solidFill>
                <a:latin typeface="Arial" pitchFamily="34" charset="0"/>
                <a:ea typeface="Arial" pitchFamily="34" charset="-122"/>
                <a:cs typeface="Arial" pitchFamily="34" charset="-120"/>
              </a:rPr>
              <a:t>서버 비저장 · 세션 메모리</a:t>
            </a:r>
            <a:endParaRPr lang="en-US" sz="1050" dirty="0"/>
          </a:p>
        </p:txBody>
      </p:sp>
      <p:sp>
        <p:nvSpPr>
          <p:cNvPr id="10" name="Shape 8"/>
          <p:cNvSpPr/>
          <p:nvPr/>
        </p:nvSpPr>
        <p:spPr>
          <a:xfrm>
            <a:off x="3246120" y="2468880"/>
            <a:ext cx="5257800" cy="2194560"/>
          </a:xfrm>
          <a:prstGeom prst="roundRect">
            <a:avLst>
              <a:gd name="adj" fmla="val 3333"/>
            </a:avLst>
          </a:prstGeom>
          <a:solidFill>
            <a:srgbClr val="F9FAFB"/>
          </a:solidFill>
          <a:ln w="12700">
            <a:solidFill>
              <a:srgbClr val="E5E8EB"/>
            </a:solidFill>
            <a:prstDash val="solid"/>
          </a:ln>
        </p:spPr>
      </p:sp>
      <p:sp>
        <p:nvSpPr>
          <p:cNvPr id="11" name="Text 9"/>
          <p:cNvSpPr/>
          <p:nvPr/>
        </p:nvSpPr>
        <p:spPr>
          <a:xfrm>
            <a:off x="3429000" y="2596896"/>
            <a:ext cx="4892040" cy="274320"/>
          </a:xfrm>
          <a:prstGeom prst="rect">
            <a:avLst/>
          </a:prstGeom>
          <a:noFill/>
          <a:ln/>
        </p:spPr>
        <p:txBody>
          <a:bodyPr wrap="square" lIns="0" tIns="0" rIns="0" bIns="0" rtlCol="0" anchor="t"/>
          <a:lstStyle/>
          <a:p>
            <a:pPr indent="0" marL="0">
              <a:buNone/>
            </a:pPr>
            <a:r>
              <a:rPr lang="en-US" sz="1100" b="1" dirty="0">
                <a:solidFill>
                  <a:srgbClr val="4E5968"/>
                </a:solidFill>
                <a:latin typeface="Arial" pitchFamily="34" charset="0"/>
                <a:ea typeface="Arial" pitchFamily="34" charset="-122"/>
                <a:cs typeface="Arial" pitchFamily="34" charset="-120"/>
              </a:rPr>
              <a:t>LangGraph 상태 그래프 — 원문을 통째로 넣고 인용으로 대조(RAG 대신)</a:t>
            </a:r>
            <a:endParaRPr lang="en-US" sz="1100" dirty="0"/>
          </a:p>
        </p:txBody>
      </p:sp>
      <p:sp>
        <p:nvSpPr>
          <p:cNvPr id="12" name="Shape 10"/>
          <p:cNvSpPr/>
          <p:nvPr/>
        </p:nvSpPr>
        <p:spPr>
          <a:xfrm>
            <a:off x="2926080" y="3566160"/>
            <a:ext cx="274320" cy="0"/>
          </a:xfrm>
          <a:prstGeom prst="line">
            <a:avLst/>
          </a:prstGeom>
          <a:noFill/>
          <a:ln w="15875">
            <a:solidFill>
              <a:srgbClr val="8B95A1"/>
            </a:solidFill>
            <a:prstDash val="solid"/>
            <a:tailEnd type="triangle"/>
          </a:ln>
        </p:spPr>
      </p:sp>
      <p:sp>
        <p:nvSpPr>
          <p:cNvPr id="13" name="Shape 11"/>
          <p:cNvSpPr/>
          <p:nvPr/>
        </p:nvSpPr>
        <p:spPr>
          <a:xfrm>
            <a:off x="3429000" y="2971800"/>
            <a:ext cx="1417320" cy="566928"/>
          </a:xfrm>
          <a:prstGeom prst="roundRect">
            <a:avLst>
              <a:gd name="adj" fmla="val 12903"/>
            </a:avLst>
          </a:prstGeom>
          <a:solidFill>
            <a:srgbClr val="EAF3FF"/>
          </a:solidFill>
          <a:ln w="12700">
            <a:solidFill>
              <a:srgbClr val="3182F6"/>
            </a:solidFill>
            <a:prstDash val="solid"/>
          </a:ln>
        </p:spPr>
      </p:sp>
      <p:sp>
        <p:nvSpPr>
          <p:cNvPr id="14" name="Text 12"/>
          <p:cNvSpPr/>
          <p:nvPr/>
        </p:nvSpPr>
        <p:spPr>
          <a:xfrm>
            <a:off x="3474720" y="3044952"/>
            <a:ext cx="1325880" cy="420624"/>
          </a:xfrm>
          <a:prstGeom prst="rect">
            <a:avLst/>
          </a:prstGeom>
          <a:noFill/>
          <a:ln/>
        </p:spPr>
        <p:txBody>
          <a:bodyPr wrap="square" lIns="0" tIns="0" rIns="0" bIns="0" rtlCol="0" anchor="ctr"/>
          <a:lstStyle/>
          <a:p>
            <a:pPr algn="ctr" indent="0" marL="0">
              <a:buNone/>
            </a:pPr>
            <a:r>
              <a:rPr lang="en-US" sz="1200" b="1" dirty="0">
                <a:solidFill>
                  <a:srgbClr val="1B64DA"/>
                </a:solidFill>
                <a:latin typeface="Arial" pitchFamily="34" charset="0"/>
                <a:ea typeface="Arial" pitchFamily="34" charset="-122"/>
                <a:cs typeface="Arial" pitchFamily="34" charset="-120"/>
              </a:rPr>
              <a:t>점검 질문</a:t>
            </a:r>
            <a:endParaRPr lang="en-US" sz="1200" dirty="0"/>
          </a:p>
        </p:txBody>
      </p:sp>
      <p:sp>
        <p:nvSpPr>
          <p:cNvPr id="15" name="Shape 13"/>
          <p:cNvSpPr/>
          <p:nvPr/>
        </p:nvSpPr>
        <p:spPr>
          <a:xfrm>
            <a:off x="4873752" y="3255264"/>
            <a:ext cx="265176" cy="0"/>
          </a:xfrm>
          <a:prstGeom prst="line">
            <a:avLst/>
          </a:prstGeom>
          <a:noFill/>
          <a:ln w="15875">
            <a:solidFill>
              <a:srgbClr val="8B95A1"/>
            </a:solidFill>
            <a:prstDash val="solid"/>
            <a:tailEnd type="triangle"/>
          </a:ln>
        </p:spPr>
      </p:sp>
      <p:sp>
        <p:nvSpPr>
          <p:cNvPr id="16" name="Shape 14"/>
          <p:cNvSpPr/>
          <p:nvPr/>
        </p:nvSpPr>
        <p:spPr>
          <a:xfrm>
            <a:off x="5166360" y="2971800"/>
            <a:ext cx="1417320" cy="566928"/>
          </a:xfrm>
          <a:prstGeom prst="roundRect">
            <a:avLst>
              <a:gd name="adj" fmla="val 12903"/>
            </a:avLst>
          </a:prstGeom>
          <a:solidFill>
            <a:srgbClr val="EAF3FF"/>
          </a:solidFill>
          <a:ln w="12700">
            <a:solidFill>
              <a:srgbClr val="3182F6"/>
            </a:solidFill>
            <a:prstDash val="solid"/>
          </a:ln>
        </p:spPr>
      </p:sp>
      <p:sp>
        <p:nvSpPr>
          <p:cNvPr id="17" name="Text 15"/>
          <p:cNvSpPr/>
          <p:nvPr/>
        </p:nvSpPr>
        <p:spPr>
          <a:xfrm>
            <a:off x="5212080" y="3044952"/>
            <a:ext cx="1325880" cy="420624"/>
          </a:xfrm>
          <a:prstGeom prst="rect">
            <a:avLst/>
          </a:prstGeom>
          <a:noFill/>
          <a:ln/>
        </p:spPr>
        <p:txBody>
          <a:bodyPr wrap="square" lIns="0" tIns="0" rIns="0" bIns="0" rtlCol="0" anchor="ctr"/>
          <a:lstStyle/>
          <a:p>
            <a:pPr algn="ctr" indent="0" marL="0">
              <a:buNone/>
            </a:pPr>
            <a:r>
              <a:rPr lang="en-US" sz="1200" b="1" dirty="0">
                <a:solidFill>
                  <a:srgbClr val="1B64DA"/>
                </a:solidFill>
                <a:latin typeface="Arial" pitchFamily="34" charset="0"/>
                <a:ea typeface="Arial" pitchFamily="34" charset="-122"/>
                <a:cs typeface="Arial" pitchFamily="34" charset="-120"/>
              </a:rPr>
              <a:t>선행 탐색</a:t>
            </a:r>
            <a:endParaRPr lang="en-US" sz="1200" dirty="0"/>
          </a:p>
        </p:txBody>
      </p:sp>
      <p:sp>
        <p:nvSpPr>
          <p:cNvPr id="18" name="Shape 16"/>
          <p:cNvSpPr/>
          <p:nvPr/>
        </p:nvSpPr>
        <p:spPr>
          <a:xfrm>
            <a:off x="6611112" y="3255264"/>
            <a:ext cx="265176" cy="0"/>
          </a:xfrm>
          <a:prstGeom prst="line">
            <a:avLst/>
          </a:prstGeom>
          <a:noFill/>
          <a:ln w="15875">
            <a:solidFill>
              <a:srgbClr val="8B95A1"/>
            </a:solidFill>
            <a:prstDash val="solid"/>
            <a:tailEnd type="triangle"/>
          </a:ln>
        </p:spPr>
      </p:sp>
      <p:sp>
        <p:nvSpPr>
          <p:cNvPr id="19" name="Shape 17"/>
          <p:cNvSpPr/>
          <p:nvPr/>
        </p:nvSpPr>
        <p:spPr>
          <a:xfrm>
            <a:off x="6903720" y="2971800"/>
            <a:ext cx="1417320" cy="566928"/>
          </a:xfrm>
          <a:prstGeom prst="roundRect">
            <a:avLst>
              <a:gd name="adj" fmla="val 12903"/>
            </a:avLst>
          </a:prstGeom>
          <a:solidFill>
            <a:srgbClr val="EAF3FF"/>
          </a:solidFill>
          <a:ln w="12700">
            <a:solidFill>
              <a:srgbClr val="3182F6"/>
            </a:solidFill>
            <a:prstDash val="solid"/>
          </a:ln>
        </p:spPr>
      </p:sp>
      <p:sp>
        <p:nvSpPr>
          <p:cNvPr id="20" name="Text 18"/>
          <p:cNvSpPr/>
          <p:nvPr/>
        </p:nvSpPr>
        <p:spPr>
          <a:xfrm>
            <a:off x="6949440" y="3044952"/>
            <a:ext cx="1325880" cy="420624"/>
          </a:xfrm>
          <a:prstGeom prst="rect">
            <a:avLst/>
          </a:prstGeom>
          <a:noFill/>
          <a:ln/>
        </p:spPr>
        <p:txBody>
          <a:bodyPr wrap="square" lIns="0" tIns="0" rIns="0" bIns="0" rtlCol="0" anchor="ctr"/>
          <a:lstStyle/>
          <a:p>
            <a:pPr algn="ctr" indent="0" marL="0">
              <a:buNone/>
            </a:pPr>
            <a:r>
              <a:rPr lang="en-US" sz="1200" b="1" dirty="0">
                <a:solidFill>
                  <a:srgbClr val="1B64DA"/>
                </a:solidFill>
                <a:latin typeface="Arial" pitchFamily="34" charset="0"/>
                <a:ea typeface="Arial" pitchFamily="34" charset="-122"/>
                <a:cs typeface="Arial" pitchFamily="34" charset="-120"/>
              </a:rPr>
              <a:t>5명 독립 채점</a:t>
            </a:r>
            <a:endParaRPr lang="en-US" sz="1200" dirty="0"/>
          </a:p>
        </p:txBody>
      </p:sp>
      <p:sp>
        <p:nvSpPr>
          <p:cNvPr id="21" name="Shape 19"/>
          <p:cNvSpPr/>
          <p:nvPr/>
        </p:nvSpPr>
        <p:spPr>
          <a:xfrm>
            <a:off x="7223760" y="3886200"/>
            <a:ext cx="1097280" cy="566928"/>
          </a:xfrm>
          <a:prstGeom prst="roundRect">
            <a:avLst>
              <a:gd name="adj" fmla="val 12903"/>
            </a:avLst>
          </a:prstGeom>
          <a:solidFill>
            <a:srgbClr val="FFFFFF"/>
          </a:solidFill>
          <a:ln w="12700">
            <a:solidFill>
              <a:srgbClr val="8B95A1"/>
            </a:solidFill>
            <a:prstDash val="dash"/>
          </a:ln>
        </p:spPr>
      </p:sp>
      <p:sp>
        <p:nvSpPr>
          <p:cNvPr id="22" name="Text 20"/>
          <p:cNvSpPr/>
          <p:nvPr/>
        </p:nvSpPr>
        <p:spPr>
          <a:xfrm>
            <a:off x="7269480" y="3959352"/>
            <a:ext cx="1005840" cy="420624"/>
          </a:xfrm>
          <a:prstGeom prst="rect">
            <a:avLst/>
          </a:prstGeom>
          <a:noFill/>
          <a:ln/>
        </p:spPr>
        <p:txBody>
          <a:bodyPr wrap="square" lIns="0" tIns="0" rIns="0" bIns="0" rtlCol="0" anchor="ctr"/>
          <a:lstStyle/>
          <a:p>
            <a:pPr algn="ctr" indent="0" marL="0">
              <a:buNone/>
            </a:pPr>
            <a:r>
              <a:rPr lang="en-US" sz="1200" b="1" dirty="0">
                <a:solidFill>
                  <a:srgbClr val="191F28"/>
                </a:solidFill>
                <a:latin typeface="Arial" pitchFamily="34" charset="0"/>
                <a:ea typeface="Arial" pitchFamily="34" charset="-122"/>
                <a:cs typeface="Arial" pitchFamily="34" charset="-120"/>
              </a:rPr>
              <a:t>인용 실재 검사</a:t>
            </a:r>
            <a:endParaRPr lang="en-US" sz="1200" dirty="0"/>
          </a:p>
        </p:txBody>
      </p:sp>
      <p:sp>
        <p:nvSpPr>
          <p:cNvPr id="23" name="Shape 21"/>
          <p:cNvSpPr/>
          <p:nvPr/>
        </p:nvSpPr>
        <p:spPr>
          <a:xfrm flipH="1">
            <a:off x="7074408" y="4169664"/>
            <a:ext cx="131064" cy="0"/>
          </a:xfrm>
          <a:prstGeom prst="line">
            <a:avLst/>
          </a:prstGeom>
          <a:noFill/>
          <a:ln w="15875">
            <a:solidFill>
              <a:srgbClr val="8B95A1"/>
            </a:solidFill>
            <a:prstDash val="solid"/>
            <a:tailEnd type="triangle"/>
          </a:ln>
        </p:spPr>
      </p:sp>
      <p:sp>
        <p:nvSpPr>
          <p:cNvPr id="24" name="Shape 22"/>
          <p:cNvSpPr/>
          <p:nvPr/>
        </p:nvSpPr>
        <p:spPr>
          <a:xfrm>
            <a:off x="5958840" y="3886200"/>
            <a:ext cx="1097280" cy="566928"/>
          </a:xfrm>
          <a:prstGeom prst="roundRect">
            <a:avLst>
              <a:gd name="adj" fmla="val 12903"/>
            </a:avLst>
          </a:prstGeom>
          <a:solidFill>
            <a:srgbClr val="EAF3FF"/>
          </a:solidFill>
          <a:ln w="12700">
            <a:solidFill>
              <a:srgbClr val="3182F6"/>
            </a:solidFill>
            <a:prstDash val="solid"/>
          </a:ln>
        </p:spPr>
      </p:sp>
      <p:sp>
        <p:nvSpPr>
          <p:cNvPr id="25" name="Text 23"/>
          <p:cNvSpPr/>
          <p:nvPr/>
        </p:nvSpPr>
        <p:spPr>
          <a:xfrm>
            <a:off x="6004560" y="3959352"/>
            <a:ext cx="1005840" cy="420624"/>
          </a:xfrm>
          <a:prstGeom prst="rect">
            <a:avLst/>
          </a:prstGeom>
          <a:noFill/>
          <a:ln/>
        </p:spPr>
        <p:txBody>
          <a:bodyPr wrap="square" lIns="0" tIns="0" rIns="0" bIns="0" rtlCol="0" anchor="ctr"/>
          <a:lstStyle/>
          <a:p>
            <a:pPr algn="ctr" indent="0" marL="0">
              <a:buNone/>
            </a:pPr>
            <a:r>
              <a:rPr lang="en-US" sz="1200" b="1" dirty="0">
                <a:solidFill>
                  <a:srgbClr val="1B64DA"/>
                </a:solidFill>
                <a:latin typeface="Arial" pitchFamily="34" charset="0"/>
                <a:ea typeface="Arial" pitchFamily="34" charset="-122"/>
                <a:cs typeface="Arial" pitchFamily="34" charset="-120"/>
              </a:rPr>
              <a:t>재질의(1회)</a:t>
            </a:r>
            <a:endParaRPr lang="en-US" sz="1200" dirty="0"/>
          </a:p>
        </p:txBody>
      </p:sp>
      <p:sp>
        <p:nvSpPr>
          <p:cNvPr id="26" name="Shape 24"/>
          <p:cNvSpPr/>
          <p:nvPr/>
        </p:nvSpPr>
        <p:spPr>
          <a:xfrm flipH="1">
            <a:off x="5809488" y="4169664"/>
            <a:ext cx="131064" cy="0"/>
          </a:xfrm>
          <a:prstGeom prst="line">
            <a:avLst/>
          </a:prstGeom>
          <a:noFill/>
          <a:ln w="15875">
            <a:solidFill>
              <a:srgbClr val="8B95A1"/>
            </a:solidFill>
            <a:prstDash val="solid"/>
            <a:tailEnd type="triangle"/>
          </a:ln>
        </p:spPr>
      </p:sp>
      <p:sp>
        <p:nvSpPr>
          <p:cNvPr id="27" name="Shape 25"/>
          <p:cNvSpPr/>
          <p:nvPr/>
        </p:nvSpPr>
        <p:spPr>
          <a:xfrm>
            <a:off x="4693920" y="3886200"/>
            <a:ext cx="1097280" cy="566928"/>
          </a:xfrm>
          <a:prstGeom prst="roundRect">
            <a:avLst>
              <a:gd name="adj" fmla="val 12903"/>
            </a:avLst>
          </a:prstGeom>
          <a:solidFill>
            <a:srgbClr val="FFFFFF"/>
          </a:solidFill>
          <a:ln w="12700">
            <a:solidFill>
              <a:srgbClr val="8B95A1"/>
            </a:solidFill>
            <a:prstDash val="dash"/>
          </a:ln>
        </p:spPr>
      </p:sp>
      <p:sp>
        <p:nvSpPr>
          <p:cNvPr id="28" name="Text 26"/>
          <p:cNvSpPr/>
          <p:nvPr/>
        </p:nvSpPr>
        <p:spPr>
          <a:xfrm>
            <a:off x="4739640" y="3959352"/>
            <a:ext cx="1005840" cy="420624"/>
          </a:xfrm>
          <a:prstGeom prst="rect">
            <a:avLst/>
          </a:prstGeom>
          <a:noFill/>
          <a:ln/>
        </p:spPr>
        <p:txBody>
          <a:bodyPr wrap="square" lIns="0" tIns="0" rIns="0" bIns="0" rtlCol="0" anchor="ctr"/>
          <a:lstStyle/>
          <a:p>
            <a:pPr algn="ctr" indent="0" marL="0">
              <a:buNone/>
            </a:pPr>
            <a:r>
              <a:rPr lang="en-US" sz="1200" b="1" dirty="0">
                <a:solidFill>
                  <a:srgbClr val="191F28"/>
                </a:solidFill>
                <a:latin typeface="Arial" pitchFamily="34" charset="0"/>
                <a:ea typeface="Arial" pitchFamily="34" charset="-122"/>
                <a:cs typeface="Arial" pitchFamily="34" charset="-120"/>
              </a:rPr>
              <a:t>합의·논쟁 집계</a:t>
            </a:r>
            <a:endParaRPr lang="en-US" sz="1200" dirty="0"/>
          </a:p>
        </p:txBody>
      </p:sp>
      <p:sp>
        <p:nvSpPr>
          <p:cNvPr id="29" name="Shape 27"/>
          <p:cNvSpPr/>
          <p:nvPr/>
        </p:nvSpPr>
        <p:spPr>
          <a:xfrm flipH="1">
            <a:off x="4544568" y="4169664"/>
            <a:ext cx="131064" cy="0"/>
          </a:xfrm>
          <a:prstGeom prst="line">
            <a:avLst/>
          </a:prstGeom>
          <a:noFill/>
          <a:ln w="15875">
            <a:solidFill>
              <a:srgbClr val="8B95A1"/>
            </a:solidFill>
            <a:prstDash val="solid"/>
            <a:tailEnd type="triangle"/>
          </a:ln>
        </p:spPr>
      </p:sp>
      <p:sp>
        <p:nvSpPr>
          <p:cNvPr id="30" name="Shape 28"/>
          <p:cNvSpPr/>
          <p:nvPr/>
        </p:nvSpPr>
        <p:spPr>
          <a:xfrm>
            <a:off x="3429000" y="3886200"/>
            <a:ext cx="1097280" cy="566928"/>
          </a:xfrm>
          <a:prstGeom prst="roundRect">
            <a:avLst>
              <a:gd name="adj" fmla="val 12903"/>
            </a:avLst>
          </a:prstGeom>
          <a:solidFill>
            <a:srgbClr val="EAF3FF"/>
          </a:solidFill>
          <a:ln w="12700">
            <a:solidFill>
              <a:srgbClr val="3182F6"/>
            </a:solidFill>
            <a:prstDash val="solid"/>
          </a:ln>
        </p:spPr>
      </p:sp>
      <p:sp>
        <p:nvSpPr>
          <p:cNvPr id="31" name="Text 29"/>
          <p:cNvSpPr/>
          <p:nvPr/>
        </p:nvSpPr>
        <p:spPr>
          <a:xfrm>
            <a:off x="3474720" y="3959352"/>
            <a:ext cx="1005840" cy="420624"/>
          </a:xfrm>
          <a:prstGeom prst="rect">
            <a:avLst/>
          </a:prstGeom>
          <a:noFill/>
          <a:ln/>
        </p:spPr>
        <p:txBody>
          <a:bodyPr wrap="square" lIns="0" tIns="0" rIns="0" bIns="0" rtlCol="0" anchor="ctr"/>
          <a:lstStyle/>
          <a:p>
            <a:pPr algn="ctr" indent="0" marL="0">
              <a:buNone/>
            </a:pPr>
            <a:r>
              <a:rPr lang="en-US" sz="1200" b="1" dirty="0">
                <a:solidFill>
                  <a:srgbClr val="1B64DA"/>
                </a:solidFill>
                <a:latin typeface="Arial" pitchFamily="34" charset="0"/>
                <a:ea typeface="Arial" pitchFamily="34" charset="-122"/>
                <a:cs typeface="Arial" pitchFamily="34" charset="-120"/>
              </a:rPr>
              <a:t>보완 지정</a:t>
            </a:r>
            <a:endParaRPr lang="en-US" sz="1200" dirty="0"/>
          </a:p>
        </p:txBody>
      </p:sp>
      <p:sp>
        <p:nvSpPr>
          <p:cNvPr id="32" name="Shape 30"/>
          <p:cNvSpPr/>
          <p:nvPr/>
        </p:nvSpPr>
        <p:spPr>
          <a:xfrm>
            <a:off x="7772400" y="3557016"/>
            <a:ext cx="0" cy="310896"/>
          </a:xfrm>
          <a:prstGeom prst="line">
            <a:avLst/>
          </a:prstGeom>
          <a:noFill/>
          <a:ln w="15875">
            <a:solidFill>
              <a:srgbClr val="8B95A1"/>
            </a:solidFill>
            <a:prstDash val="solid"/>
            <a:tailEnd type="triangle"/>
          </a:ln>
        </p:spPr>
      </p:sp>
      <p:sp>
        <p:nvSpPr>
          <p:cNvPr id="33" name="Shape 31"/>
          <p:cNvSpPr/>
          <p:nvPr/>
        </p:nvSpPr>
        <p:spPr>
          <a:xfrm>
            <a:off x="3246120" y="4846320"/>
            <a:ext cx="2537460" cy="777240"/>
          </a:xfrm>
          <a:prstGeom prst="roundRect">
            <a:avLst>
              <a:gd name="adj" fmla="val 9412"/>
            </a:avLst>
          </a:prstGeom>
          <a:solidFill>
            <a:srgbClr val="EAF3FF"/>
          </a:solidFill>
          <a:ln w="12700">
            <a:solidFill>
              <a:srgbClr val="3182F6"/>
            </a:solidFill>
            <a:prstDash val="solid"/>
          </a:ln>
        </p:spPr>
      </p:sp>
      <p:sp>
        <p:nvSpPr>
          <p:cNvPr id="34" name="Text 32"/>
          <p:cNvSpPr/>
          <p:nvPr/>
        </p:nvSpPr>
        <p:spPr>
          <a:xfrm>
            <a:off x="3410712" y="4956048"/>
            <a:ext cx="2263140" cy="292608"/>
          </a:xfrm>
          <a:prstGeom prst="rect">
            <a:avLst/>
          </a:prstGeom>
          <a:noFill/>
          <a:ln/>
        </p:spPr>
        <p:txBody>
          <a:bodyPr wrap="square" lIns="0" tIns="0" rIns="0" bIns="0" rtlCol="0" anchor="t"/>
          <a:lstStyle/>
          <a:p>
            <a:pPr indent="0" marL="0">
              <a:buNone/>
            </a:pPr>
            <a:r>
              <a:rPr lang="en-US" sz="1350" b="1" dirty="0">
                <a:solidFill>
                  <a:srgbClr val="1B64DA"/>
                </a:solidFill>
                <a:latin typeface="Arial" pitchFamily="34" charset="0"/>
                <a:ea typeface="Arial" pitchFamily="34" charset="-122"/>
                <a:cs typeface="Arial" pitchFamily="34" charset="-120"/>
              </a:rPr>
              <a:t>Google Gemini</a:t>
            </a:r>
            <a:endParaRPr lang="en-US" sz="1350" dirty="0"/>
          </a:p>
        </p:txBody>
      </p:sp>
      <p:sp>
        <p:nvSpPr>
          <p:cNvPr id="35" name="Text 33"/>
          <p:cNvSpPr/>
          <p:nvPr/>
        </p:nvSpPr>
        <p:spPr>
          <a:xfrm>
            <a:off x="3410712" y="5276088"/>
            <a:ext cx="2263140" cy="274320"/>
          </a:xfrm>
          <a:prstGeom prst="rect">
            <a:avLst/>
          </a:prstGeom>
          <a:noFill/>
          <a:ln/>
        </p:spPr>
        <p:txBody>
          <a:bodyPr wrap="square" lIns="0" tIns="0" rIns="0" bIns="0" rtlCol="0" anchor="t"/>
          <a:lstStyle/>
          <a:p>
            <a:pPr indent="0" marL="0">
              <a:buNone/>
            </a:pPr>
            <a:r>
              <a:rPr lang="en-US" sz="1050" dirty="0">
                <a:solidFill>
                  <a:srgbClr val="4E5968"/>
                </a:solidFill>
                <a:latin typeface="Arial" pitchFamily="34" charset="0"/>
                <a:ea typeface="Arial" pitchFamily="34" charset="-122"/>
                <a:cs typeface="Arial" pitchFamily="34" charset="-120"/>
              </a:rPr>
              <a:t>파싱 · 점검 질문 · 평가위원 3명</a:t>
            </a:r>
            <a:endParaRPr lang="en-US" sz="1050" dirty="0"/>
          </a:p>
        </p:txBody>
      </p:sp>
      <p:sp>
        <p:nvSpPr>
          <p:cNvPr id="36" name="Shape 34"/>
          <p:cNvSpPr/>
          <p:nvPr/>
        </p:nvSpPr>
        <p:spPr>
          <a:xfrm>
            <a:off x="5966460" y="4846320"/>
            <a:ext cx="2537460" cy="777240"/>
          </a:xfrm>
          <a:prstGeom prst="roundRect">
            <a:avLst>
              <a:gd name="adj" fmla="val 9412"/>
            </a:avLst>
          </a:prstGeom>
          <a:solidFill>
            <a:srgbClr val="EAF3FF"/>
          </a:solidFill>
          <a:ln w="12700">
            <a:solidFill>
              <a:srgbClr val="3182F6"/>
            </a:solidFill>
            <a:prstDash val="solid"/>
          </a:ln>
        </p:spPr>
      </p:sp>
      <p:sp>
        <p:nvSpPr>
          <p:cNvPr id="37" name="Text 35"/>
          <p:cNvSpPr/>
          <p:nvPr/>
        </p:nvSpPr>
        <p:spPr>
          <a:xfrm>
            <a:off x="6131052" y="4956048"/>
            <a:ext cx="2263140" cy="292608"/>
          </a:xfrm>
          <a:prstGeom prst="rect">
            <a:avLst/>
          </a:prstGeom>
          <a:noFill/>
          <a:ln/>
        </p:spPr>
        <p:txBody>
          <a:bodyPr wrap="square" lIns="0" tIns="0" rIns="0" bIns="0" rtlCol="0" anchor="t"/>
          <a:lstStyle/>
          <a:p>
            <a:pPr indent="0" marL="0">
              <a:buNone/>
            </a:pPr>
            <a:r>
              <a:rPr lang="en-US" sz="1350" b="1" dirty="0">
                <a:solidFill>
                  <a:srgbClr val="1B64DA"/>
                </a:solidFill>
                <a:latin typeface="Arial" pitchFamily="34" charset="0"/>
                <a:ea typeface="Arial" pitchFamily="34" charset="-122"/>
                <a:cs typeface="Arial" pitchFamily="34" charset="-120"/>
              </a:rPr>
              <a:t>Upstage Solar (국산)</a:t>
            </a:r>
            <a:endParaRPr lang="en-US" sz="1350" dirty="0"/>
          </a:p>
        </p:txBody>
      </p:sp>
      <p:sp>
        <p:nvSpPr>
          <p:cNvPr id="38" name="Text 36"/>
          <p:cNvSpPr/>
          <p:nvPr/>
        </p:nvSpPr>
        <p:spPr>
          <a:xfrm>
            <a:off x="6131052" y="5276088"/>
            <a:ext cx="2263140" cy="274320"/>
          </a:xfrm>
          <a:prstGeom prst="rect">
            <a:avLst/>
          </a:prstGeom>
          <a:noFill/>
          <a:ln/>
        </p:spPr>
        <p:txBody>
          <a:bodyPr wrap="square" lIns="0" tIns="0" rIns="0" bIns="0" rtlCol="0" anchor="t"/>
          <a:lstStyle/>
          <a:p>
            <a:pPr indent="0" marL="0">
              <a:buNone/>
            </a:pPr>
            <a:r>
              <a:rPr lang="en-US" sz="1050" dirty="0">
                <a:solidFill>
                  <a:srgbClr val="4E5968"/>
                </a:solidFill>
                <a:latin typeface="Arial" pitchFamily="34" charset="0"/>
                <a:ea typeface="Arial" pitchFamily="34" charset="-122"/>
                <a:cs typeface="Arial" pitchFamily="34" charset="-120"/>
              </a:rPr>
              <a:t>평가위원 2명 · 다른 회사 모델로 교차</a:t>
            </a:r>
            <a:endParaRPr lang="en-US" sz="1050" dirty="0"/>
          </a:p>
        </p:txBody>
      </p:sp>
      <p:sp>
        <p:nvSpPr>
          <p:cNvPr id="39" name="Shape 37"/>
          <p:cNvSpPr/>
          <p:nvPr/>
        </p:nvSpPr>
        <p:spPr>
          <a:xfrm>
            <a:off x="8869680" y="2468880"/>
            <a:ext cx="2496312" cy="1143000"/>
          </a:xfrm>
          <a:prstGeom prst="roundRect">
            <a:avLst>
              <a:gd name="adj" fmla="val 6400"/>
            </a:avLst>
          </a:prstGeom>
          <a:solidFill>
            <a:srgbClr val="FFFFFF"/>
          </a:solidFill>
          <a:ln w="12700">
            <a:solidFill>
              <a:srgbClr val="3182F6"/>
            </a:solidFill>
            <a:prstDash val="solid"/>
          </a:ln>
        </p:spPr>
      </p:sp>
      <p:sp>
        <p:nvSpPr>
          <p:cNvPr id="40" name="Text 38"/>
          <p:cNvSpPr/>
          <p:nvPr/>
        </p:nvSpPr>
        <p:spPr>
          <a:xfrm>
            <a:off x="9034272" y="2596896"/>
            <a:ext cx="2221992" cy="292608"/>
          </a:xfrm>
          <a:prstGeom prst="rect">
            <a:avLst/>
          </a:prstGeom>
          <a:noFill/>
          <a:ln/>
        </p:spPr>
        <p:txBody>
          <a:bodyPr wrap="square" lIns="0" tIns="0" rIns="0" bIns="0" rtlCol="0" anchor="t"/>
          <a:lstStyle/>
          <a:p>
            <a:pPr indent="0" marL="0">
              <a:buNone/>
            </a:pPr>
            <a:r>
              <a:rPr lang="en-US" sz="1350" b="1" dirty="0">
                <a:solidFill>
                  <a:srgbClr val="1B64DA"/>
                </a:solidFill>
                <a:latin typeface="Arial" pitchFamily="34" charset="0"/>
                <a:ea typeface="Arial" pitchFamily="34" charset="-122"/>
                <a:cs typeface="Arial" pitchFamily="34" charset="-120"/>
              </a:rPr>
              <a:t>MCP 도구 서버</a:t>
            </a:r>
            <a:endParaRPr lang="en-US" sz="1350" dirty="0"/>
          </a:p>
        </p:txBody>
      </p:sp>
      <p:sp>
        <p:nvSpPr>
          <p:cNvPr id="41" name="Text 39"/>
          <p:cNvSpPr/>
          <p:nvPr/>
        </p:nvSpPr>
        <p:spPr>
          <a:xfrm>
            <a:off x="9034272" y="2898648"/>
            <a:ext cx="2221992" cy="685800"/>
          </a:xfrm>
          <a:prstGeom prst="rect">
            <a:avLst/>
          </a:prstGeom>
          <a:noFill/>
          <a:ln/>
        </p:spPr>
        <p:txBody>
          <a:bodyPr wrap="square" lIns="0" tIns="0" rIns="0" bIns="0" rtlCol="0" anchor="t"/>
          <a:lstStyle/>
          <a:p>
            <a:pPr indent="0" marL="0">
              <a:lnSpc>
                <a:spcPct val="110000"/>
              </a:lnSpc>
              <a:buNone/>
            </a:pPr>
            <a:r>
              <a:rPr lang="en-US" sz="1050" dirty="0">
                <a:solidFill>
                  <a:srgbClr val="4E5968"/>
                </a:solidFill>
                <a:latin typeface="Arial" pitchFamily="34" charset="0"/>
                <a:ea typeface="Arial" pitchFamily="34" charset="-122"/>
                <a:cs typeface="Arial" pitchFamily="34" charset="-120"/>
              </a:rPr>
              <a:t>AI 도구 연결 표준</a:t>
            </a:r>
            <a:endParaRPr lang="en-US" sz="1050" dirty="0"/>
          </a:p>
          <a:p>
            <a:pPr indent="0" marL="0">
              <a:lnSpc>
                <a:spcPct val="110000"/>
              </a:lnSpc>
              <a:buNone/>
            </a:pPr>
            <a:r>
              <a:rPr lang="en-US" sz="1050" dirty="0">
                <a:solidFill>
                  <a:srgbClr val="4E5968"/>
                </a:solidFill>
                <a:latin typeface="Arial" pitchFamily="34" charset="0"/>
                <a:ea typeface="Arial" pitchFamily="34" charset="-122"/>
                <a:cs typeface="Arial" pitchFamily="34" charset="-120"/>
              </a:rPr>
              <a:t>search_prior_art · check_quote</a:t>
            </a:r>
            <a:endParaRPr lang="en-US" sz="1050" dirty="0"/>
          </a:p>
          <a:p>
            <a:pPr indent="0" marL="0">
              <a:lnSpc>
                <a:spcPct val="110000"/>
              </a:lnSpc>
              <a:buNone/>
            </a:pPr>
            <a:r>
              <a:rPr lang="en-US" sz="1050" dirty="0">
                <a:solidFill>
                  <a:srgbClr val="4E5968"/>
                </a:solidFill>
                <a:latin typeface="Arial" pitchFamily="34" charset="0"/>
                <a:ea typeface="Arial" pitchFamily="34" charset="-122"/>
                <a:cs typeface="Arial" pitchFamily="34" charset="-120"/>
              </a:rPr>
              <a:t>다른 AI 비서도 같은 도구 호출</a:t>
            </a:r>
            <a:endParaRPr lang="en-US" sz="1050" dirty="0"/>
          </a:p>
        </p:txBody>
      </p:sp>
      <p:sp>
        <p:nvSpPr>
          <p:cNvPr id="42" name="Shape 40"/>
          <p:cNvSpPr/>
          <p:nvPr/>
        </p:nvSpPr>
        <p:spPr>
          <a:xfrm>
            <a:off x="8531352" y="3017520"/>
            <a:ext cx="310896" cy="0"/>
          </a:xfrm>
          <a:prstGeom prst="line">
            <a:avLst/>
          </a:prstGeom>
          <a:noFill/>
          <a:ln w="15875">
            <a:solidFill>
              <a:srgbClr val="3182F6"/>
            </a:solidFill>
            <a:prstDash val="solid"/>
            <a:tailEnd type="triangle"/>
          </a:ln>
        </p:spPr>
      </p:sp>
      <p:sp>
        <p:nvSpPr>
          <p:cNvPr id="43" name="Shape 41"/>
          <p:cNvSpPr/>
          <p:nvPr/>
        </p:nvSpPr>
        <p:spPr>
          <a:xfrm>
            <a:off x="8869680" y="3886200"/>
            <a:ext cx="2496312" cy="777240"/>
          </a:xfrm>
          <a:prstGeom prst="roundRect">
            <a:avLst>
              <a:gd name="adj" fmla="val 9412"/>
            </a:avLst>
          </a:prstGeom>
          <a:solidFill>
            <a:srgbClr val="FFFFFF"/>
          </a:solidFill>
          <a:ln w="12700">
            <a:solidFill>
              <a:srgbClr val="E5E8EB"/>
            </a:solidFill>
            <a:prstDash val="solid"/>
          </a:ln>
        </p:spPr>
      </p:sp>
      <p:sp>
        <p:nvSpPr>
          <p:cNvPr id="44" name="Text 42"/>
          <p:cNvSpPr/>
          <p:nvPr/>
        </p:nvSpPr>
        <p:spPr>
          <a:xfrm>
            <a:off x="9034272" y="3995928"/>
            <a:ext cx="2221992" cy="292608"/>
          </a:xfrm>
          <a:prstGeom prst="rect">
            <a:avLst/>
          </a:prstGeom>
          <a:noFill/>
          <a:ln/>
        </p:spPr>
        <p:txBody>
          <a:bodyPr wrap="square" lIns="0" tIns="0" rIns="0" bIns="0" rtlCol="0" anchor="t"/>
          <a:lstStyle/>
          <a:p>
            <a:pPr indent="0" marL="0">
              <a:buNone/>
            </a:pPr>
            <a:r>
              <a:rPr lang="en-US" sz="1350" b="1" dirty="0">
                <a:solidFill>
                  <a:srgbClr val="191F28"/>
                </a:solidFill>
                <a:latin typeface="Arial" pitchFamily="34" charset="0"/>
                <a:ea typeface="Arial" pitchFamily="34" charset="-122"/>
                <a:cs typeface="Arial" pitchFamily="34" charset="-120"/>
              </a:rPr>
              <a:t>OpenAlex</a:t>
            </a:r>
            <a:endParaRPr lang="en-US" sz="1350" dirty="0"/>
          </a:p>
        </p:txBody>
      </p:sp>
      <p:sp>
        <p:nvSpPr>
          <p:cNvPr id="45" name="Text 43"/>
          <p:cNvSpPr/>
          <p:nvPr/>
        </p:nvSpPr>
        <p:spPr>
          <a:xfrm>
            <a:off x="9034272" y="4315968"/>
            <a:ext cx="2221992" cy="274320"/>
          </a:xfrm>
          <a:prstGeom prst="rect">
            <a:avLst/>
          </a:prstGeom>
          <a:noFill/>
          <a:ln/>
        </p:spPr>
        <p:txBody>
          <a:bodyPr wrap="square" lIns="0" tIns="0" rIns="0" bIns="0" rtlCol="0" anchor="t"/>
          <a:lstStyle/>
          <a:p>
            <a:pPr indent="0" marL="0">
              <a:buNone/>
            </a:pPr>
            <a:r>
              <a:rPr lang="en-US" sz="1050" dirty="0">
                <a:solidFill>
                  <a:srgbClr val="8B95A1"/>
                </a:solidFill>
                <a:latin typeface="Arial" pitchFamily="34" charset="0"/>
                <a:ea typeface="Arial" pitchFamily="34" charset="-122"/>
                <a:cs typeface="Arial" pitchFamily="34" charset="-120"/>
              </a:rPr>
              <a:t>선행연구 → 혁신성 판정 참고</a:t>
            </a:r>
            <a:endParaRPr lang="en-US" sz="1050" dirty="0"/>
          </a:p>
        </p:txBody>
      </p:sp>
      <p:sp>
        <p:nvSpPr>
          <p:cNvPr id="46" name="Shape 44"/>
          <p:cNvSpPr/>
          <p:nvPr/>
        </p:nvSpPr>
        <p:spPr>
          <a:xfrm>
            <a:off x="10117836" y="3639312"/>
            <a:ext cx="0" cy="219456"/>
          </a:xfrm>
          <a:prstGeom prst="line">
            <a:avLst/>
          </a:prstGeom>
          <a:noFill/>
          <a:ln w="15875">
            <a:solidFill>
              <a:srgbClr val="8B95A1"/>
            </a:solidFill>
            <a:prstDash val="solid"/>
            <a:tailEnd type="triangle"/>
          </a:ln>
        </p:spPr>
      </p:sp>
      <p:sp>
        <p:nvSpPr>
          <p:cNvPr id="47" name="Shape 45"/>
          <p:cNvSpPr/>
          <p:nvPr/>
        </p:nvSpPr>
        <p:spPr>
          <a:xfrm>
            <a:off x="8869680" y="4846320"/>
            <a:ext cx="2496312" cy="777240"/>
          </a:xfrm>
          <a:prstGeom prst="roundRect">
            <a:avLst>
              <a:gd name="adj" fmla="val 9412"/>
            </a:avLst>
          </a:prstGeom>
          <a:solidFill>
            <a:srgbClr val="F4F6F8"/>
          </a:solidFill>
          <a:ln w="12700">
            <a:solidFill>
              <a:srgbClr val="F4F6F8"/>
            </a:solidFill>
            <a:prstDash val="solid"/>
          </a:ln>
        </p:spPr>
      </p:sp>
      <p:sp>
        <p:nvSpPr>
          <p:cNvPr id="48" name="Text 46"/>
          <p:cNvSpPr/>
          <p:nvPr/>
        </p:nvSpPr>
        <p:spPr>
          <a:xfrm>
            <a:off x="9034272" y="4956048"/>
            <a:ext cx="2221992" cy="292608"/>
          </a:xfrm>
          <a:prstGeom prst="rect">
            <a:avLst/>
          </a:prstGeom>
          <a:noFill/>
          <a:ln/>
        </p:spPr>
        <p:txBody>
          <a:bodyPr wrap="square" lIns="0" tIns="0" rIns="0" bIns="0" rtlCol="0" anchor="t"/>
          <a:lstStyle/>
          <a:p>
            <a:pPr indent="0" marL="0">
              <a:buNone/>
            </a:pPr>
            <a:r>
              <a:rPr lang="en-US" sz="1350" b="1" dirty="0">
                <a:solidFill>
                  <a:srgbClr val="191F28"/>
                </a:solidFill>
                <a:latin typeface="Arial" pitchFamily="34" charset="0"/>
                <a:ea typeface="Arial" pitchFamily="34" charset="-122"/>
                <a:cs typeface="Arial" pitchFamily="34" charset="-120"/>
              </a:rPr>
              <a:t>출력</a:t>
            </a:r>
            <a:endParaRPr lang="en-US" sz="1350" dirty="0"/>
          </a:p>
        </p:txBody>
      </p:sp>
      <p:sp>
        <p:nvSpPr>
          <p:cNvPr id="49" name="Text 47"/>
          <p:cNvSpPr/>
          <p:nvPr/>
        </p:nvSpPr>
        <p:spPr>
          <a:xfrm>
            <a:off x="9034272" y="5276088"/>
            <a:ext cx="2221992" cy="274320"/>
          </a:xfrm>
          <a:prstGeom prst="rect">
            <a:avLst/>
          </a:prstGeom>
          <a:noFill/>
          <a:ln/>
        </p:spPr>
        <p:txBody>
          <a:bodyPr wrap="square" lIns="0" tIns="0" rIns="0" bIns="0" rtlCol="0" anchor="t"/>
          <a:lstStyle/>
          <a:p>
            <a:pPr indent="0" marL="0">
              <a:buNone/>
            </a:pPr>
            <a:r>
              <a:rPr lang="en-US" sz="1050" dirty="0">
                <a:solidFill>
                  <a:srgbClr val="4E5968"/>
                </a:solidFill>
                <a:latin typeface="Arial" pitchFamily="34" charset="0"/>
                <a:ea typeface="Arial" pitchFamily="34" charset="-122"/>
                <a:cs typeface="Arial" pitchFamily="34" charset="-120"/>
              </a:rPr>
              <a:t>대조표 · 합의/논쟁 · 보완 위치</a:t>
            </a:r>
            <a:endParaRPr lang="en-US" sz="1050" dirty="0"/>
          </a:p>
        </p:txBody>
      </p:sp>
      <p:sp>
        <p:nvSpPr>
          <p:cNvPr id="50" name="Text 48"/>
          <p:cNvSpPr/>
          <p:nvPr/>
        </p:nvSpPr>
        <p:spPr>
          <a:xfrm>
            <a:off x="822960" y="5852160"/>
            <a:ext cx="10543032" cy="274320"/>
          </a:xfrm>
          <a:prstGeom prst="rect">
            <a:avLst/>
          </a:prstGeom>
          <a:noFill/>
          <a:ln/>
        </p:spPr>
        <p:txBody>
          <a:bodyPr wrap="square" lIns="0" tIns="0" rIns="0" bIns="0" rtlCol="0" anchor="t"/>
          <a:lstStyle/>
          <a:p>
            <a:pPr indent="0" marL="0">
              <a:buNone/>
            </a:pPr>
            <a:r>
              <a:rPr lang="en-US" sz="1200" dirty="0">
                <a:solidFill>
                  <a:srgbClr val="4E5968"/>
                </a:solidFill>
                <a:latin typeface="Arial" pitchFamily="34" charset="0"/>
                <a:ea typeface="Arial" pitchFamily="34" charset="-122"/>
                <a:cs typeface="Arial" pitchFamily="34" charset="-120"/>
              </a:rPr>
              <a:t>데이터: 공개 R&amp;D 공고 3건(국가과학기술연구회·우주항공청·산업통상부) + 쪽별 정답표 · 인용 검사·집계는 LLM을 모르는 순수 코드(테스트 22개)</a:t>
            </a:r>
            <a:endParaRPr lang="en-US" sz="1200" dirty="0"/>
          </a:p>
        </p:txBody>
      </p:sp>
      <p:sp>
        <p:nvSpPr>
          <p:cNvPr id="51" name="Text 49"/>
          <p:cNvSpPr/>
          <p:nvPr/>
        </p:nvSpPr>
        <p:spPr>
          <a:xfrm>
            <a:off x="822960" y="6172200"/>
            <a:ext cx="10543032" cy="274320"/>
          </a:xfrm>
          <a:prstGeom prst="rect">
            <a:avLst/>
          </a:prstGeom>
          <a:noFill/>
          <a:ln/>
        </p:spPr>
        <p:txBody>
          <a:bodyPr wrap="square" lIns="0" tIns="0" rIns="0" bIns="0" rtlCol="0" anchor="t"/>
          <a:lstStyle/>
          <a:p>
            <a:pPr indent="0" marL="0">
              <a:buNone/>
            </a:pPr>
            <a:r>
              <a:rPr lang="en-US" sz="1200" dirty="0">
                <a:solidFill>
                  <a:srgbClr val="4E5968"/>
                </a:solidFill>
                <a:latin typeface="Arial" pitchFamily="34" charset="0"/>
                <a:ea typeface="Arial" pitchFamily="34" charset="-122"/>
                <a:cs typeface="Arial" pitchFamily="34" charset="-120"/>
              </a:rPr>
              <a:t>보안: 초안은 서버에 저장하지 않지만 외부 모델 API로는 전송됩니다 — LLM은 포트로 분리돼 국산·기관 내부 모델로 교체할 수 있는 구조</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48640"/>
            <a:ext cx="7315200" cy="365760"/>
          </a:xfrm>
          <a:prstGeom prst="rect">
            <a:avLst/>
          </a:prstGeom>
          <a:noFill/>
          <a:ln/>
        </p:spPr>
        <p:txBody>
          <a:bodyPr wrap="square" lIns="0" tIns="0" rIns="0" bIns="0" rtlCol="0" anchor="t"/>
          <a:lstStyle/>
          <a:p>
            <a:pPr indent="0" marL="0">
              <a:buNone/>
            </a:pPr>
            <a:r>
              <a:rPr lang="en-US" sz="1400" b="1" dirty="0">
                <a:solidFill>
                  <a:srgbClr val="3182F6"/>
                </a:solidFill>
                <a:latin typeface="Arial" pitchFamily="34" charset="0"/>
                <a:ea typeface="Arial" pitchFamily="34" charset="-122"/>
                <a:cs typeface="Arial" pitchFamily="34" charset="-120"/>
              </a:rPr>
              <a:t>없는 인용은 통과하지 못하게</a:t>
            </a:r>
            <a:endParaRPr lang="en-US" sz="1400" dirty="0"/>
          </a:p>
        </p:txBody>
      </p:sp>
      <p:sp>
        <p:nvSpPr>
          <p:cNvPr id="3" name="Text 1"/>
          <p:cNvSpPr/>
          <p:nvPr/>
        </p:nvSpPr>
        <p:spPr>
          <a:xfrm>
            <a:off x="795528" y="960120"/>
            <a:ext cx="10543032" cy="1371600"/>
          </a:xfrm>
          <a:prstGeom prst="rect">
            <a:avLst/>
          </a:prstGeom>
          <a:noFill/>
          <a:ln/>
        </p:spPr>
        <p:txBody>
          <a:bodyPr wrap="square" lIns="0" tIns="0" rIns="0" bIns="0" rtlCol="0" anchor="t"/>
          <a:lstStyle/>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「충족」이라 말하려면,</a:t>
            </a:r>
            <a:endParaRPr lang="en-US" sz="3400" dirty="0"/>
          </a:p>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초안에서 </a:t>
            </a:r>
            <a:pPr indent="0" marL="0">
              <a:lnSpc>
                <a:spcPct val="112000"/>
              </a:lnSpc>
              <a:buNone/>
            </a:pPr>
            <a:r>
              <a:rPr lang="en-US" sz="3400" b="1" dirty="0">
                <a:solidFill>
                  <a:srgbClr val="3182F6"/>
                </a:solidFill>
                <a:latin typeface="Arial" pitchFamily="34" charset="0"/>
                <a:ea typeface="Arial" pitchFamily="34" charset="-122"/>
                <a:cs typeface="Arial" pitchFamily="34" charset="-120"/>
              </a:rPr>
              <a:t>글자 그대로</a:t>
            </a:r>
            <a:pPr indent="0" marL="0">
              <a:lnSpc>
                <a:spcPct val="112000"/>
              </a:lnSpc>
              <a:buNone/>
            </a:pPr>
            <a:r>
              <a:rPr lang="en-US" sz="3400" b="1" dirty="0">
                <a:solidFill>
                  <a:srgbClr val="191F28"/>
                </a:solidFill>
                <a:latin typeface="Arial" pitchFamily="34" charset="0"/>
                <a:ea typeface="Arial" pitchFamily="34" charset="-122"/>
                <a:cs typeface="Arial" pitchFamily="34" charset="-120"/>
              </a:rPr>
              <a:t> 인용해야 합니다</a:t>
            </a:r>
            <a:endParaRPr lang="en-US" sz="3400" dirty="0"/>
          </a:p>
        </p:txBody>
      </p:sp>
      <p:sp>
        <p:nvSpPr>
          <p:cNvPr id="4" name="Text 2"/>
          <p:cNvSpPr/>
          <p:nvPr/>
        </p:nvSpPr>
        <p:spPr>
          <a:xfrm>
            <a:off x="822960" y="2715768"/>
            <a:ext cx="548640" cy="365760"/>
          </a:xfrm>
          <a:prstGeom prst="rect">
            <a:avLst/>
          </a:prstGeom>
          <a:noFill/>
          <a:ln/>
        </p:spPr>
        <p:txBody>
          <a:bodyPr wrap="square" lIns="0" tIns="0" rIns="0" bIns="0" rtlCol="0" anchor="t"/>
          <a:lstStyle/>
          <a:p>
            <a:pPr indent="0" marL="0">
              <a:buNone/>
            </a:pPr>
            <a:r>
              <a:rPr lang="en-US" sz="1800" b="1" dirty="0">
                <a:solidFill>
                  <a:srgbClr val="3182F6"/>
                </a:solidFill>
                <a:latin typeface="Arial" pitchFamily="34" charset="0"/>
                <a:ea typeface="Arial" pitchFamily="34" charset="-122"/>
                <a:cs typeface="Arial" pitchFamily="34" charset="-120"/>
              </a:rPr>
              <a:t>01</a:t>
            </a:r>
            <a:endParaRPr lang="en-US" sz="1800" dirty="0"/>
          </a:p>
        </p:txBody>
      </p:sp>
      <p:sp>
        <p:nvSpPr>
          <p:cNvPr id="5" name="Text 3"/>
          <p:cNvSpPr/>
          <p:nvPr/>
        </p:nvSpPr>
        <p:spPr>
          <a:xfrm>
            <a:off x="1463040" y="2697480"/>
            <a:ext cx="5394960" cy="384048"/>
          </a:xfrm>
          <a:prstGeom prst="rect">
            <a:avLst/>
          </a:prstGeom>
          <a:noFill/>
          <a:ln/>
        </p:spPr>
        <p:txBody>
          <a:bodyPr wrap="square" lIns="0" tIns="0" rIns="0" bIns="0" rtlCol="0" anchor="t"/>
          <a:lstStyle/>
          <a:p>
            <a:pPr indent="0" marL="0">
              <a:buNone/>
            </a:pPr>
            <a:r>
              <a:rPr lang="en-US" sz="1700" b="1" dirty="0">
                <a:solidFill>
                  <a:srgbClr val="191F28"/>
                </a:solidFill>
                <a:latin typeface="Arial" pitchFamily="34" charset="0"/>
                <a:ea typeface="Arial" pitchFamily="34" charset="-122"/>
                <a:cs typeface="Arial" pitchFamily="34" charset="-120"/>
              </a:rPr>
              <a:t>판정마다 초안 원문 인용을 함께 제출</a:t>
            </a:r>
            <a:endParaRPr lang="en-US" sz="1700" dirty="0"/>
          </a:p>
        </p:txBody>
      </p:sp>
      <p:sp>
        <p:nvSpPr>
          <p:cNvPr id="6" name="Text 4"/>
          <p:cNvSpPr/>
          <p:nvPr/>
        </p:nvSpPr>
        <p:spPr>
          <a:xfrm>
            <a:off x="1463040" y="3108960"/>
            <a:ext cx="539496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칭찬(충족)에도 증거를 요구합니다</a:t>
            </a:r>
            <a:endParaRPr lang="en-US" sz="1250" dirty="0"/>
          </a:p>
        </p:txBody>
      </p:sp>
      <p:sp>
        <p:nvSpPr>
          <p:cNvPr id="7" name="Text 5"/>
          <p:cNvSpPr/>
          <p:nvPr/>
        </p:nvSpPr>
        <p:spPr>
          <a:xfrm>
            <a:off x="822960" y="3675888"/>
            <a:ext cx="548640" cy="365760"/>
          </a:xfrm>
          <a:prstGeom prst="rect">
            <a:avLst/>
          </a:prstGeom>
          <a:noFill/>
          <a:ln/>
        </p:spPr>
        <p:txBody>
          <a:bodyPr wrap="square" lIns="0" tIns="0" rIns="0" bIns="0" rtlCol="0" anchor="t"/>
          <a:lstStyle/>
          <a:p>
            <a:pPr indent="0" marL="0">
              <a:buNone/>
            </a:pPr>
            <a:r>
              <a:rPr lang="en-US" sz="1800" b="1" dirty="0">
                <a:solidFill>
                  <a:srgbClr val="3182F6"/>
                </a:solidFill>
                <a:latin typeface="Arial" pitchFamily="34" charset="0"/>
                <a:ea typeface="Arial" pitchFamily="34" charset="-122"/>
                <a:cs typeface="Arial" pitchFamily="34" charset="-120"/>
              </a:rPr>
              <a:t>02</a:t>
            </a:r>
            <a:endParaRPr lang="en-US" sz="1800" dirty="0"/>
          </a:p>
        </p:txBody>
      </p:sp>
      <p:sp>
        <p:nvSpPr>
          <p:cNvPr id="8" name="Text 6"/>
          <p:cNvSpPr/>
          <p:nvPr/>
        </p:nvSpPr>
        <p:spPr>
          <a:xfrm>
            <a:off x="1463040" y="3657600"/>
            <a:ext cx="5394960" cy="384048"/>
          </a:xfrm>
          <a:prstGeom prst="rect">
            <a:avLst/>
          </a:prstGeom>
          <a:noFill/>
          <a:ln/>
        </p:spPr>
        <p:txBody>
          <a:bodyPr wrap="square" lIns="0" tIns="0" rIns="0" bIns="0" rtlCol="0" anchor="t"/>
          <a:lstStyle/>
          <a:p>
            <a:pPr indent="0" marL="0">
              <a:buNone/>
            </a:pPr>
            <a:r>
              <a:rPr lang="en-US" sz="1700" b="1" dirty="0">
                <a:solidFill>
                  <a:srgbClr val="191F28"/>
                </a:solidFill>
                <a:latin typeface="Arial" pitchFamily="34" charset="0"/>
                <a:ea typeface="Arial" pitchFamily="34" charset="-122"/>
                <a:cs typeface="Arial" pitchFamily="34" charset="-120"/>
              </a:rPr>
              <a:t>코드가 원문과 글자 단위로 대조</a:t>
            </a:r>
            <a:endParaRPr lang="en-US" sz="1700" dirty="0"/>
          </a:p>
        </p:txBody>
      </p:sp>
      <p:sp>
        <p:nvSpPr>
          <p:cNvPr id="9" name="Text 7"/>
          <p:cNvSpPr/>
          <p:nvPr/>
        </p:nvSpPr>
        <p:spPr>
          <a:xfrm>
            <a:off x="1463040" y="4069080"/>
            <a:ext cx="539496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공백·문장부호만 빼고 연속 문자열 일치 — LLM이 아닌 규칙</a:t>
            </a:r>
            <a:endParaRPr lang="en-US" sz="1250" dirty="0"/>
          </a:p>
        </p:txBody>
      </p:sp>
      <p:sp>
        <p:nvSpPr>
          <p:cNvPr id="10" name="Text 8"/>
          <p:cNvSpPr/>
          <p:nvPr/>
        </p:nvSpPr>
        <p:spPr>
          <a:xfrm>
            <a:off x="822960" y="4636008"/>
            <a:ext cx="548640" cy="365760"/>
          </a:xfrm>
          <a:prstGeom prst="rect">
            <a:avLst/>
          </a:prstGeom>
          <a:noFill/>
          <a:ln/>
        </p:spPr>
        <p:txBody>
          <a:bodyPr wrap="square" lIns="0" tIns="0" rIns="0" bIns="0" rtlCol="0" anchor="t"/>
          <a:lstStyle/>
          <a:p>
            <a:pPr indent="0" marL="0">
              <a:buNone/>
            </a:pPr>
            <a:r>
              <a:rPr lang="en-US" sz="1800" b="1" dirty="0">
                <a:solidFill>
                  <a:srgbClr val="3182F6"/>
                </a:solidFill>
                <a:latin typeface="Arial" pitchFamily="34" charset="0"/>
                <a:ea typeface="Arial" pitchFamily="34" charset="-122"/>
                <a:cs typeface="Arial" pitchFamily="34" charset="-120"/>
              </a:rPr>
              <a:t>03</a:t>
            </a:r>
            <a:endParaRPr lang="en-US" sz="1800" dirty="0"/>
          </a:p>
        </p:txBody>
      </p:sp>
      <p:sp>
        <p:nvSpPr>
          <p:cNvPr id="11" name="Text 9"/>
          <p:cNvSpPr/>
          <p:nvPr/>
        </p:nvSpPr>
        <p:spPr>
          <a:xfrm>
            <a:off x="1463040" y="4617720"/>
            <a:ext cx="5394960" cy="384048"/>
          </a:xfrm>
          <a:prstGeom prst="rect">
            <a:avLst/>
          </a:prstGeom>
          <a:noFill/>
          <a:ln/>
        </p:spPr>
        <p:txBody>
          <a:bodyPr wrap="square" lIns="0" tIns="0" rIns="0" bIns="0" rtlCol="0" anchor="t"/>
          <a:lstStyle/>
          <a:p>
            <a:pPr indent="0" marL="0">
              <a:buNone/>
            </a:pPr>
            <a:r>
              <a:rPr lang="en-US" sz="1700" b="1" dirty="0">
                <a:solidFill>
                  <a:srgbClr val="191F28"/>
                </a:solidFill>
                <a:latin typeface="Arial" pitchFamily="34" charset="0"/>
                <a:ea typeface="Arial" pitchFamily="34" charset="-122"/>
                <a:cs typeface="Arial" pitchFamily="34" charset="-120"/>
              </a:rPr>
              <a:t>없으면 무효 → 그 평가위원에게 한 번 재질의</a:t>
            </a:r>
            <a:endParaRPr lang="en-US" sz="1700" dirty="0"/>
          </a:p>
        </p:txBody>
      </p:sp>
      <p:sp>
        <p:nvSpPr>
          <p:cNvPr id="12" name="Text 10"/>
          <p:cNvSpPr/>
          <p:nvPr/>
        </p:nvSpPr>
        <p:spPr>
          <a:xfrm>
            <a:off x="1463040" y="5029200"/>
            <a:ext cx="539496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그래도 없으면 「충족」을 점수에서 뺍니다(강등)</a:t>
            </a:r>
            <a:endParaRPr lang="en-US" sz="1250" dirty="0"/>
          </a:p>
        </p:txBody>
      </p:sp>
      <p:sp>
        <p:nvSpPr>
          <p:cNvPr id="13" name="Text 11"/>
          <p:cNvSpPr/>
          <p:nvPr/>
        </p:nvSpPr>
        <p:spPr>
          <a:xfrm>
            <a:off x="7635240" y="2651760"/>
            <a:ext cx="3730752" cy="868680"/>
          </a:xfrm>
          <a:prstGeom prst="rect">
            <a:avLst/>
          </a:prstGeom>
          <a:noFill/>
          <a:ln/>
        </p:spPr>
        <p:txBody>
          <a:bodyPr wrap="square" lIns="0" tIns="0" rIns="0" bIns="0" rtlCol="0" anchor="t"/>
          <a:lstStyle/>
          <a:p>
            <a:pPr indent="0" marL="0">
              <a:buNone/>
            </a:pPr>
            <a:r>
              <a:rPr lang="en-US" sz="4400" b="1" dirty="0">
                <a:solidFill>
                  <a:srgbClr val="191F28"/>
                </a:solidFill>
                <a:latin typeface="Arial" pitchFamily="34" charset="0"/>
                <a:ea typeface="Arial" pitchFamily="34" charset="-122"/>
                <a:cs typeface="Arial" pitchFamily="34" charset="-120"/>
              </a:rPr>
              <a:t>6건</a:t>
            </a:r>
            <a:endParaRPr lang="en-US" sz="4400" dirty="0"/>
          </a:p>
        </p:txBody>
      </p:sp>
      <p:sp>
        <p:nvSpPr>
          <p:cNvPr id="14" name="Text 12"/>
          <p:cNvSpPr/>
          <p:nvPr/>
        </p:nvSpPr>
        <p:spPr>
          <a:xfrm>
            <a:off x="7635240" y="3520440"/>
            <a:ext cx="3730752" cy="685800"/>
          </a:xfrm>
          <a:prstGeom prst="rect">
            <a:avLst/>
          </a:prstGeom>
          <a:noFill/>
          <a:ln/>
        </p:spPr>
        <p:txBody>
          <a:bodyPr wrap="square" lIns="0" tIns="0" rIns="0" bIns="0" rtlCol="0" anchor="t"/>
          <a:lstStyle/>
          <a:p>
            <a:pPr indent="0" marL="0">
              <a:lnSpc>
                <a:spcPct val="115000"/>
              </a:lnSpc>
              <a:buNone/>
            </a:pPr>
            <a:r>
              <a:rPr lang="en-US" sz="1250" dirty="0">
                <a:solidFill>
                  <a:srgbClr val="8B95A1"/>
                </a:solidFill>
                <a:latin typeface="Arial" pitchFamily="34" charset="0"/>
                <a:ea typeface="Arial" pitchFamily="34" charset="-122"/>
                <a:cs typeface="Arial" pitchFamily="34" charset="-120"/>
              </a:rPr>
              <a:t>판정 60개 중 인용이 원문에 없던 것</a:t>
            </a:r>
            <a:endParaRPr lang="en-US" sz="1250" dirty="0"/>
          </a:p>
        </p:txBody>
      </p:sp>
      <p:sp>
        <p:nvSpPr>
          <p:cNvPr id="15" name="Text 13"/>
          <p:cNvSpPr/>
          <p:nvPr/>
        </p:nvSpPr>
        <p:spPr>
          <a:xfrm>
            <a:off x="7635240" y="4069080"/>
            <a:ext cx="3730752" cy="868680"/>
          </a:xfrm>
          <a:prstGeom prst="rect">
            <a:avLst/>
          </a:prstGeom>
          <a:noFill/>
          <a:ln/>
        </p:spPr>
        <p:txBody>
          <a:bodyPr wrap="square" lIns="0" tIns="0" rIns="0" bIns="0" rtlCol="0" anchor="t"/>
          <a:lstStyle/>
          <a:p>
            <a:pPr indent="0" marL="0">
              <a:buNone/>
            </a:pPr>
            <a:r>
              <a:rPr lang="en-US" sz="4400" b="1" dirty="0">
                <a:solidFill>
                  <a:srgbClr val="3182F6"/>
                </a:solidFill>
                <a:latin typeface="Arial" pitchFamily="34" charset="0"/>
                <a:ea typeface="Arial" pitchFamily="34" charset="-122"/>
                <a:cs typeface="Arial" pitchFamily="34" charset="-120"/>
              </a:rPr>
              <a:t>6건</a:t>
            </a:r>
            <a:endParaRPr lang="en-US" sz="4400" dirty="0"/>
          </a:p>
        </p:txBody>
      </p:sp>
      <p:sp>
        <p:nvSpPr>
          <p:cNvPr id="16" name="Text 14"/>
          <p:cNvSpPr/>
          <p:nvPr/>
        </p:nvSpPr>
        <p:spPr>
          <a:xfrm>
            <a:off x="7635240" y="4937760"/>
            <a:ext cx="3730752" cy="685800"/>
          </a:xfrm>
          <a:prstGeom prst="rect">
            <a:avLst/>
          </a:prstGeom>
          <a:noFill/>
          <a:ln/>
        </p:spPr>
        <p:txBody>
          <a:bodyPr wrap="square" lIns="0" tIns="0" rIns="0" bIns="0" rtlCol="0" anchor="t"/>
          <a:lstStyle/>
          <a:p>
            <a:pPr indent="0" marL="0">
              <a:lnSpc>
                <a:spcPct val="115000"/>
              </a:lnSpc>
              <a:buNone/>
            </a:pPr>
            <a:r>
              <a:rPr lang="en-US" sz="1250" dirty="0">
                <a:solidFill>
                  <a:srgbClr val="8B95A1"/>
                </a:solidFill>
                <a:latin typeface="Arial" pitchFamily="34" charset="0"/>
                <a:ea typeface="Arial" pitchFamily="34" charset="-122"/>
                <a:cs typeface="Arial" pitchFamily="34" charset="-120"/>
              </a:rPr>
              <a:t>다시 물은 뒤 무효에서 벗어남(인용 통과 또는 「부족」으로 하향)</a:t>
            </a:r>
            <a:endParaRPr lang="en-US" sz="1250" dirty="0"/>
          </a:p>
        </p:txBody>
      </p:sp>
      <p:sp>
        <p:nvSpPr>
          <p:cNvPr id="17" name="Shape 15"/>
          <p:cNvSpPr/>
          <p:nvPr/>
        </p:nvSpPr>
        <p:spPr>
          <a:xfrm>
            <a:off x="822960" y="5577840"/>
            <a:ext cx="10543032" cy="0"/>
          </a:xfrm>
          <a:prstGeom prst="line">
            <a:avLst/>
          </a:prstGeom>
          <a:noFill/>
          <a:ln w="12700">
            <a:solidFill>
              <a:srgbClr val="E5E8EB"/>
            </a:solidFill>
            <a:prstDash val="solid"/>
          </a:ln>
        </p:spPr>
      </p:sp>
      <p:sp>
        <p:nvSpPr>
          <p:cNvPr id="18" name="Text 16"/>
          <p:cNvSpPr/>
          <p:nvPr/>
        </p:nvSpPr>
        <p:spPr>
          <a:xfrm>
            <a:off x="822960" y="5760720"/>
            <a:ext cx="10543032" cy="365760"/>
          </a:xfrm>
          <a:prstGeom prst="rect">
            <a:avLst/>
          </a:prstGeom>
          <a:noFill/>
          <a:ln/>
        </p:spPr>
        <p:txBody>
          <a:bodyPr wrap="square" lIns="0" tIns="0" rIns="0" bIns="0" rtlCol="0" anchor="t"/>
          <a:lstStyle/>
          <a:p>
            <a:pPr indent="0" marL="0">
              <a:buNone/>
            </a:pPr>
            <a:r>
              <a:rPr lang="en-US" sz="1500" b="1" dirty="0">
                <a:solidFill>
                  <a:srgbClr val="191F28"/>
                </a:solidFill>
                <a:latin typeface="Arial" pitchFamily="34" charset="0"/>
                <a:ea typeface="Arial" pitchFamily="34" charset="-122"/>
                <a:cs typeface="Arial" pitchFamily="34" charset="-120"/>
              </a:rPr>
              <a:t>한계: 인용이 판정을 뒷받침하는지는 사람이 봅니다 — 그래서 화면에 인용을 그대로 펼쳐 둡니다.</a:t>
            </a:r>
            <a:endParaRPr lang="en-US" sz="1500" dirty="0"/>
          </a:p>
        </p:txBody>
      </p:sp>
      <p:sp>
        <p:nvSpPr>
          <p:cNvPr id="19" name="Text 17"/>
          <p:cNvSpPr/>
          <p:nvPr/>
        </p:nvSpPr>
        <p:spPr>
          <a:xfrm>
            <a:off x="822960" y="6355080"/>
            <a:ext cx="10543032" cy="274320"/>
          </a:xfrm>
          <a:prstGeom prst="rect">
            <a:avLst/>
          </a:prstGeom>
          <a:noFill/>
          <a:ln/>
        </p:spPr>
        <p:txBody>
          <a:bodyPr wrap="square" lIns="0" tIns="0" rIns="0" bIns="0" rtlCol="0" anchor="t"/>
          <a:lstStyle/>
          <a:p>
            <a:pPr indent="0" marL="0">
              <a:buNone/>
            </a:pPr>
            <a:r>
              <a:rPr lang="en-US" sz="1000" dirty="0">
                <a:solidFill>
                  <a:srgbClr val="8B95A1"/>
                </a:solidFill>
                <a:latin typeface="Arial" pitchFamily="34" charset="0"/>
                <a:ea typeface="Arial" pitchFamily="34" charset="-122"/>
                <a:cs typeface="Arial" pitchFamily="34" charset="-120"/>
              </a:rPr>
              <a:t>숫자: 예선 기획서 실행 기록(data/runs/nais-hackathon-2026--original.json의 trace) · 이번 실행은 평가위원 4/5명 응답(1명 응답 실패 — 복구 중)</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48640"/>
            <a:ext cx="7315200" cy="365760"/>
          </a:xfrm>
          <a:prstGeom prst="rect">
            <a:avLst/>
          </a:prstGeom>
          <a:noFill/>
          <a:ln/>
        </p:spPr>
        <p:txBody>
          <a:bodyPr wrap="square" lIns="0" tIns="0" rIns="0" bIns="0" rtlCol="0" anchor="t"/>
          <a:lstStyle/>
          <a:p>
            <a:pPr indent="0" marL="0">
              <a:buNone/>
            </a:pPr>
            <a:r>
              <a:rPr lang="en-US" sz="1400" b="1" dirty="0">
                <a:solidFill>
                  <a:srgbClr val="3182F6"/>
                </a:solidFill>
                <a:latin typeface="Arial" pitchFamily="34" charset="0"/>
                <a:ea typeface="Arial" pitchFamily="34" charset="-122"/>
                <a:cs typeface="Arial" pitchFamily="34" charset="-120"/>
              </a:rPr>
              <a:t>측정</a:t>
            </a:r>
            <a:endParaRPr lang="en-US" sz="1400" dirty="0"/>
          </a:p>
        </p:txBody>
      </p:sp>
      <p:sp>
        <p:nvSpPr>
          <p:cNvPr id="3" name="Text 1"/>
          <p:cNvSpPr/>
          <p:nvPr/>
        </p:nvSpPr>
        <p:spPr>
          <a:xfrm>
            <a:off x="795528" y="960120"/>
            <a:ext cx="10543032" cy="1371600"/>
          </a:xfrm>
          <a:prstGeom prst="rect">
            <a:avLst/>
          </a:prstGeom>
          <a:noFill/>
          <a:ln/>
        </p:spPr>
        <p:txBody>
          <a:bodyPr wrap="square" lIns="0" tIns="0" rIns="0" bIns="0" rtlCol="0" anchor="t"/>
          <a:lstStyle/>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정답표를 먼저 만들고,</a:t>
            </a:r>
            <a:endParaRPr lang="en-US" sz="3400" dirty="0"/>
          </a:p>
          <a:p>
            <a:pPr indent="0" marL="0">
              <a:lnSpc>
                <a:spcPct val="112000"/>
              </a:lnSpc>
              <a:buNone/>
            </a:pPr>
            <a:r>
              <a:rPr lang="en-US" sz="3400" b="1" dirty="0">
                <a:solidFill>
                  <a:srgbClr val="3182F6"/>
                </a:solidFill>
                <a:latin typeface="Arial" pitchFamily="34" charset="0"/>
                <a:ea typeface="Arial" pitchFamily="34" charset="-122"/>
                <a:cs typeface="Arial" pitchFamily="34" charset="-120"/>
              </a:rPr>
              <a:t>숫자</a:t>
            </a:r>
            <a:pPr indent="0" marL="0">
              <a:lnSpc>
                <a:spcPct val="112000"/>
              </a:lnSpc>
              <a:buNone/>
            </a:pPr>
            <a:r>
              <a:rPr lang="en-US" sz="3400" b="1" dirty="0">
                <a:solidFill>
                  <a:srgbClr val="191F28"/>
                </a:solidFill>
                <a:latin typeface="Arial" pitchFamily="34" charset="0"/>
                <a:ea typeface="Arial" pitchFamily="34" charset="-122"/>
                <a:cs typeface="Arial" pitchFamily="34" charset="-120"/>
              </a:rPr>
              <a:t>로 쟀습니다</a:t>
            </a:r>
            <a:endParaRPr lang="en-US" sz="3400" dirty="0"/>
          </a:p>
        </p:txBody>
      </p:sp>
      <p:sp>
        <p:nvSpPr>
          <p:cNvPr id="4" name="Text 2"/>
          <p:cNvSpPr/>
          <p:nvPr/>
        </p:nvSpPr>
        <p:spPr>
          <a:xfrm>
            <a:off x="822960" y="2606040"/>
            <a:ext cx="6035040" cy="320040"/>
          </a:xfrm>
          <a:prstGeom prst="rect">
            <a:avLst/>
          </a:prstGeom>
          <a:noFill/>
          <a:ln/>
        </p:spPr>
        <p:txBody>
          <a:bodyPr wrap="square" lIns="0" tIns="0" rIns="0" bIns="0" rtlCol="0" anchor="t"/>
          <a:lstStyle/>
          <a:p>
            <a:pPr indent="0" marL="0">
              <a:buNone/>
            </a:pPr>
            <a:r>
              <a:rPr lang="en-US" sz="1300" b="1" dirty="0">
                <a:solidFill>
                  <a:srgbClr val="4E5968"/>
                </a:solidFill>
                <a:latin typeface="Arial" pitchFamily="34" charset="0"/>
                <a:ea typeface="Arial" pitchFamily="34" charset="-122"/>
                <a:cs typeface="Arial" pitchFamily="34" charset="-120"/>
              </a:rPr>
              <a:t>① 공고 파싱 — 정답표 요건을 놓치지 않은 비율(재현율, 목표 90%)</a:t>
            </a:r>
            <a:endParaRPr lang="en-US" sz="1300" dirty="0"/>
          </a:p>
        </p:txBody>
      </p:sp>
      <p:graphicFrame>
        <p:nvGraphicFramePr>
          <p:cNvPr id="5" name="Chart 0" descr=""/>
          <p:cNvGraphicFramePr/>
          <p:nvPr/>
        </p:nvGraphicFramePr>
        <p:xfrm>
          <a:off x="731520" y="2926080"/>
          <a:ext cx="5943600" cy="2240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822960" y="5257800"/>
            <a:ext cx="6035040" cy="548640"/>
          </a:xfrm>
          <a:prstGeom prst="rect">
            <a:avLst/>
          </a:prstGeom>
          <a:noFill/>
          <a:ln/>
        </p:spPr>
        <p:txBody>
          <a:bodyPr wrap="square" lIns="0" tIns="0" rIns="0" bIns="0" rtlCol="0" anchor="t"/>
          <a:lstStyle/>
          <a:p>
            <a:pPr indent="0" marL="0">
              <a:lnSpc>
                <a:spcPct val="115000"/>
              </a:lnSpc>
              <a:buNone/>
            </a:pPr>
            <a:r>
              <a:rPr lang="en-US" sz="1150" dirty="0">
                <a:solidFill>
                  <a:srgbClr val="8B95A1"/>
                </a:solidFill>
                <a:latin typeface="Arial" pitchFamily="34" charset="0"/>
                <a:ea typeface="Arial" pitchFamily="34" charset="-122"/>
                <a:cs typeface="Arial" pitchFamily="34" charset="-120"/>
              </a:rPr>
              <a:t>우주항공청 37/39 · 산업통상부 53/58 — 가장 약한 곳: NAIS 해커톤 14/26, 심사표 일치 0%(놓친 12건 중 5건이 기획서 작성 항목)</a:t>
            </a:r>
            <a:endParaRPr lang="en-US" sz="1150" dirty="0"/>
          </a:p>
        </p:txBody>
      </p:sp>
      <p:sp>
        <p:nvSpPr>
          <p:cNvPr id="7" name="Text 4"/>
          <p:cNvSpPr/>
          <p:nvPr/>
        </p:nvSpPr>
        <p:spPr>
          <a:xfrm>
            <a:off x="7406640" y="2606040"/>
            <a:ext cx="3959352" cy="320040"/>
          </a:xfrm>
          <a:prstGeom prst="rect">
            <a:avLst/>
          </a:prstGeom>
          <a:noFill/>
          <a:ln/>
        </p:spPr>
        <p:txBody>
          <a:bodyPr wrap="square" lIns="0" tIns="0" rIns="0" bIns="0" rtlCol="0" anchor="t"/>
          <a:lstStyle/>
          <a:p>
            <a:pPr indent="0" marL="0">
              <a:buNone/>
            </a:pPr>
            <a:r>
              <a:rPr lang="en-US" sz="1300" b="1" dirty="0">
                <a:solidFill>
                  <a:srgbClr val="4E5968"/>
                </a:solidFill>
                <a:latin typeface="Arial" pitchFamily="34" charset="0"/>
                <a:ea typeface="Arial" pitchFamily="34" charset="-122"/>
                <a:cs typeface="Arial" pitchFamily="34" charset="-120"/>
              </a:rPr>
              <a:t>② 일부러 지운 초안 시험 (예선 심사표)</a:t>
            </a:r>
            <a:endParaRPr lang="en-US" sz="1300" dirty="0"/>
          </a:p>
        </p:txBody>
      </p:sp>
      <p:sp>
        <p:nvSpPr>
          <p:cNvPr id="8" name="Text 5"/>
          <p:cNvSpPr/>
          <p:nvPr/>
        </p:nvSpPr>
        <p:spPr>
          <a:xfrm>
            <a:off x="7406640" y="2926080"/>
            <a:ext cx="3959352" cy="868680"/>
          </a:xfrm>
          <a:prstGeom prst="rect">
            <a:avLst/>
          </a:prstGeom>
          <a:noFill/>
          <a:ln/>
        </p:spPr>
        <p:txBody>
          <a:bodyPr wrap="square" lIns="0" tIns="0" rIns="0" bIns="0" rtlCol="0" anchor="t"/>
          <a:lstStyle/>
          <a:p>
            <a:pPr indent="0" marL="0">
              <a:buNone/>
            </a:pPr>
            <a:r>
              <a:rPr lang="en-US" sz="4400" b="1" dirty="0">
                <a:solidFill>
                  <a:srgbClr val="3182F6"/>
                </a:solidFill>
                <a:latin typeface="Arial" pitchFamily="34" charset="0"/>
                <a:ea typeface="Arial" pitchFamily="34" charset="-122"/>
                <a:cs typeface="Arial" pitchFamily="34" charset="-120"/>
              </a:rPr>
              <a:t>4/5</a:t>
            </a:r>
            <a:endParaRPr lang="en-US" sz="4400" dirty="0"/>
          </a:p>
        </p:txBody>
      </p:sp>
      <p:sp>
        <p:nvSpPr>
          <p:cNvPr id="9" name="Text 6"/>
          <p:cNvSpPr/>
          <p:nvPr/>
        </p:nvSpPr>
        <p:spPr>
          <a:xfrm>
            <a:off x="7406640" y="3794760"/>
            <a:ext cx="3959352" cy="685800"/>
          </a:xfrm>
          <a:prstGeom prst="rect">
            <a:avLst/>
          </a:prstGeom>
          <a:noFill/>
          <a:ln/>
        </p:spPr>
        <p:txBody>
          <a:bodyPr wrap="square" lIns="0" tIns="0" rIns="0" bIns="0" rtlCol="0" anchor="t"/>
          <a:lstStyle/>
          <a:p>
            <a:pPr indent="0" marL="0">
              <a:lnSpc>
                <a:spcPct val="115000"/>
              </a:lnSpc>
              <a:buNone/>
            </a:pPr>
            <a:r>
              <a:rPr lang="en-US" sz="1250" dirty="0">
                <a:solidFill>
                  <a:srgbClr val="8B95A1"/>
                </a:solidFill>
                <a:latin typeface="Arial" pitchFamily="34" charset="0"/>
                <a:ea typeface="Arial" pitchFamily="34" charset="-122"/>
                <a:cs typeface="Arial" pitchFamily="34" charset="-120"/>
              </a:rPr>
              <a:t>근거 블록을 하나씩 지운 초안 5개 중 짚은 수</a:t>
            </a:r>
            <a:endParaRPr lang="en-US" sz="1250" dirty="0"/>
          </a:p>
          <a:p>
            <a:pPr indent="0" marL="0">
              <a:lnSpc>
                <a:spcPct val="115000"/>
              </a:lnSpc>
              <a:buNone/>
            </a:pPr>
            <a:r>
              <a:rPr lang="en-US" sz="1250" dirty="0">
                <a:solidFill>
                  <a:srgbClr val="8B95A1"/>
                </a:solidFill>
                <a:latin typeface="Arial" pitchFamily="34" charset="0"/>
                <a:ea typeface="Arial" pitchFamily="34" charset="-122"/>
                <a:cs typeface="Arial" pitchFamily="34" charset="-120"/>
              </a:rPr>
              <a:t>짚은 곳의 정확도 75%</a:t>
            </a:r>
            <a:endParaRPr lang="en-US" sz="1250" dirty="0"/>
          </a:p>
        </p:txBody>
      </p:sp>
      <p:sp>
        <p:nvSpPr>
          <p:cNvPr id="10" name="Text 7"/>
          <p:cNvSpPr/>
          <p:nvPr/>
        </p:nvSpPr>
        <p:spPr>
          <a:xfrm>
            <a:off x="7406640" y="4434840"/>
            <a:ext cx="3959352" cy="685800"/>
          </a:xfrm>
          <a:prstGeom prst="rect">
            <a:avLst/>
          </a:prstGeom>
          <a:noFill/>
          <a:ln/>
        </p:spPr>
        <p:txBody>
          <a:bodyPr wrap="square" lIns="0" tIns="0" rIns="0" bIns="0" rtlCol="0" anchor="t"/>
          <a:lstStyle/>
          <a:p>
            <a:pPr indent="0" marL="0">
              <a:lnSpc>
                <a:spcPct val="115000"/>
              </a:lnSpc>
              <a:buNone/>
            </a:pPr>
            <a:r>
              <a:rPr lang="en-US" sz="1200" dirty="0">
                <a:solidFill>
                  <a:srgbClr val="4E5968"/>
                </a:solidFill>
                <a:latin typeface="Arial" pitchFamily="34" charset="0"/>
                <a:ea typeface="Arial" pitchFamily="34" charset="-122"/>
                <a:cs typeface="Arial" pitchFamily="34" charset="-120"/>
              </a:rPr>
              <a:t>첫 초안 세트는 1~2/5 — 결과를 본 뒤 블록을 다시 설계한 두 번째 세트입니다(사전 등록 아님). 지운 초안의 점수는 원본 97점보다 1~15점 낮았습니다.</a:t>
            </a:r>
            <a:endParaRPr lang="en-US" sz="1200" dirty="0"/>
          </a:p>
        </p:txBody>
      </p:sp>
      <p:sp>
        <p:nvSpPr>
          <p:cNvPr id="11" name="Text 8"/>
          <p:cNvSpPr/>
          <p:nvPr/>
        </p:nvSpPr>
        <p:spPr>
          <a:xfrm>
            <a:off x="7406640" y="5303520"/>
            <a:ext cx="3959352" cy="502920"/>
          </a:xfrm>
          <a:prstGeom prst="rect">
            <a:avLst/>
          </a:prstGeom>
          <a:noFill/>
          <a:ln/>
        </p:spPr>
        <p:txBody>
          <a:bodyPr wrap="square" lIns="0" tIns="0" rIns="0" bIns="0" rtlCol="0" anchor="t"/>
          <a:lstStyle/>
          <a:p>
            <a:pPr indent="0" marL="0">
              <a:lnSpc>
                <a:spcPct val="115000"/>
              </a:lnSpc>
              <a:buNone/>
            </a:pPr>
            <a:r>
              <a:rPr lang="en-US" sz="1200" b="1" dirty="0">
                <a:solidFill>
                  <a:srgbClr val="191F28"/>
                </a:solidFill>
                <a:latin typeface="Arial" pitchFamily="34" charset="0"/>
                <a:ea typeface="Arial" pitchFamily="34" charset="-122"/>
                <a:cs typeface="Arial" pitchFamily="34" charset="-120"/>
              </a:rPr>
              <a:t>③ 1건 채점 44초 — 평가위원 4명 응답 · 선행연구 탐색 포함(공고 파싱 제외)</a:t>
            </a:r>
            <a:endParaRPr lang="en-US" sz="1200" dirty="0"/>
          </a:p>
        </p:txBody>
      </p:sp>
      <p:sp>
        <p:nvSpPr>
          <p:cNvPr id="12" name="Text 9"/>
          <p:cNvSpPr/>
          <p:nvPr/>
        </p:nvSpPr>
        <p:spPr>
          <a:xfrm>
            <a:off x="822960" y="6355080"/>
            <a:ext cx="10543032" cy="274320"/>
          </a:xfrm>
          <a:prstGeom prst="rect">
            <a:avLst/>
          </a:prstGeom>
          <a:noFill/>
          <a:ln/>
        </p:spPr>
        <p:txBody>
          <a:bodyPr wrap="square" lIns="0" tIns="0" rIns="0" bIns="0" rtlCol="0" anchor="t"/>
          <a:lstStyle/>
          <a:p>
            <a:pPr indent="0" marL="0">
              <a:buNone/>
            </a:pPr>
            <a:r>
              <a:rPr lang="en-US" sz="1000" dirty="0">
                <a:solidFill>
                  <a:srgbClr val="8B95A1"/>
                </a:solidFill>
                <a:latin typeface="Arial" pitchFamily="34" charset="0"/>
                <a:ea typeface="Arial" pitchFamily="34" charset="-122"/>
                <a:cs typeface="Arial" pitchFamily="34" charset="-120"/>
              </a:rPr>
              <a:t>정답표: 다른 모델(Claude)이 쪽마다 판독 · 측정 파싱 모델 gemini-3-flash-preview, gemini-3.1-flash-lite · 시연은 저장된 파싱 결과(재현율 미측정) · 평가위원 모델 gemini-3.5-flash, solar-pro3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48640"/>
            <a:ext cx="7315200" cy="365760"/>
          </a:xfrm>
          <a:prstGeom prst="rect">
            <a:avLst/>
          </a:prstGeom>
          <a:noFill/>
          <a:ln/>
        </p:spPr>
        <p:txBody>
          <a:bodyPr wrap="square" lIns="0" tIns="0" rIns="0" bIns="0" rtlCol="0" anchor="t"/>
          <a:lstStyle/>
          <a:p>
            <a:pPr indent="0" marL="0">
              <a:buNone/>
            </a:pPr>
            <a:r>
              <a:rPr lang="en-US" sz="1400" b="1" dirty="0">
                <a:solidFill>
                  <a:srgbClr val="3182F6"/>
                </a:solidFill>
                <a:latin typeface="Arial" pitchFamily="34" charset="0"/>
                <a:ea typeface="Arial" pitchFamily="34" charset="-122"/>
                <a:cs typeface="Arial" pitchFamily="34" charset="-120"/>
              </a:rPr>
              <a:t>우리 자신에게 먼저</a:t>
            </a:r>
            <a:endParaRPr lang="en-US" sz="1400" dirty="0"/>
          </a:p>
        </p:txBody>
      </p:sp>
      <p:sp>
        <p:nvSpPr>
          <p:cNvPr id="3" name="Text 1"/>
          <p:cNvSpPr/>
          <p:nvPr/>
        </p:nvSpPr>
        <p:spPr>
          <a:xfrm>
            <a:off x="795528" y="960120"/>
            <a:ext cx="10543032" cy="1371600"/>
          </a:xfrm>
          <a:prstGeom prst="rect">
            <a:avLst/>
          </a:prstGeom>
          <a:noFill/>
          <a:ln/>
        </p:spPr>
        <p:txBody>
          <a:bodyPr wrap="square" lIns="0" tIns="0" rIns="0" bIns="0" rtlCol="0" anchor="t"/>
          <a:lstStyle/>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이 대회 심사표로,</a:t>
            </a:r>
            <a:endParaRPr lang="en-US" sz="3400" dirty="0"/>
          </a:p>
          <a:p>
            <a:pPr indent="0" marL="0">
              <a:lnSpc>
                <a:spcPct val="112000"/>
              </a:lnSpc>
              <a:buNone/>
            </a:pPr>
            <a:r>
              <a:rPr lang="en-US" sz="3400" b="1" dirty="0">
                <a:solidFill>
                  <a:srgbClr val="3182F6"/>
                </a:solidFill>
                <a:latin typeface="Arial" pitchFamily="34" charset="0"/>
                <a:ea typeface="Arial" pitchFamily="34" charset="-122"/>
                <a:cs typeface="Arial" pitchFamily="34" charset="-120"/>
              </a:rPr>
              <a:t>우리</a:t>
            </a:r>
            <a:pPr indent="0" marL="0">
              <a:lnSpc>
                <a:spcPct val="112000"/>
              </a:lnSpc>
              <a:buNone/>
            </a:pPr>
            <a:r>
              <a:rPr lang="en-US" sz="3400" b="1" dirty="0">
                <a:solidFill>
                  <a:srgbClr val="191F28"/>
                </a:solidFill>
                <a:latin typeface="Arial" pitchFamily="34" charset="0"/>
                <a:ea typeface="Arial" pitchFamily="34" charset="-122"/>
                <a:cs typeface="Arial" pitchFamily="34" charset="-120"/>
              </a:rPr>
              <a:t>를 먼저 채점했습니다</a:t>
            </a:r>
            <a:endParaRPr lang="en-US" sz="3400" dirty="0"/>
          </a:p>
        </p:txBody>
      </p:sp>
      <p:sp>
        <p:nvSpPr>
          <p:cNvPr id="4" name="Text 2"/>
          <p:cNvSpPr/>
          <p:nvPr/>
        </p:nvSpPr>
        <p:spPr>
          <a:xfrm>
            <a:off x="822960" y="2651760"/>
            <a:ext cx="2926080" cy="868680"/>
          </a:xfrm>
          <a:prstGeom prst="rect">
            <a:avLst/>
          </a:prstGeom>
          <a:noFill/>
          <a:ln/>
        </p:spPr>
        <p:txBody>
          <a:bodyPr wrap="square" lIns="0" tIns="0" rIns="0" bIns="0" rtlCol="0" anchor="t"/>
          <a:lstStyle/>
          <a:p>
            <a:pPr indent="0" marL="0">
              <a:buNone/>
            </a:pPr>
            <a:r>
              <a:rPr lang="en-US" sz="5000" b="1" dirty="0">
                <a:solidFill>
                  <a:srgbClr val="191F28"/>
                </a:solidFill>
                <a:latin typeface="Arial" pitchFamily="34" charset="0"/>
                <a:ea typeface="Arial" pitchFamily="34" charset="-122"/>
                <a:cs typeface="Arial" pitchFamily="34" charset="-120"/>
              </a:rPr>
              <a:t>94.2점</a:t>
            </a:r>
            <a:endParaRPr lang="en-US" sz="5000" dirty="0"/>
          </a:p>
        </p:txBody>
      </p:sp>
      <p:sp>
        <p:nvSpPr>
          <p:cNvPr id="5" name="Text 3"/>
          <p:cNvSpPr/>
          <p:nvPr/>
        </p:nvSpPr>
        <p:spPr>
          <a:xfrm>
            <a:off x="822960" y="3566160"/>
            <a:ext cx="2926080" cy="685800"/>
          </a:xfrm>
          <a:prstGeom prst="rect">
            <a:avLst/>
          </a:prstGeom>
          <a:noFill/>
          <a:ln/>
        </p:spPr>
        <p:txBody>
          <a:bodyPr wrap="square" lIns="0" tIns="0" rIns="0" bIns="0" rtlCol="0" anchor="t"/>
          <a:lstStyle/>
          <a:p>
            <a:pPr indent="0" marL="0">
              <a:lnSpc>
                <a:spcPct val="115000"/>
              </a:lnSpc>
              <a:buNone/>
            </a:pPr>
            <a:r>
              <a:rPr lang="en-US" sz="1300" dirty="0">
                <a:solidFill>
                  <a:srgbClr val="8B95A1"/>
                </a:solidFill>
                <a:latin typeface="Arial" pitchFamily="34" charset="0"/>
                <a:ea typeface="Arial" pitchFamily="34" charset="-122"/>
                <a:cs typeface="Arial" pitchFamily="34" charset="-120"/>
              </a:rPr>
              <a:t>예선 기획서 — 본선 심사표 기준</a:t>
            </a:r>
            <a:endParaRPr lang="en-US" sz="1300" dirty="0"/>
          </a:p>
        </p:txBody>
      </p:sp>
      <p:sp>
        <p:nvSpPr>
          <p:cNvPr id="6" name="Text 4"/>
          <p:cNvSpPr/>
          <p:nvPr/>
        </p:nvSpPr>
        <p:spPr>
          <a:xfrm>
            <a:off x="3749040" y="2743200"/>
            <a:ext cx="548640" cy="731520"/>
          </a:xfrm>
          <a:prstGeom prst="rect">
            <a:avLst/>
          </a:prstGeom>
          <a:noFill/>
          <a:ln/>
        </p:spPr>
        <p:txBody>
          <a:bodyPr wrap="square" lIns="0" tIns="0" rIns="0" bIns="0" rtlCol="0" anchor="t"/>
          <a:lstStyle/>
          <a:p>
            <a:pPr indent="0" marL="0">
              <a:buNone/>
            </a:pPr>
            <a:r>
              <a:rPr lang="en-US" sz="3600" dirty="0">
                <a:solidFill>
                  <a:srgbClr val="8B95A1"/>
                </a:solidFill>
                <a:latin typeface="Arial" pitchFamily="34" charset="0"/>
                <a:ea typeface="Arial" pitchFamily="34" charset="-122"/>
                <a:cs typeface="Arial" pitchFamily="34" charset="-120"/>
              </a:rPr>
              <a:t>→</a:t>
            </a:r>
            <a:endParaRPr lang="en-US" sz="3600" dirty="0"/>
          </a:p>
        </p:txBody>
      </p:sp>
      <p:sp>
        <p:nvSpPr>
          <p:cNvPr id="7" name="Text 5"/>
          <p:cNvSpPr/>
          <p:nvPr/>
        </p:nvSpPr>
        <p:spPr>
          <a:xfrm>
            <a:off x="4434840" y="2651760"/>
            <a:ext cx="2743200" cy="868680"/>
          </a:xfrm>
          <a:prstGeom prst="rect">
            <a:avLst/>
          </a:prstGeom>
          <a:noFill/>
          <a:ln/>
        </p:spPr>
        <p:txBody>
          <a:bodyPr wrap="square" lIns="0" tIns="0" rIns="0" bIns="0" rtlCol="0" anchor="t"/>
          <a:lstStyle/>
          <a:p>
            <a:pPr indent="0" marL="0">
              <a:buNone/>
            </a:pPr>
            <a:r>
              <a:rPr lang="en-US" sz="5000" b="1" dirty="0">
                <a:solidFill>
                  <a:srgbClr val="3182F6"/>
                </a:solidFill>
                <a:latin typeface="Arial" pitchFamily="34" charset="0"/>
                <a:ea typeface="Arial" pitchFamily="34" charset="-122"/>
                <a:cs typeface="Arial" pitchFamily="34" charset="-120"/>
              </a:rPr>
              <a:t>99.0점</a:t>
            </a:r>
            <a:endParaRPr lang="en-US" sz="5000" dirty="0"/>
          </a:p>
        </p:txBody>
      </p:sp>
      <p:sp>
        <p:nvSpPr>
          <p:cNvPr id="8" name="Text 6"/>
          <p:cNvSpPr/>
          <p:nvPr/>
        </p:nvSpPr>
        <p:spPr>
          <a:xfrm>
            <a:off x="4434840" y="3566160"/>
            <a:ext cx="2743200" cy="685800"/>
          </a:xfrm>
          <a:prstGeom prst="rect">
            <a:avLst/>
          </a:prstGeom>
          <a:noFill/>
          <a:ln/>
        </p:spPr>
        <p:txBody>
          <a:bodyPr wrap="square" lIns="0" tIns="0" rIns="0" bIns="0" rtlCol="0" anchor="t"/>
          <a:lstStyle/>
          <a:p>
            <a:pPr indent="0" marL="0">
              <a:lnSpc>
                <a:spcPct val="115000"/>
              </a:lnSpc>
              <a:buNone/>
            </a:pPr>
            <a:r>
              <a:rPr lang="en-US" sz="1300" dirty="0">
                <a:solidFill>
                  <a:srgbClr val="8B95A1"/>
                </a:solidFill>
                <a:latin typeface="Arial" pitchFamily="34" charset="0"/>
                <a:ea typeface="Arial" pitchFamily="34" charset="-122"/>
                <a:cs typeface="Arial" pitchFamily="34" charset="-120"/>
              </a:rPr>
              <a:t>보완 후</a:t>
            </a:r>
            <a:endParaRPr lang="en-US" sz="1300" dirty="0"/>
          </a:p>
        </p:txBody>
      </p:sp>
      <p:sp>
        <p:nvSpPr>
          <p:cNvPr id="9" name="Shape 7"/>
          <p:cNvSpPr/>
          <p:nvPr/>
        </p:nvSpPr>
        <p:spPr>
          <a:xfrm>
            <a:off x="822960" y="4160520"/>
            <a:ext cx="6309360" cy="1234440"/>
          </a:xfrm>
          <a:prstGeom prst="roundRect">
            <a:avLst>
              <a:gd name="adj" fmla="val 5926"/>
            </a:avLst>
          </a:prstGeom>
          <a:solidFill>
            <a:srgbClr val="F4F6F8"/>
          </a:solidFill>
          <a:ln w="12700">
            <a:solidFill>
              <a:srgbClr val="F4F6F8"/>
            </a:solidFill>
            <a:prstDash val="solid"/>
          </a:ln>
        </p:spPr>
      </p:sp>
      <p:sp>
        <p:nvSpPr>
          <p:cNvPr id="10" name="Text 8"/>
          <p:cNvSpPr/>
          <p:nvPr/>
        </p:nvSpPr>
        <p:spPr>
          <a:xfrm>
            <a:off x="1051560" y="4325112"/>
            <a:ext cx="5852160" cy="274320"/>
          </a:xfrm>
          <a:prstGeom prst="rect">
            <a:avLst/>
          </a:prstGeom>
          <a:noFill/>
          <a:ln/>
        </p:spPr>
        <p:txBody>
          <a:bodyPr wrap="square" lIns="0" tIns="0" rIns="0" bIns="0" rtlCol="0" anchor="t"/>
          <a:lstStyle/>
          <a:p>
            <a:pPr indent="0" marL="0">
              <a:buNone/>
            </a:pPr>
            <a:r>
              <a:rPr lang="en-US" sz="1200" b="1" dirty="0">
                <a:solidFill>
                  <a:srgbClr val="3182F6"/>
                </a:solidFill>
                <a:latin typeface="Arial" pitchFamily="34" charset="0"/>
                <a:ea typeface="Arial" pitchFamily="34" charset="-122"/>
                <a:cs typeface="Arial" pitchFamily="34" charset="-120"/>
              </a:rPr>
              <a:t>도구가 짚은 곳 — 합의 결핍 0 · 논쟁 지점 2 → 보완 후 0 · 1</a:t>
            </a:r>
            <a:endParaRPr lang="en-US" sz="1200" dirty="0"/>
          </a:p>
        </p:txBody>
      </p:sp>
      <p:sp>
        <p:nvSpPr>
          <p:cNvPr id="11" name="Text 9"/>
          <p:cNvSpPr/>
          <p:nvPr/>
        </p:nvSpPr>
        <p:spPr>
          <a:xfrm>
            <a:off x="1051560" y="4617720"/>
            <a:ext cx="5897880" cy="731520"/>
          </a:xfrm>
          <a:prstGeom prst="rect">
            <a:avLst/>
          </a:prstGeom>
          <a:noFill/>
          <a:ln/>
        </p:spPr>
        <p:txBody>
          <a:bodyPr wrap="square" lIns="0" tIns="0" rIns="0" bIns="0" rtlCol="0" anchor="t"/>
          <a:lstStyle/>
          <a:p>
            <a:pPr indent="0" marL="0">
              <a:lnSpc>
                <a:spcPct val="115000"/>
              </a:lnSpc>
              <a:buNone/>
            </a:pPr>
            <a:r>
              <a:rPr lang="en-US" sz="1150" dirty="0">
                <a:solidFill>
                  <a:srgbClr val="191F28"/>
                </a:solidFill>
                <a:latin typeface="Arial" pitchFamily="34" charset="0"/>
                <a:ea typeface="Arial" pitchFamily="34" charset="-122"/>
                <a:cs typeface="Arial" pitchFamily="34" charset="-120"/>
              </a:rPr>
              <a:t>“AI 모델의 신뢰성 확보를 위해 데이터 편향성이나 윤리적 이슈에 대한 대응 방안을 포함하는가”</a:t>
            </a:r>
            <a:endParaRPr lang="en-US" sz="1150" dirty="0"/>
          </a:p>
          <a:p>
            <a:pPr indent="0" marL="0">
              <a:lnSpc>
                <a:spcPct val="115000"/>
              </a:lnSpc>
              <a:buNone/>
            </a:pPr>
            <a:r>
              <a:rPr lang="en-US" sz="1150" dirty="0">
                <a:solidFill>
                  <a:srgbClr val="191F28"/>
                </a:solidFill>
                <a:latin typeface="Arial" pitchFamily="34" charset="0"/>
                <a:ea typeface="Arial" pitchFamily="34" charset="-122"/>
                <a:cs typeface="Arial" pitchFamily="34" charset="-120"/>
              </a:rPr>
              <a:t>“연구 종료 후 기대효과를 정량적 또는 정성적 지표로 예측하여 제시하는가”</a:t>
            </a:r>
            <a:endParaRPr lang="en-US" sz="1150" dirty="0"/>
          </a:p>
        </p:txBody>
      </p:sp>
      <p:sp>
        <p:nvSpPr>
          <p:cNvPr id="12" name="Text 10"/>
          <p:cNvSpPr/>
          <p:nvPr/>
        </p:nvSpPr>
        <p:spPr>
          <a:xfrm>
            <a:off x="7635240" y="2697480"/>
            <a:ext cx="2011680" cy="274320"/>
          </a:xfrm>
          <a:prstGeom prst="rect">
            <a:avLst/>
          </a:prstGeom>
          <a:noFill/>
          <a:ln/>
        </p:spPr>
        <p:txBody>
          <a:bodyPr wrap="square" lIns="0" tIns="0" rIns="0" bIns="0" rtlCol="0" anchor="t"/>
          <a:lstStyle/>
          <a:p>
            <a:pPr indent="0" marL="0">
              <a:buNone/>
            </a:pPr>
            <a:r>
              <a:rPr lang="en-US" sz="1150" dirty="0">
                <a:solidFill>
                  <a:srgbClr val="8B95A1"/>
                </a:solidFill>
                <a:latin typeface="Arial" pitchFamily="34" charset="0"/>
                <a:ea typeface="Arial" pitchFamily="34" charset="-122"/>
                <a:cs typeface="Arial" pitchFamily="34" charset="-120"/>
              </a:rPr>
              <a:t>지표(배점)</a:t>
            </a:r>
            <a:endParaRPr lang="en-US" sz="1150" dirty="0"/>
          </a:p>
        </p:txBody>
      </p:sp>
      <p:sp>
        <p:nvSpPr>
          <p:cNvPr id="13" name="Text 11"/>
          <p:cNvSpPr/>
          <p:nvPr/>
        </p:nvSpPr>
        <p:spPr>
          <a:xfrm>
            <a:off x="9738360" y="2697480"/>
            <a:ext cx="731520" cy="274320"/>
          </a:xfrm>
          <a:prstGeom prst="rect">
            <a:avLst/>
          </a:prstGeom>
          <a:noFill/>
          <a:ln/>
        </p:spPr>
        <p:txBody>
          <a:bodyPr wrap="square" lIns="0" tIns="0" rIns="0" bIns="0" rtlCol="0" anchor="t"/>
          <a:lstStyle/>
          <a:p>
            <a:pPr algn="r" indent="0" marL="0">
              <a:buNone/>
            </a:pPr>
            <a:r>
              <a:rPr lang="en-US" sz="1150" dirty="0">
                <a:solidFill>
                  <a:srgbClr val="8B95A1"/>
                </a:solidFill>
                <a:latin typeface="Arial" pitchFamily="34" charset="0"/>
                <a:ea typeface="Arial" pitchFamily="34" charset="-122"/>
                <a:cs typeface="Arial" pitchFamily="34" charset="-120"/>
              </a:rPr>
              <a:t>전</a:t>
            </a:r>
            <a:endParaRPr lang="en-US" sz="1150" dirty="0"/>
          </a:p>
        </p:txBody>
      </p:sp>
      <p:sp>
        <p:nvSpPr>
          <p:cNvPr id="14" name="Text 12"/>
          <p:cNvSpPr/>
          <p:nvPr/>
        </p:nvSpPr>
        <p:spPr>
          <a:xfrm>
            <a:off x="10561320" y="2697480"/>
            <a:ext cx="777240" cy="274320"/>
          </a:xfrm>
          <a:prstGeom prst="rect">
            <a:avLst/>
          </a:prstGeom>
          <a:noFill/>
          <a:ln/>
        </p:spPr>
        <p:txBody>
          <a:bodyPr wrap="square" lIns="0" tIns="0" rIns="0" bIns="0" rtlCol="0" anchor="t"/>
          <a:lstStyle/>
          <a:p>
            <a:pPr algn="r" indent="0" marL="0">
              <a:buNone/>
            </a:pPr>
            <a:r>
              <a:rPr lang="en-US" sz="1150" dirty="0">
                <a:solidFill>
                  <a:srgbClr val="8B95A1"/>
                </a:solidFill>
                <a:latin typeface="Arial" pitchFamily="34" charset="0"/>
                <a:ea typeface="Arial" pitchFamily="34" charset="-122"/>
                <a:cs typeface="Arial" pitchFamily="34" charset="-120"/>
              </a:rPr>
              <a:t>후</a:t>
            </a:r>
            <a:endParaRPr lang="en-US" sz="1150" dirty="0"/>
          </a:p>
        </p:txBody>
      </p:sp>
      <p:sp>
        <p:nvSpPr>
          <p:cNvPr id="15" name="Shape 13"/>
          <p:cNvSpPr/>
          <p:nvPr/>
        </p:nvSpPr>
        <p:spPr>
          <a:xfrm>
            <a:off x="7635240" y="3008376"/>
            <a:ext cx="3703320" cy="0"/>
          </a:xfrm>
          <a:prstGeom prst="line">
            <a:avLst/>
          </a:prstGeom>
          <a:noFill/>
          <a:ln w="12700">
            <a:solidFill>
              <a:srgbClr val="E5E8EB"/>
            </a:solidFill>
            <a:prstDash val="solid"/>
          </a:ln>
        </p:spPr>
      </p:sp>
      <p:sp>
        <p:nvSpPr>
          <p:cNvPr id="16" name="Text 14"/>
          <p:cNvSpPr/>
          <p:nvPr/>
        </p:nvSpPr>
        <p:spPr>
          <a:xfrm>
            <a:off x="7635240" y="3099816"/>
            <a:ext cx="2103120" cy="320040"/>
          </a:xfrm>
          <a:prstGeom prst="rect">
            <a:avLst/>
          </a:prstGeom>
          <a:noFill/>
          <a:ln/>
        </p:spPr>
        <p:txBody>
          <a:bodyPr wrap="square" lIns="0" tIns="0" rIns="0" bIns="0" rtlCol="0" anchor="t"/>
          <a:lstStyle/>
          <a:p>
            <a:pPr indent="0" marL="0">
              <a:buNone/>
            </a:pPr>
            <a:r>
              <a:rPr lang="en-US" sz="1350" b="1" dirty="0">
                <a:solidFill>
                  <a:srgbClr val="191F28"/>
                </a:solidFill>
                <a:latin typeface="Arial" pitchFamily="34" charset="0"/>
                <a:ea typeface="Arial" pitchFamily="34" charset="-122"/>
                <a:cs typeface="Arial" pitchFamily="34" charset="-120"/>
              </a:rPr>
              <a:t>적합성 (10)</a:t>
            </a:r>
            <a:endParaRPr lang="en-US" sz="1350" dirty="0"/>
          </a:p>
        </p:txBody>
      </p:sp>
      <p:sp>
        <p:nvSpPr>
          <p:cNvPr id="17" name="Text 15"/>
          <p:cNvSpPr/>
          <p:nvPr/>
        </p:nvSpPr>
        <p:spPr>
          <a:xfrm>
            <a:off x="9738360" y="3099816"/>
            <a:ext cx="731520" cy="320040"/>
          </a:xfrm>
          <a:prstGeom prst="rect">
            <a:avLst/>
          </a:prstGeom>
          <a:noFill/>
          <a:ln/>
        </p:spPr>
        <p:txBody>
          <a:bodyPr wrap="square" lIns="0" tIns="0" rIns="0" bIns="0" rtlCol="0" anchor="t"/>
          <a:lstStyle/>
          <a:p>
            <a:pPr algn="r" indent="0" marL="0">
              <a:buNone/>
            </a:pPr>
            <a:r>
              <a:rPr lang="en-US" sz="1350" dirty="0">
                <a:solidFill>
                  <a:srgbClr val="4E5968"/>
                </a:solidFill>
                <a:latin typeface="Arial" pitchFamily="34" charset="0"/>
                <a:ea typeface="Arial" pitchFamily="34" charset="-122"/>
                <a:cs typeface="Arial" pitchFamily="34" charset="-120"/>
              </a:rPr>
              <a:t>10</a:t>
            </a:r>
            <a:endParaRPr lang="en-US" sz="1350" dirty="0"/>
          </a:p>
        </p:txBody>
      </p:sp>
      <p:sp>
        <p:nvSpPr>
          <p:cNvPr id="18" name="Text 16"/>
          <p:cNvSpPr/>
          <p:nvPr/>
        </p:nvSpPr>
        <p:spPr>
          <a:xfrm>
            <a:off x="10561320" y="3099816"/>
            <a:ext cx="777240" cy="320040"/>
          </a:xfrm>
          <a:prstGeom prst="rect">
            <a:avLst/>
          </a:prstGeom>
          <a:noFill/>
          <a:ln/>
        </p:spPr>
        <p:txBody>
          <a:bodyPr wrap="square" lIns="0" tIns="0" rIns="0" bIns="0" rtlCol="0" anchor="t"/>
          <a:lstStyle/>
          <a:p>
            <a:pPr algn="r" indent="0" marL="0">
              <a:buNone/>
            </a:pPr>
            <a:r>
              <a:rPr lang="en-US" sz="1350" b="1" dirty="0">
                <a:solidFill>
                  <a:srgbClr val="191F28"/>
                </a:solidFill>
                <a:latin typeface="Arial" pitchFamily="34" charset="0"/>
                <a:ea typeface="Arial" pitchFamily="34" charset="-122"/>
                <a:cs typeface="Arial" pitchFamily="34" charset="-120"/>
              </a:rPr>
              <a:t>10</a:t>
            </a:r>
            <a:endParaRPr lang="en-US" sz="1350" dirty="0"/>
          </a:p>
        </p:txBody>
      </p:sp>
      <p:sp>
        <p:nvSpPr>
          <p:cNvPr id="19" name="Shape 17"/>
          <p:cNvSpPr/>
          <p:nvPr/>
        </p:nvSpPr>
        <p:spPr>
          <a:xfrm>
            <a:off x="7635240" y="3465576"/>
            <a:ext cx="3703320" cy="0"/>
          </a:xfrm>
          <a:prstGeom prst="line">
            <a:avLst/>
          </a:prstGeom>
          <a:noFill/>
          <a:ln w="12700">
            <a:solidFill>
              <a:srgbClr val="E5E8EB"/>
            </a:solidFill>
            <a:prstDash val="solid"/>
          </a:ln>
        </p:spPr>
      </p:sp>
      <p:sp>
        <p:nvSpPr>
          <p:cNvPr id="20" name="Text 18"/>
          <p:cNvSpPr/>
          <p:nvPr/>
        </p:nvSpPr>
        <p:spPr>
          <a:xfrm>
            <a:off x="7635240" y="3557016"/>
            <a:ext cx="2103120" cy="320040"/>
          </a:xfrm>
          <a:prstGeom prst="rect">
            <a:avLst/>
          </a:prstGeom>
          <a:noFill/>
          <a:ln/>
        </p:spPr>
        <p:txBody>
          <a:bodyPr wrap="square" lIns="0" tIns="0" rIns="0" bIns="0" rtlCol="0" anchor="t"/>
          <a:lstStyle/>
          <a:p>
            <a:pPr indent="0" marL="0">
              <a:buNone/>
            </a:pPr>
            <a:r>
              <a:rPr lang="en-US" sz="1350" b="1" dirty="0">
                <a:solidFill>
                  <a:srgbClr val="191F28"/>
                </a:solidFill>
                <a:latin typeface="Arial" pitchFamily="34" charset="0"/>
                <a:ea typeface="Arial" pitchFamily="34" charset="-122"/>
                <a:cs typeface="Arial" pitchFamily="34" charset="-120"/>
              </a:rPr>
              <a:t>활용성 (20)</a:t>
            </a:r>
            <a:endParaRPr lang="en-US" sz="1350" dirty="0"/>
          </a:p>
        </p:txBody>
      </p:sp>
      <p:sp>
        <p:nvSpPr>
          <p:cNvPr id="21" name="Text 19"/>
          <p:cNvSpPr/>
          <p:nvPr/>
        </p:nvSpPr>
        <p:spPr>
          <a:xfrm>
            <a:off x="9738360" y="3557016"/>
            <a:ext cx="731520" cy="320040"/>
          </a:xfrm>
          <a:prstGeom prst="rect">
            <a:avLst/>
          </a:prstGeom>
          <a:noFill/>
          <a:ln/>
        </p:spPr>
        <p:txBody>
          <a:bodyPr wrap="square" lIns="0" tIns="0" rIns="0" bIns="0" rtlCol="0" anchor="t"/>
          <a:lstStyle/>
          <a:p>
            <a:pPr algn="r" indent="0" marL="0">
              <a:buNone/>
            </a:pPr>
            <a:r>
              <a:rPr lang="en-US" sz="1350" dirty="0">
                <a:solidFill>
                  <a:srgbClr val="4E5968"/>
                </a:solidFill>
                <a:latin typeface="Arial" pitchFamily="34" charset="0"/>
                <a:ea typeface="Arial" pitchFamily="34" charset="-122"/>
                <a:cs typeface="Arial" pitchFamily="34" charset="-120"/>
              </a:rPr>
              <a:t>18.3</a:t>
            </a:r>
            <a:endParaRPr lang="en-US" sz="1350" dirty="0"/>
          </a:p>
        </p:txBody>
      </p:sp>
      <p:sp>
        <p:nvSpPr>
          <p:cNvPr id="22" name="Text 20"/>
          <p:cNvSpPr/>
          <p:nvPr/>
        </p:nvSpPr>
        <p:spPr>
          <a:xfrm>
            <a:off x="10561320" y="3557016"/>
            <a:ext cx="777240" cy="320040"/>
          </a:xfrm>
          <a:prstGeom prst="rect">
            <a:avLst/>
          </a:prstGeom>
          <a:noFill/>
          <a:ln/>
        </p:spPr>
        <p:txBody>
          <a:bodyPr wrap="square" lIns="0" tIns="0" rIns="0" bIns="0" rtlCol="0" anchor="t"/>
          <a:lstStyle/>
          <a:p>
            <a:pPr algn="r" indent="0" marL="0">
              <a:buNone/>
            </a:pPr>
            <a:r>
              <a:rPr lang="en-US" sz="1350" b="1" dirty="0">
                <a:solidFill>
                  <a:srgbClr val="3182F6"/>
                </a:solidFill>
                <a:latin typeface="Arial" pitchFamily="34" charset="0"/>
                <a:ea typeface="Arial" pitchFamily="34" charset="-122"/>
                <a:cs typeface="Arial" pitchFamily="34" charset="-120"/>
              </a:rPr>
              <a:t>20</a:t>
            </a:r>
            <a:endParaRPr lang="en-US" sz="1350" dirty="0"/>
          </a:p>
        </p:txBody>
      </p:sp>
      <p:sp>
        <p:nvSpPr>
          <p:cNvPr id="23" name="Shape 21"/>
          <p:cNvSpPr/>
          <p:nvPr/>
        </p:nvSpPr>
        <p:spPr>
          <a:xfrm>
            <a:off x="7635240" y="3922776"/>
            <a:ext cx="3703320" cy="0"/>
          </a:xfrm>
          <a:prstGeom prst="line">
            <a:avLst/>
          </a:prstGeom>
          <a:noFill/>
          <a:ln w="12700">
            <a:solidFill>
              <a:srgbClr val="E5E8EB"/>
            </a:solidFill>
            <a:prstDash val="solid"/>
          </a:ln>
        </p:spPr>
      </p:sp>
      <p:sp>
        <p:nvSpPr>
          <p:cNvPr id="24" name="Text 22"/>
          <p:cNvSpPr/>
          <p:nvPr/>
        </p:nvSpPr>
        <p:spPr>
          <a:xfrm>
            <a:off x="7635240" y="4014216"/>
            <a:ext cx="2103120" cy="320040"/>
          </a:xfrm>
          <a:prstGeom prst="rect">
            <a:avLst/>
          </a:prstGeom>
          <a:noFill/>
          <a:ln/>
        </p:spPr>
        <p:txBody>
          <a:bodyPr wrap="square" lIns="0" tIns="0" rIns="0" bIns="0" rtlCol="0" anchor="t"/>
          <a:lstStyle/>
          <a:p>
            <a:pPr indent="0" marL="0">
              <a:buNone/>
            </a:pPr>
            <a:r>
              <a:rPr lang="en-US" sz="1350" b="1" dirty="0">
                <a:solidFill>
                  <a:srgbClr val="191F28"/>
                </a:solidFill>
                <a:latin typeface="Arial" pitchFamily="34" charset="0"/>
                <a:ea typeface="Arial" pitchFamily="34" charset="-122"/>
                <a:cs typeface="Arial" pitchFamily="34" charset="-120"/>
              </a:rPr>
              <a:t>혁신성 (25)</a:t>
            </a:r>
            <a:endParaRPr lang="en-US" sz="1350" dirty="0"/>
          </a:p>
        </p:txBody>
      </p:sp>
      <p:sp>
        <p:nvSpPr>
          <p:cNvPr id="25" name="Text 23"/>
          <p:cNvSpPr/>
          <p:nvPr/>
        </p:nvSpPr>
        <p:spPr>
          <a:xfrm>
            <a:off x="9738360" y="4014216"/>
            <a:ext cx="731520" cy="320040"/>
          </a:xfrm>
          <a:prstGeom prst="rect">
            <a:avLst/>
          </a:prstGeom>
          <a:noFill/>
          <a:ln/>
        </p:spPr>
        <p:txBody>
          <a:bodyPr wrap="square" lIns="0" tIns="0" rIns="0" bIns="0" rtlCol="0" anchor="t"/>
          <a:lstStyle/>
          <a:p>
            <a:pPr algn="r" indent="0" marL="0">
              <a:buNone/>
            </a:pPr>
            <a:r>
              <a:rPr lang="en-US" sz="1350" dirty="0">
                <a:solidFill>
                  <a:srgbClr val="4E5968"/>
                </a:solidFill>
                <a:latin typeface="Arial" pitchFamily="34" charset="0"/>
                <a:ea typeface="Arial" pitchFamily="34" charset="-122"/>
                <a:cs typeface="Arial" pitchFamily="34" charset="-120"/>
              </a:rPr>
              <a:t>25</a:t>
            </a:r>
            <a:endParaRPr lang="en-US" sz="1350" dirty="0"/>
          </a:p>
        </p:txBody>
      </p:sp>
      <p:sp>
        <p:nvSpPr>
          <p:cNvPr id="26" name="Text 24"/>
          <p:cNvSpPr/>
          <p:nvPr/>
        </p:nvSpPr>
        <p:spPr>
          <a:xfrm>
            <a:off x="10561320" y="4014216"/>
            <a:ext cx="777240" cy="320040"/>
          </a:xfrm>
          <a:prstGeom prst="rect">
            <a:avLst/>
          </a:prstGeom>
          <a:noFill/>
          <a:ln/>
        </p:spPr>
        <p:txBody>
          <a:bodyPr wrap="square" lIns="0" tIns="0" rIns="0" bIns="0" rtlCol="0" anchor="t"/>
          <a:lstStyle/>
          <a:p>
            <a:pPr algn="r" indent="0" marL="0">
              <a:buNone/>
            </a:pPr>
            <a:r>
              <a:rPr lang="en-US" sz="1350" b="1" dirty="0">
                <a:solidFill>
                  <a:srgbClr val="191F28"/>
                </a:solidFill>
                <a:latin typeface="Arial" pitchFamily="34" charset="0"/>
                <a:ea typeface="Arial" pitchFamily="34" charset="-122"/>
                <a:cs typeface="Arial" pitchFamily="34" charset="-120"/>
              </a:rPr>
              <a:t>25</a:t>
            </a:r>
            <a:endParaRPr lang="en-US" sz="1350" dirty="0"/>
          </a:p>
        </p:txBody>
      </p:sp>
      <p:sp>
        <p:nvSpPr>
          <p:cNvPr id="27" name="Shape 25"/>
          <p:cNvSpPr/>
          <p:nvPr/>
        </p:nvSpPr>
        <p:spPr>
          <a:xfrm>
            <a:off x="7635240" y="4379976"/>
            <a:ext cx="3703320" cy="0"/>
          </a:xfrm>
          <a:prstGeom prst="line">
            <a:avLst/>
          </a:prstGeom>
          <a:noFill/>
          <a:ln w="12700">
            <a:solidFill>
              <a:srgbClr val="E5E8EB"/>
            </a:solidFill>
            <a:prstDash val="solid"/>
          </a:ln>
        </p:spPr>
      </p:sp>
      <p:sp>
        <p:nvSpPr>
          <p:cNvPr id="28" name="Text 26"/>
          <p:cNvSpPr/>
          <p:nvPr/>
        </p:nvSpPr>
        <p:spPr>
          <a:xfrm>
            <a:off x="7635240" y="4471416"/>
            <a:ext cx="2103120" cy="320040"/>
          </a:xfrm>
          <a:prstGeom prst="rect">
            <a:avLst/>
          </a:prstGeom>
          <a:noFill/>
          <a:ln/>
        </p:spPr>
        <p:txBody>
          <a:bodyPr wrap="square" lIns="0" tIns="0" rIns="0" bIns="0" rtlCol="0" anchor="t"/>
          <a:lstStyle/>
          <a:p>
            <a:pPr indent="0" marL="0">
              <a:buNone/>
            </a:pPr>
            <a:r>
              <a:rPr lang="en-US" sz="1350" b="1" dirty="0">
                <a:solidFill>
                  <a:srgbClr val="191F28"/>
                </a:solidFill>
                <a:latin typeface="Arial" pitchFamily="34" charset="0"/>
                <a:ea typeface="Arial" pitchFamily="34" charset="-122"/>
                <a:cs typeface="Arial" pitchFamily="34" charset="-120"/>
              </a:rPr>
              <a:t>실현가능성 (25)</a:t>
            </a:r>
            <a:endParaRPr lang="en-US" sz="1350" dirty="0"/>
          </a:p>
        </p:txBody>
      </p:sp>
      <p:sp>
        <p:nvSpPr>
          <p:cNvPr id="29" name="Text 27"/>
          <p:cNvSpPr/>
          <p:nvPr/>
        </p:nvSpPr>
        <p:spPr>
          <a:xfrm>
            <a:off x="9738360" y="4471416"/>
            <a:ext cx="731520" cy="320040"/>
          </a:xfrm>
          <a:prstGeom prst="rect">
            <a:avLst/>
          </a:prstGeom>
          <a:noFill/>
          <a:ln/>
        </p:spPr>
        <p:txBody>
          <a:bodyPr wrap="square" lIns="0" tIns="0" rIns="0" bIns="0" rtlCol="0" anchor="t"/>
          <a:lstStyle/>
          <a:p>
            <a:pPr algn="r" indent="0" marL="0">
              <a:buNone/>
            </a:pPr>
            <a:r>
              <a:rPr lang="en-US" sz="1350" dirty="0">
                <a:solidFill>
                  <a:srgbClr val="4E5968"/>
                </a:solidFill>
                <a:latin typeface="Arial" pitchFamily="34" charset="0"/>
                <a:ea typeface="Arial" pitchFamily="34" charset="-122"/>
                <a:cs typeface="Arial" pitchFamily="34" charset="-120"/>
              </a:rPr>
              <a:t>25</a:t>
            </a:r>
            <a:endParaRPr lang="en-US" sz="1350" dirty="0"/>
          </a:p>
        </p:txBody>
      </p:sp>
      <p:sp>
        <p:nvSpPr>
          <p:cNvPr id="30" name="Text 28"/>
          <p:cNvSpPr/>
          <p:nvPr/>
        </p:nvSpPr>
        <p:spPr>
          <a:xfrm>
            <a:off x="10561320" y="4471416"/>
            <a:ext cx="777240" cy="320040"/>
          </a:xfrm>
          <a:prstGeom prst="rect">
            <a:avLst/>
          </a:prstGeom>
          <a:noFill/>
          <a:ln/>
        </p:spPr>
        <p:txBody>
          <a:bodyPr wrap="square" lIns="0" tIns="0" rIns="0" bIns="0" rtlCol="0" anchor="t"/>
          <a:lstStyle/>
          <a:p>
            <a:pPr algn="r" indent="0" marL="0">
              <a:buNone/>
            </a:pPr>
            <a:r>
              <a:rPr lang="en-US" sz="1350" b="1" dirty="0">
                <a:solidFill>
                  <a:srgbClr val="191F28"/>
                </a:solidFill>
                <a:latin typeface="Arial" pitchFamily="34" charset="0"/>
                <a:ea typeface="Arial" pitchFamily="34" charset="-122"/>
                <a:cs typeface="Arial" pitchFamily="34" charset="-120"/>
              </a:rPr>
              <a:t>24</a:t>
            </a:r>
            <a:endParaRPr lang="en-US" sz="1350" dirty="0"/>
          </a:p>
        </p:txBody>
      </p:sp>
      <p:sp>
        <p:nvSpPr>
          <p:cNvPr id="31" name="Shape 29"/>
          <p:cNvSpPr/>
          <p:nvPr/>
        </p:nvSpPr>
        <p:spPr>
          <a:xfrm>
            <a:off x="7635240" y="4837176"/>
            <a:ext cx="3703320" cy="0"/>
          </a:xfrm>
          <a:prstGeom prst="line">
            <a:avLst/>
          </a:prstGeom>
          <a:noFill/>
          <a:ln w="12700">
            <a:solidFill>
              <a:srgbClr val="E5E8EB"/>
            </a:solidFill>
            <a:prstDash val="solid"/>
          </a:ln>
        </p:spPr>
      </p:sp>
      <p:sp>
        <p:nvSpPr>
          <p:cNvPr id="32" name="Text 30"/>
          <p:cNvSpPr/>
          <p:nvPr/>
        </p:nvSpPr>
        <p:spPr>
          <a:xfrm>
            <a:off x="7635240" y="4928616"/>
            <a:ext cx="2103120" cy="320040"/>
          </a:xfrm>
          <a:prstGeom prst="rect">
            <a:avLst/>
          </a:prstGeom>
          <a:noFill/>
          <a:ln/>
        </p:spPr>
        <p:txBody>
          <a:bodyPr wrap="square" lIns="0" tIns="0" rIns="0" bIns="0" rtlCol="0" anchor="t"/>
          <a:lstStyle/>
          <a:p>
            <a:pPr indent="0" marL="0">
              <a:buNone/>
            </a:pPr>
            <a:r>
              <a:rPr lang="en-US" sz="1350" b="1" dirty="0">
                <a:solidFill>
                  <a:srgbClr val="191F28"/>
                </a:solidFill>
                <a:latin typeface="Arial" pitchFamily="34" charset="0"/>
                <a:ea typeface="Arial" pitchFamily="34" charset="-122"/>
                <a:cs typeface="Arial" pitchFamily="34" charset="-120"/>
              </a:rPr>
              <a:t>확장성 (20)</a:t>
            </a:r>
            <a:endParaRPr lang="en-US" sz="1350" dirty="0"/>
          </a:p>
        </p:txBody>
      </p:sp>
      <p:sp>
        <p:nvSpPr>
          <p:cNvPr id="33" name="Text 31"/>
          <p:cNvSpPr/>
          <p:nvPr/>
        </p:nvSpPr>
        <p:spPr>
          <a:xfrm>
            <a:off x="9738360" y="4928616"/>
            <a:ext cx="731520" cy="320040"/>
          </a:xfrm>
          <a:prstGeom prst="rect">
            <a:avLst/>
          </a:prstGeom>
          <a:noFill/>
          <a:ln/>
        </p:spPr>
        <p:txBody>
          <a:bodyPr wrap="square" lIns="0" tIns="0" rIns="0" bIns="0" rtlCol="0" anchor="t"/>
          <a:lstStyle/>
          <a:p>
            <a:pPr algn="r" indent="0" marL="0">
              <a:buNone/>
            </a:pPr>
            <a:r>
              <a:rPr lang="en-US" sz="1350" dirty="0">
                <a:solidFill>
                  <a:srgbClr val="4E5968"/>
                </a:solidFill>
                <a:latin typeface="Arial" pitchFamily="34" charset="0"/>
                <a:ea typeface="Arial" pitchFamily="34" charset="-122"/>
                <a:cs typeface="Arial" pitchFamily="34" charset="-120"/>
              </a:rPr>
              <a:t>15.8</a:t>
            </a:r>
            <a:endParaRPr lang="en-US" sz="1350" dirty="0"/>
          </a:p>
        </p:txBody>
      </p:sp>
      <p:sp>
        <p:nvSpPr>
          <p:cNvPr id="34" name="Text 32"/>
          <p:cNvSpPr/>
          <p:nvPr/>
        </p:nvSpPr>
        <p:spPr>
          <a:xfrm>
            <a:off x="10561320" y="4928616"/>
            <a:ext cx="777240" cy="320040"/>
          </a:xfrm>
          <a:prstGeom prst="rect">
            <a:avLst/>
          </a:prstGeom>
          <a:noFill/>
          <a:ln/>
        </p:spPr>
        <p:txBody>
          <a:bodyPr wrap="square" lIns="0" tIns="0" rIns="0" bIns="0" rtlCol="0" anchor="t"/>
          <a:lstStyle/>
          <a:p>
            <a:pPr algn="r" indent="0" marL="0">
              <a:buNone/>
            </a:pPr>
            <a:r>
              <a:rPr lang="en-US" sz="1350" b="1" dirty="0">
                <a:solidFill>
                  <a:srgbClr val="3182F6"/>
                </a:solidFill>
                <a:latin typeface="Arial" pitchFamily="34" charset="0"/>
                <a:ea typeface="Arial" pitchFamily="34" charset="-122"/>
                <a:cs typeface="Arial" pitchFamily="34" charset="-120"/>
              </a:rPr>
              <a:t>20</a:t>
            </a:r>
            <a:endParaRPr lang="en-US" sz="1350" dirty="0"/>
          </a:p>
        </p:txBody>
      </p:sp>
      <p:sp>
        <p:nvSpPr>
          <p:cNvPr id="35" name="Shape 33"/>
          <p:cNvSpPr/>
          <p:nvPr/>
        </p:nvSpPr>
        <p:spPr>
          <a:xfrm>
            <a:off x="822960" y="5577840"/>
            <a:ext cx="10543032" cy="0"/>
          </a:xfrm>
          <a:prstGeom prst="line">
            <a:avLst/>
          </a:prstGeom>
          <a:noFill/>
          <a:ln w="12700">
            <a:solidFill>
              <a:srgbClr val="E5E8EB"/>
            </a:solidFill>
            <a:prstDash val="solid"/>
          </a:ln>
        </p:spPr>
      </p:sp>
      <p:sp>
        <p:nvSpPr>
          <p:cNvPr id="36" name="Text 34"/>
          <p:cNvSpPr/>
          <p:nvPr/>
        </p:nvSpPr>
        <p:spPr>
          <a:xfrm>
            <a:off x="822960" y="5742432"/>
            <a:ext cx="10543032" cy="365760"/>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짚은 곳을 채운 뒤, 같은 점검 질문으로 다시 채점했습니다.</a:t>
            </a:r>
            <a:endParaRPr lang="en-US" sz="1600" dirty="0"/>
          </a:p>
        </p:txBody>
      </p:sp>
      <p:sp>
        <p:nvSpPr>
          <p:cNvPr id="37" name="Text 35"/>
          <p:cNvSpPr/>
          <p:nvPr/>
        </p:nvSpPr>
        <p:spPr>
          <a:xfrm>
            <a:off x="822960" y="6355080"/>
            <a:ext cx="10543032" cy="274320"/>
          </a:xfrm>
          <a:prstGeom prst="rect">
            <a:avLst/>
          </a:prstGeom>
          <a:noFill/>
          <a:ln/>
        </p:spPr>
        <p:txBody>
          <a:bodyPr wrap="square" lIns="0" tIns="0" rIns="0" bIns="0" rtlCol="0" anchor="t"/>
          <a:lstStyle/>
          <a:p>
            <a:pPr indent="0" marL="0">
              <a:buNone/>
            </a:pPr>
            <a:r>
              <a:rPr lang="en-US" sz="1000" dirty="0">
                <a:solidFill>
                  <a:srgbClr val="8B95A1"/>
                </a:solidFill>
                <a:latin typeface="Arial" pitchFamily="34" charset="0"/>
                <a:ea typeface="Arial" pitchFamily="34" charset="-122"/>
                <a:cs typeface="Arial" pitchFamily="34" charset="-120"/>
              </a:rPr>
              <a:t>점수 예측이 아니라 빈칸 찾기 · 보완 후 = 「본선 구현 결과」 절을 사람이 추가 · 같은 판정자로 잰 자기 점검(변별력 근거는 8장) · 이번 실행은 평가위원 4/5명 응답(1명 응답 실패 — 복구 중)</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48640"/>
            <a:ext cx="7315200" cy="365760"/>
          </a:xfrm>
          <a:prstGeom prst="rect">
            <a:avLst/>
          </a:prstGeom>
          <a:noFill/>
          <a:ln/>
        </p:spPr>
        <p:txBody>
          <a:bodyPr wrap="square" lIns="0" tIns="0" rIns="0" bIns="0" rtlCol="0" anchor="t"/>
          <a:lstStyle/>
          <a:p>
            <a:pPr indent="0" marL="0">
              <a:buNone/>
            </a:pPr>
            <a:r>
              <a:rPr lang="en-US" sz="1400" b="1" dirty="0">
                <a:solidFill>
                  <a:srgbClr val="3182F6"/>
                </a:solidFill>
                <a:latin typeface="Arial" pitchFamily="34" charset="0"/>
                <a:ea typeface="Arial" pitchFamily="34" charset="-122"/>
                <a:cs typeface="Arial" pitchFamily="34" charset="-120"/>
              </a:rPr>
              <a:t>확장</a:t>
            </a:r>
            <a:endParaRPr lang="en-US" sz="1400" dirty="0"/>
          </a:p>
        </p:txBody>
      </p:sp>
      <p:sp>
        <p:nvSpPr>
          <p:cNvPr id="3" name="Text 1"/>
          <p:cNvSpPr/>
          <p:nvPr/>
        </p:nvSpPr>
        <p:spPr>
          <a:xfrm>
            <a:off x="795528" y="960120"/>
            <a:ext cx="10543032" cy="1371600"/>
          </a:xfrm>
          <a:prstGeom prst="rect">
            <a:avLst/>
          </a:prstGeom>
          <a:noFill/>
          <a:ln/>
        </p:spPr>
        <p:txBody>
          <a:bodyPr wrap="square" lIns="0" tIns="0" rIns="0" bIns="0" rtlCol="0" anchor="t"/>
          <a:lstStyle/>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연구자에서 </a:t>
            </a:r>
            <a:pPr indent="0" marL="0">
              <a:lnSpc>
                <a:spcPct val="112000"/>
              </a:lnSpc>
              <a:buNone/>
            </a:pPr>
            <a:r>
              <a:rPr lang="en-US" sz="3400" b="1" dirty="0">
                <a:solidFill>
                  <a:srgbClr val="3182F6"/>
                </a:solidFill>
                <a:latin typeface="Arial" pitchFamily="34" charset="0"/>
                <a:ea typeface="Arial" pitchFamily="34" charset="-122"/>
                <a:cs typeface="Arial" pitchFamily="34" charset="-120"/>
              </a:rPr>
              <a:t>전문기관</a:t>
            </a:r>
            <a:pPr indent="0" marL="0">
              <a:lnSpc>
                <a:spcPct val="112000"/>
              </a:lnSpc>
              <a:buNone/>
            </a:pPr>
            <a:r>
              <a:rPr lang="en-US" sz="3400" b="1" dirty="0">
                <a:solidFill>
                  <a:srgbClr val="191F28"/>
                </a:solidFill>
                <a:latin typeface="Arial" pitchFamily="34" charset="0"/>
                <a:ea typeface="Arial" pitchFamily="34" charset="-122"/>
                <a:cs typeface="Arial" pitchFamily="34" charset="-120"/>
              </a:rPr>
              <a:t>까지,</a:t>
            </a:r>
            <a:endParaRPr lang="en-US" sz="3400" dirty="0"/>
          </a:p>
          <a:p>
            <a:pPr indent="0" marL="0">
              <a:lnSpc>
                <a:spcPct val="112000"/>
              </a:lnSpc>
              <a:buNone/>
            </a:pPr>
            <a:r>
              <a:rPr lang="en-US" sz="3400" b="1" dirty="0">
                <a:solidFill>
                  <a:srgbClr val="191F28"/>
                </a:solidFill>
                <a:latin typeface="Arial" pitchFamily="34" charset="0"/>
                <a:ea typeface="Arial" pitchFamily="34" charset="-122"/>
                <a:cs typeface="Arial" pitchFamily="34" charset="-120"/>
              </a:rPr>
              <a:t>같은 엔진이 갑니다</a:t>
            </a:r>
            <a:endParaRPr lang="en-US" sz="3400" dirty="0"/>
          </a:p>
        </p:txBody>
      </p:sp>
      <p:sp>
        <p:nvSpPr>
          <p:cNvPr id="4" name="Text 2"/>
          <p:cNvSpPr/>
          <p:nvPr/>
        </p:nvSpPr>
        <p:spPr>
          <a:xfrm>
            <a:off x="822960" y="2697480"/>
            <a:ext cx="3108960" cy="365760"/>
          </a:xfrm>
          <a:prstGeom prst="rect">
            <a:avLst/>
          </a:prstGeom>
          <a:noFill/>
          <a:ln/>
        </p:spPr>
        <p:txBody>
          <a:bodyPr wrap="square" lIns="0" tIns="0" rIns="0" bIns="0" rtlCol="0" anchor="t"/>
          <a:lstStyle/>
          <a:p>
            <a:pPr indent="0" marL="0">
              <a:buNone/>
            </a:pPr>
            <a:r>
              <a:rPr lang="en-US" sz="1500" b="1" dirty="0">
                <a:solidFill>
                  <a:srgbClr val="3182F6"/>
                </a:solidFill>
                <a:latin typeface="Arial" pitchFamily="34" charset="0"/>
                <a:ea typeface="Arial" pitchFamily="34" charset="-122"/>
                <a:cs typeface="Arial" pitchFamily="34" charset="-120"/>
              </a:rPr>
              <a:t>01  연구자 · 구현</a:t>
            </a:r>
            <a:endParaRPr lang="en-US" sz="1500" dirty="0"/>
          </a:p>
        </p:txBody>
      </p:sp>
      <p:sp>
        <p:nvSpPr>
          <p:cNvPr id="5" name="Text 3"/>
          <p:cNvSpPr/>
          <p:nvPr/>
        </p:nvSpPr>
        <p:spPr>
          <a:xfrm>
            <a:off x="822960" y="3108960"/>
            <a:ext cx="3108960" cy="411480"/>
          </a:xfrm>
          <a:prstGeom prst="rect">
            <a:avLst/>
          </a:prstGeom>
          <a:noFill/>
          <a:ln/>
        </p:spPr>
        <p:txBody>
          <a:bodyPr wrap="square" lIns="0" tIns="0" rIns="0" bIns="0" rtlCol="0" anchor="t"/>
          <a:lstStyle/>
          <a:p>
            <a:pPr indent="0" marL="0">
              <a:buNone/>
            </a:pPr>
            <a:r>
              <a:rPr lang="en-US" sz="1900" b="1" dirty="0">
                <a:solidFill>
                  <a:srgbClr val="191F28"/>
                </a:solidFill>
                <a:latin typeface="Arial" pitchFamily="34" charset="0"/>
                <a:ea typeface="Arial" pitchFamily="34" charset="-122"/>
                <a:cs typeface="Arial" pitchFamily="34" charset="-120"/>
              </a:rPr>
              <a:t>제출 전 셀프 점검</a:t>
            </a:r>
            <a:endParaRPr lang="en-US" sz="1900" dirty="0"/>
          </a:p>
        </p:txBody>
      </p:sp>
      <p:sp>
        <p:nvSpPr>
          <p:cNvPr id="6" name="Text 4"/>
          <p:cNvSpPr/>
          <p:nvPr/>
        </p:nvSpPr>
        <p:spPr>
          <a:xfrm>
            <a:off x="822960" y="3566160"/>
            <a:ext cx="310896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지금 이 앱 — 고칠 곳부터, 갈리는 곳은 판단</a:t>
            </a:r>
            <a:endParaRPr lang="en-US" sz="1250" dirty="0"/>
          </a:p>
        </p:txBody>
      </p:sp>
      <p:sp>
        <p:nvSpPr>
          <p:cNvPr id="7" name="Shape 5"/>
          <p:cNvSpPr/>
          <p:nvPr/>
        </p:nvSpPr>
        <p:spPr>
          <a:xfrm>
            <a:off x="4041648" y="3310128"/>
            <a:ext cx="388620" cy="0"/>
          </a:xfrm>
          <a:prstGeom prst="line">
            <a:avLst/>
          </a:prstGeom>
          <a:noFill/>
          <a:ln w="15875">
            <a:solidFill>
              <a:srgbClr val="8B95A1"/>
            </a:solidFill>
            <a:prstDash val="solid"/>
            <a:tailEnd type="triangle"/>
          </a:ln>
        </p:spPr>
      </p:sp>
      <p:sp>
        <p:nvSpPr>
          <p:cNvPr id="8" name="Text 6"/>
          <p:cNvSpPr/>
          <p:nvPr/>
        </p:nvSpPr>
        <p:spPr>
          <a:xfrm>
            <a:off x="4539996" y="2697480"/>
            <a:ext cx="3108960" cy="365760"/>
          </a:xfrm>
          <a:prstGeom prst="rect">
            <a:avLst/>
          </a:prstGeom>
          <a:noFill/>
          <a:ln/>
        </p:spPr>
        <p:txBody>
          <a:bodyPr wrap="square" lIns="0" tIns="0" rIns="0" bIns="0" rtlCol="0" anchor="t"/>
          <a:lstStyle/>
          <a:p>
            <a:pPr indent="0" marL="0">
              <a:buNone/>
            </a:pPr>
            <a:r>
              <a:rPr lang="en-US" sz="1500" b="1" dirty="0">
                <a:solidFill>
                  <a:srgbClr val="3182F6"/>
                </a:solidFill>
                <a:latin typeface="Arial" pitchFamily="34" charset="0"/>
                <a:ea typeface="Arial" pitchFamily="34" charset="-122"/>
                <a:cs typeface="Arial" pitchFamily="34" charset="-120"/>
              </a:rPr>
              <a:t>02  전문기관 · 계획</a:t>
            </a:r>
            <a:endParaRPr lang="en-US" sz="1500" dirty="0"/>
          </a:p>
        </p:txBody>
      </p:sp>
      <p:sp>
        <p:nvSpPr>
          <p:cNvPr id="9" name="Text 7"/>
          <p:cNvSpPr/>
          <p:nvPr/>
        </p:nvSpPr>
        <p:spPr>
          <a:xfrm>
            <a:off x="4539996" y="3108960"/>
            <a:ext cx="3108960" cy="411480"/>
          </a:xfrm>
          <a:prstGeom prst="rect">
            <a:avLst/>
          </a:prstGeom>
          <a:noFill/>
          <a:ln/>
        </p:spPr>
        <p:txBody>
          <a:bodyPr wrap="square" lIns="0" tIns="0" rIns="0" bIns="0" rtlCol="0" anchor="t"/>
          <a:lstStyle/>
          <a:p>
            <a:pPr indent="0" marL="0">
              <a:buNone/>
            </a:pPr>
            <a:r>
              <a:rPr lang="en-US" sz="1900" b="1" dirty="0">
                <a:solidFill>
                  <a:srgbClr val="191F28"/>
                </a:solidFill>
                <a:latin typeface="Arial" pitchFamily="34" charset="0"/>
                <a:ea typeface="Arial" pitchFamily="34" charset="-122"/>
                <a:cs typeface="Arial" pitchFamily="34" charset="-120"/>
              </a:rPr>
              <a:t>접수 후 요건 사전검토</a:t>
            </a:r>
            <a:endParaRPr lang="en-US" sz="1900" dirty="0"/>
          </a:p>
        </p:txBody>
      </p:sp>
      <p:sp>
        <p:nvSpPr>
          <p:cNvPr id="10" name="Text 8"/>
          <p:cNvSpPr/>
          <p:nvPr/>
        </p:nvSpPr>
        <p:spPr>
          <a:xfrm>
            <a:off x="4539996" y="3566160"/>
            <a:ext cx="310896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형식 미비·필수 서류 누락 스크리닝</a:t>
            </a:r>
            <a:endParaRPr lang="en-US" sz="1250" dirty="0"/>
          </a:p>
        </p:txBody>
      </p:sp>
      <p:sp>
        <p:nvSpPr>
          <p:cNvPr id="11" name="Shape 9"/>
          <p:cNvSpPr/>
          <p:nvPr/>
        </p:nvSpPr>
        <p:spPr>
          <a:xfrm>
            <a:off x="7758684" y="3310128"/>
            <a:ext cx="388620" cy="0"/>
          </a:xfrm>
          <a:prstGeom prst="line">
            <a:avLst/>
          </a:prstGeom>
          <a:noFill/>
          <a:ln w="15875">
            <a:solidFill>
              <a:srgbClr val="8B95A1"/>
            </a:solidFill>
            <a:prstDash val="solid"/>
            <a:tailEnd type="triangle"/>
          </a:ln>
        </p:spPr>
      </p:sp>
      <p:sp>
        <p:nvSpPr>
          <p:cNvPr id="12" name="Text 10"/>
          <p:cNvSpPr/>
          <p:nvPr/>
        </p:nvSpPr>
        <p:spPr>
          <a:xfrm>
            <a:off x="8257032" y="2697480"/>
            <a:ext cx="3108960" cy="365760"/>
          </a:xfrm>
          <a:prstGeom prst="rect">
            <a:avLst/>
          </a:prstGeom>
          <a:noFill/>
          <a:ln/>
        </p:spPr>
        <p:txBody>
          <a:bodyPr wrap="square" lIns="0" tIns="0" rIns="0" bIns="0" rtlCol="0" anchor="t"/>
          <a:lstStyle/>
          <a:p>
            <a:pPr indent="0" marL="0">
              <a:buNone/>
            </a:pPr>
            <a:r>
              <a:rPr lang="en-US" sz="1500" b="1" dirty="0">
                <a:solidFill>
                  <a:srgbClr val="3182F6"/>
                </a:solidFill>
                <a:latin typeface="Arial" pitchFamily="34" charset="0"/>
                <a:ea typeface="Arial" pitchFamily="34" charset="-122"/>
                <a:cs typeface="Arial" pitchFamily="34" charset="-120"/>
              </a:rPr>
              <a:t>03  평가위원 · 계획</a:t>
            </a:r>
            <a:endParaRPr lang="en-US" sz="1500" dirty="0"/>
          </a:p>
        </p:txBody>
      </p:sp>
      <p:sp>
        <p:nvSpPr>
          <p:cNvPr id="13" name="Text 11"/>
          <p:cNvSpPr/>
          <p:nvPr/>
        </p:nvSpPr>
        <p:spPr>
          <a:xfrm>
            <a:off x="8257032" y="3108960"/>
            <a:ext cx="3108960" cy="411480"/>
          </a:xfrm>
          <a:prstGeom prst="rect">
            <a:avLst/>
          </a:prstGeom>
          <a:noFill/>
          <a:ln/>
        </p:spPr>
        <p:txBody>
          <a:bodyPr wrap="square" lIns="0" tIns="0" rIns="0" bIns="0" rtlCol="0" anchor="t"/>
          <a:lstStyle/>
          <a:p>
            <a:pPr indent="0" marL="0">
              <a:buNone/>
            </a:pPr>
            <a:r>
              <a:rPr lang="en-US" sz="1900" b="1" dirty="0">
                <a:solidFill>
                  <a:srgbClr val="191F28"/>
                </a:solidFill>
                <a:latin typeface="Arial" pitchFamily="34" charset="0"/>
                <a:ea typeface="Arial" pitchFamily="34" charset="-122"/>
                <a:cs typeface="Arial" pitchFamily="34" charset="-120"/>
              </a:rPr>
              <a:t>지표별 근거 위치 표시</a:t>
            </a:r>
            <a:endParaRPr lang="en-US" sz="1900" dirty="0"/>
          </a:p>
        </p:txBody>
      </p:sp>
      <p:sp>
        <p:nvSpPr>
          <p:cNvPr id="14" name="Text 12"/>
          <p:cNvSpPr/>
          <p:nvPr/>
        </p:nvSpPr>
        <p:spPr>
          <a:xfrm>
            <a:off x="8257032" y="3566160"/>
            <a:ext cx="3108960" cy="365760"/>
          </a:xfrm>
          <a:prstGeom prst="rect">
            <a:avLst/>
          </a:prstGeom>
          <a:noFill/>
          <a:ln/>
        </p:spPr>
        <p:txBody>
          <a:bodyPr wrap="square" lIns="0" tIns="0" rIns="0" bIns="0" rtlCol="0" anchor="t"/>
          <a:lstStyle/>
          <a:p>
            <a:pPr indent="0" marL="0">
              <a:buNone/>
            </a:pPr>
            <a:r>
              <a:rPr lang="en-US" sz="1250" dirty="0">
                <a:solidFill>
                  <a:srgbClr val="8B95A1"/>
                </a:solidFill>
                <a:latin typeface="Arial" pitchFamily="34" charset="0"/>
                <a:ea typeface="Arial" pitchFamily="34" charset="-122"/>
                <a:cs typeface="Arial" pitchFamily="34" charset="-120"/>
              </a:rPr>
              <a:t>심사 보조 — 판정은 사람이</a:t>
            </a:r>
            <a:endParaRPr lang="en-US" sz="1250" dirty="0"/>
          </a:p>
        </p:txBody>
      </p:sp>
      <p:sp>
        <p:nvSpPr>
          <p:cNvPr id="15" name="Shape 13"/>
          <p:cNvSpPr/>
          <p:nvPr/>
        </p:nvSpPr>
        <p:spPr>
          <a:xfrm>
            <a:off x="822960" y="4297680"/>
            <a:ext cx="10543032" cy="0"/>
          </a:xfrm>
          <a:prstGeom prst="line">
            <a:avLst/>
          </a:prstGeom>
          <a:noFill/>
          <a:ln w="12700">
            <a:solidFill>
              <a:srgbClr val="E5E8EB"/>
            </a:solidFill>
            <a:prstDash val="solid"/>
          </a:ln>
        </p:spPr>
      </p:sp>
      <p:sp>
        <p:nvSpPr>
          <p:cNvPr id="16" name="Text 14"/>
          <p:cNvSpPr/>
          <p:nvPr/>
        </p:nvSpPr>
        <p:spPr>
          <a:xfrm>
            <a:off x="822960" y="4526280"/>
            <a:ext cx="3657600" cy="320040"/>
          </a:xfrm>
          <a:prstGeom prst="rect">
            <a:avLst/>
          </a:prstGeom>
          <a:noFill/>
          <a:ln/>
        </p:spPr>
        <p:txBody>
          <a:bodyPr wrap="square" lIns="0" tIns="0" rIns="0" bIns="0" rtlCol="0" anchor="t"/>
          <a:lstStyle/>
          <a:p>
            <a:pPr indent="0" marL="0">
              <a:buNone/>
            </a:pPr>
            <a:r>
              <a:rPr lang="en-US" sz="1300" b="1" dirty="0">
                <a:solidFill>
                  <a:srgbClr val="4E5968"/>
                </a:solidFill>
                <a:latin typeface="Arial" pitchFamily="34" charset="0"/>
                <a:ea typeface="Arial" pitchFamily="34" charset="-122"/>
                <a:cs typeface="Arial" pitchFamily="34" charset="-120"/>
              </a:rPr>
              <a:t>같은 엔진, 다른 문서</a:t>
            </a:r>
            <a:endParaRPr lang="en-US" sz="1300" dirty="0"/>
          </a:p>
        </p:txBody>
      </p:sp>
      <p:sp>
        <p:nvSpPr>
          <p:cNvPr id="17" name="Shape 15"/>
          <p:cNvSpPr/>
          <p:nvPr/>
        </p:nvSpPr>
        <p:spPr>
          <a:xfrm>
            <a:off x="822960" y="4937760"/>
            <a:ext cx="3108960" cy="868680"/>
          </a:xfrm>
          <a:prstGeom prst="roundRect">
            <a:avLst>
              <a:gd name="adj" fmla="val 8421"/>
            </a:avLst>
          </a:prstGeom>
          <a:solidFill>
            <a:srgbClr val="FFFFFF"/>
          </a:solidFill>
          <a:ln w="12700">
            <a:solidFill>
              <a:srgbClr val="E5E8EB"/>
            </a:solidFill>
            <a:prstDash val="solid"/>
          </a:ln>
        </p:spPr>
      </p:sp>
      <p:sp>
        <p:nvSpPr>
          <p:cNvPr id="18" name="Text 16"/>
          <p:cNvSpPr/>
          <p:nvPr/>
        </p:nvSpPr>
        <p:spPr>
          <a:xfrm>
            <a:off x="1024128" y="5047488"/>
            <a:ext cx="2743200" cy="320040"/>
          </a:xfrm>
          <a:prstGeom prst="rect">
            <a:avLst/>
          </a:prstGeom>
          <a:noFill/>
          <a:ln/>
        </p:spPr>
        <p:txBody>
          <a:bodyPr wrap="square" lIns="0" tIns="0" rIns="0" bIns="0" rtlCol="0" anchor="t"/>
          <a:lstStyle/>
          <a:p>
            <a:pPr indent="0" marL="0">
              <a:buNone/>
            </a:pPr>
            <a:r>
              <a:rPr lang="en-US" sz="1500" b="1" dirty="0">
                <a:solidFill>
                  <a:srgbClr val="191F28"/>
                </a:solidFill>
                <a:latin typeface="Arial" pitchFamily="34" charset="0"/>
                <a:ea typeface="Arial" pitchFamily="34" charset="-122"/>
                <a:cs typeface="Arial" pitchFamily="34" charset="-120"/>
              </a:rPr>
              <a:t>연차·성과보고서 · 계획</a:t>
            </a:r>
            <a:endParaRPr lang="en-US" sz="1500" dirty="0"/>
          </a:p>
        </p:txBody>
      </p:sp>
      <p:sp>
        <p:nvSpPr>
          <p:cNvPr id="19" name="Text 17"/>
          <p:cNvSpPr/>
          <p:nvPr/>
        </p:nvSpPr>
        <p:spPr>
          <a:xfrm>
            <a:off x="1024128" y="5394960"/>
            <a:ext cx="2743200" cy="274320"/>
          </a:xfrm>
          <a:prstGeom prst="rect">
            <a:avLst/>
          </a:prstGeom>
          <a:noFill/>
          <a:ln/>
        </p:spPr>
        <p:txBody>
          <a:bodyPr wrap="square" lIns="0" tIns="0" rIns="0" bIns="0" rtlCol="0" anchor="t"/>
          <a:lstStyle/>
          <a:p>
            <a:pPr indent="0" marL="0">
              <a:buNone/>
            </a:pPr>
            <a:r>
              <a:rPr lang="en-US" sz="1200" dirty="0">
                <a:solidFill>
                  <a:srgbClr val="8B95A1"/>
                </a:solidFill>
                <a:latin typeface="Arial" pitchFamily="34" charset="0"/>
                <a:ea typeface="Arial" pitchFamily="34" charset="-122"/>
                <a:cs typeface="Arial" pitchFamily="34" charset="-120"/>
              </a:rPr>
              <a:t>계획 지표 대비 실적</a:t>
            </a:r>
            <a:endParaRPr lang="en-US" sz="1200" dirty="0"/>
          </a:p>
        </p:txBody>
      </p:sp>
      <p:sp>
        <p:nvSpPr>
          <p:cNvPr id="20" name="Shape 18"/>
          <p:cNvSpPr/>
          <p:nvPr/>
        </p:nvSpPr>
        <p:spPr>
          <a:xfrm>
            <a:off x="4539996" y="4937760"/>
            <a:ext cx="3108960" cy="868680"/>
          </a:xfrm>
          <a:prstGeom prst="roundRect">
            <a:avLst>
              <a:gd name="adj" fmla="val 8421"/>
            </a:avLst>
          </a:prstGeom>
          <a:solidFill>
            <a:srgbClr val="FFFFFF"/>
          </a:solidFill>
          <a:ln w="12700">
            <a:solidFill>
              <a:srgbClr val="E5E8EB"/>
            </a:solidFill>
            <a:prstDash val="solid"/>
          </a:ln>
        </p:spPr>
      </p:sp>
      <p:sp>
        <p:nvSpPr>
          <p:cNvPr id="21" name="Text 19"/>
          <p:cNvSpPr/>
          <p:nvPr/>
        </p:nvSpPr>
        <p:spPr>
          <a:xfrm>
            <a:off x="4741164" y="5047488"/>
            <a:ext cx="2743200" cy="320040"/>
          </a:xfrm>
          <a:prstGeom prst="rect">
            <a:avLst/>
          </a:prstGeom>
          <a:noFill/>
          <a:ln/>
        </p:spPr>
        <p:txBody>
          <a:bodyPr wrap="square" lIns="0" tIns="0" rIns="0" bIns="0" rtlCol="0" anchor="t"/>
          <a:lstStyle/>
          <a:p>
            <a:pPr indent="0" marL="0">
              <a:buNone/>
            </a:pPr>
            <a:r>
              <a:rPr lang="en-US" sz="1500" b="1" dirty="0">
                <a:solidFill>
                  <a:srgbClr val="191F28"/>
                </a:solidFill>
                <a:latin typeface="Arial" pitchFamily="34" charset="0"/>
                <a:ea typeface="Arial" pitchFamily="34" charset="-122"/>
                <a:cs typeface="Arial" pitchFamily="34" charset="-120"/>
              </a:rPr>
              <a:t>연구비 정산 · 계획</a:t>
            </a:r>
            <a:endParaRPr lang="en-US" sz="1500" dirty="0"/>
          </a:p>
        </p:txBody>
      </p:sp>
      <p:sp>
        <p:nvSpPr>
          <p:cNvPr id="22" name="Text 20"/>
          <p:cNvSpPr/>
          <p:nvPr/>
        </p:nvSpPr>
        <p:spPr>
          <a:xfrm>
            <a:off x="4741164" y="5394960"/>
            <a:ext cx="2743200" cy="274320"/>
          </a:xfrm>
          <a:prstGeom prst="rect">
            <a:avLst/>
          </a:prstGeom>
          <a:noFill/>
          <a:ln/>
        </p:spPr>
        <p:txBody>
          <a:bodyPr wrap="square" lIns="0" tIns="0" rIns="0" bIns="0" rtlCol="0" anchor="t"/>
          <a:lstStyle/>
          <a:p>
            <a:pPr indent="0" marL="0">
              <a:buNone/>
            </a:pPr>
            <a:r>
              <a:rPr lang="en-US" sz="1200" dirty="0">
                <a:solidFill>
                  <a:srgbClr val="8B95A1"/>
                </a:solidFill>
                <a:latin typeface="Arial" pitchFamily="34" charset="0"/>
                <a:ea typeface="Arial" pitchFamily="34" charset="-122"/>
                <a:cs typeface="Arial" pitchFamily="34" charset="-120"/>
              </a:rPr>
              <a:t>증빙 대비 집행 항목</a:t>
            </a:r>
            <a:endParaRPr lang="en-US" sz="1200" dirty="0"/>
          </a:p>
        </p:txBody>
      </p:sp>
      <p:sp>
        <p:nvSpPr>
          <p:cNvPr id="23" name="Shape 21"/>
          <p:cNvSpPr/>
          <p:nvPr/>
        </p:nvSpPr>
        <p:spPr>
          <a:xfrm>
            <a:off x="8257032" y="4937760"/>
            <a:ext cx="3108960" cy="868680"/>
          </a:xfrm>
          <a:prstGeom prst="roundRect">
            <a:avLst>
              <a:gd name="adj" fmla="val 8421"/>
            </a:avLst>
          </a:prstGeom>
          <a:solidFill>
            <a:srgbClr val="FFFFFF"/>
          </a:solidFill>
          <a:ln w="12700">
            <a:solidFill>
              <a:srgbClr val="E5E8EB"/>
            </a:solidFill>
            <a:prstDash val="solid"/>
          </a:ln>
        </p:spPr>
      </p:sp>
      <p:sp>
        <p:nvSpPr>
          <p:cNvPr id="24" name="Text 22"/>
          <p:cNvSpPr/>
          <p:nvPr/>
        </p:nvSpPr>
        <p:spPr>
          <a:xfrm>
            <a:off x="8458200" y="5047488"/>
            <a:ext cx="2743200" cy="320040"/>
          </a:xfrm>
          <a:prstGeom prst="rect">
            <a:avLst/>
          </a:prstGeom>
          <a:noFill/>
          <a:ln/>
        </p:spPr>
        <p:txBody>
          <a:bodyPr wrap="square" lIns="0" tIns="0" rIns="0" bIns="0" rtlCol="0" anchor="t"/>
          <a:lstStyle/>
          <a:p>
            <a:pPr indent="0" marL="0">
              <a:buNone/>
            </a:pPr>
            <a:r>
              <a:rPr lang="en-US" sz="1500" b="1" dirty="0">
                <a:solidFill>
                  <a:srgbClr val="191F28"/>
                </a:solidFill>
                <a:latin typeface="Arial" pitchFamily="34" charset="0"/>
                <a:ea typeface="Arial" pitchFamily="34" charset="-122"/>
                <a:cs typeface="Arial" pitchFamily="34" charset="-120"/>
              </a:rPr>
              <a:t>MCP로 연결 · 구현</a:t>
            </a:r>
            <a:endParaRPr lang="en-US" sz="1500" dirty="0"/>
          </a:p>
        </p:txBody>
      </p:sp>
      <p:sp>
        <p:nvSpPr>
          <p:cNvPr id="25" name="Text 23"/>
          <p:cNvSpPr/>
          <p:nvPr/>
        </p:nvSpPr>
        <p:spPr>
          <a:xfrm>
            <a:off x="8458200" y="5394960"/>
            <a:ext cx="2743200" cy="274320"/>
          </a:xfrm>
          <a:prstGeom prst="rect">
            <a:avLst/>
          </a:prstGeom>
          <a:noFill/>
          <a:ln/>
        </p:spPr>
        <p:txBody>
          <a:bodyPr wrap="square" lIns="0" tIns="0" rIns="0" bIns="0" rtlCol="0" anchor="t"/>
          <a:lstStyle/>
          <a:p>
            <a:pPr indent="0" marL="0">
              <a:buNone/>
            </a:pPr>
            <a:r>
              <a:rPr lang="en-US" sz="1200" dirty="0">
                <a:solidFill>
                  <a:srgbClr val="8B95A1"/>
                </a:solidFill>
                <a:latin typeface="Arial" pitchFamily="34" charset="0"/>
                <a:ea typeface="Arial" pitchFamily="34" charset="-122"/>
                <a:cs typeface="Arial" pitchFamily="34" charset="-120"/>
              </a:rPr>
              <a:t>도구 2개 · NAIS 플랫폼·AI 비서 연결</a:t>
            </a:r>
            <a:endParaRPr lang="en-US" sz="1200" dirty="0"/>
          </a:p>
        </p:txBody>
      </p:sp>
      <p:sp>
        <p:nvSpPr>
          <p:cNvPr id="26" name="Text 24"/>
          <p:cNvSpPr/>
          <p:nvPr/>
        </p:nvSpPr>
        <p:spPr>
          <a:xfrm>
            <a:off x="822960" y="6035040"/>
            <a:ext cx="10543032" cy="320040"/>
          </a:xfrm>
          <a:prstGeom prst="rect">
            <a:avLst/>
          </a:prstGeom>
          <a:noFill/>
          <a:ln/>
        </p:spPr>
        <p:txBody>
          <a:bodyPr wrap="square" lIns="0" tIns="0" rIns="0" bIns="0" rtlCol="0" anchor="t"/>
          <a:lstStyle/>
          <a:p>
            <a:pPr indent="0" marL="0">
              <a:buNone/>
            </a:pPr>
            <a:r>
              <a:rPr lang="en-US" sz="1250" dirty="0">
                <a:solidFill>
                  <a:srgbClr val="4E5968"/>
                </a:solidFill>
                <a:latin typeface="Arial" pitchFamily="34" charset="0"/>
                <a:ea typeface="Arial" pitchFamily="34" charset="-122"/>
                <a:cs typeface="Arial" pitchFamily="34" charset="-120"/>
              </a:rPr>
              <a:t>첫 실증 목표: 전문기관 접수 사전검토 1회 — 형식 미비를 정답표 방식 그대로 재서 재현율 90% · 정답표·측정 스크립트는 「R&amp;D 공고 결핍 벤치마크」로 공개</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1051560"/>
            <a:ext cx="7315200" cy="365760"/>
          </a:xfrm>
          <a:prstGeom prst="rect">
            <a:avLst/>
          </a:prstGeom>
          <a:noFill/>
          <a:ln/>
        </p:spPr>
        <p:txBody>
          <a:bodyPr wrap="square" lIns="0" tIns="0" rIns="0" bIns="0" rtlCol="0" anchor="t"/>
          <a:lstStyle/>
          <a:p>
            <a:pPr indent="0" marL="0">
              <a:buNone/>
            </a:pPr>
            <a:r>
              <a:rPr lang="en-US" sz="1400" b="1" dirty="0">
                <a:solidFill>
                  <a:srgbClr val="3182F6"/>
                </a:solidFill>
                <a:latin typeface="Arial" pitchFamily="34" charset="0"/>
                <a:ea typeface="Arial" pitchFamily="34" charset="-122"/>
                <a:cs typeface="Arial" pitchFamily="34" charset="-120"/>
              </a:rPr>
              <a:t>지금 직접 눌러 보세요</a:t>
            </a:r>
            <a:endParaRPr lang="en-US" sz="1400" dirty="0"/>
          </a:p>
        </p:txBody>
      </p:sp>
      <p:sp>
        <p:nvSpPr>
          <p:cNvPr id="3" name="Text 1"/>
          <p:cNvSpPr/>
          <p:nvPr/>
        </p:nvSpPr>
        <p:spPr>
          <a:xfrm>
            <a:off x="795528" y="1645920"/>
            <a:ext cx="10543032" cy="2103120"/>
          </a:xfrm>
          <a:prstGeom prst="rect">
            <a:avLst/>
          </a:prstGeom>
          <a:noFill/>
          <a:ln/>
        </p:spPr>
        <p:txBody>
          <a:bodyPr wrap="square" lIns="0" tIns="0" rIns="0" bIns="0" rtlCol="0" anchor="t"/>
          <a:lstStyle/>
          <a:p>
            <a:pPr indent="0" marL="0">
              <a:lnSpc>
                <a:spcPct val="112000"/>
              </a:lnSpc>
              <a:buNone/>
            </a:pPr>
            <a:r>
              <a:rPr lang="en-US" sz="4600" b="1" dirty="0">
                <a:solidFill>
                  <a:srgbClr val="191F28"/>
                </a:solidFill>
                <a:latin typeface="Arial" pitchFamily="34" charset="0"/>
                <a:ea typeface="Arial" pitchFamily="34" charset="-122"/>
                <a:cs typeface="Arial" pitchFamily="34" charset="-120"/>
              </a:rPr>
              <a:t>다섯 명의 평가위원이,</a:t>
            </a:r>
            <a:endParaRPr lang="en-US" sz="4600" dirty="0"/>
          </a:p>
          <a:p>
            <a:pPr indent="0" marL="0">
              <a:lnSpc>
                <a:spcPct val="112000"/>
              </a:lnSpc>
              <a:buNone/>
            </a:pPr>
            <a:r>
              <a:rPr lang="en-US" sz="4600" b="1" dirty="0">
                <a:solidFill>
                  <a:srgbClr val="3182F6"/>
                </a:solidFill>
                <a:latin typeface="Arial" pitchFamily="34" charset="0"/>
                <a:ea typeface="Arial" pitchFamily="34" charset="-122"/>
                <a:cs typeface="Arial" pitchFamily="34" charset="-120"/>
              </a:rPr>
              <a:t>먼저</a:t>
            </a:r>
            <a:pPr indent="0" marL="0">
              <a:lnSpc>
                <a:spcPct val="112000"/>
              </a:lnSpc>
              <a:buNone/>
            </a:pPr>
            <a:r>
              <a:rPr lang="en-US" sz="4600" b="1" dirty="0">
                <a:solidFill>
                  <a:srgbClr val="191F28"/>
                </a:solidFill>
                <a:latin typeface="Arial" pitchFamily="34" charset="0"/>
                <a:ea typeface="Arial" pitchFamily="34" charset="-122"/>
                <a:cs typeface="Arial" pitchFamily="34" charset="-120"/>
              </a:rPr>
              <a:t> 읽어 드립니다.</a:t>
            </a:r>
            <a:endParaRPr lang="en-US" sz="4600" dirty="0"/>
          </a:p>
        </p:txBody>
      </p:sp>
      <p:sp>
        <p:nvSpPr>
          <p:cNvPr id="4" name="Text 2"/>
          <p:cNvSpPr/>
          <p:nvPr/>
        </p:nvSpPr>
        <p:spPr>
          <a:xfrm>
            <a:off x="822960" y="4069080"/>
            <a:ext cx="6035040" cy="731520"/>
          </a:xfrm>
          <a:prstGeom prst="rect">
            <a:avLst/>
          </a:prstGeom>
          <a:noFill/>
          <a:ln/>
        </p:spPr>
        <p:txBody>
          <a:bodyPr wrap="square" lIns="0" tIns="0" rIns="0" bIns="0" rtlCol="0" anchor="t"/>
          <a:lstStyle/>
          <a:p>
            <a:pPr indent="0" marL="0">
              <a:lnSpc>
                <a:spcPct val="125000"/>
              </a:lnSpc>
              <a:buNone/>
            </a:pPr>
            <a:r>
              <a:rPr lang="en-US" sz="1400" dirty="0">
                <a:solidFill>
                  <a:srgbClr val="4E5968"/>
                </a:solidFill>
                <a:latin typeface="Arial" pitchFamily="34" charset="0"/>
                <a:ea typeface="Arial" pitchFamily="34" charset="-122"/>
                <a:cs typeface="Arial" pitchFamily="34" charset="-120"/>
              </a:rPr>
              <a:t>커밋 9개 · 코드는 전부 본선 중 커밋(첫 코드 커밋 09/30 19:19, 그 전엔 문서뿐)</a:t>
            </a:r>
            <a:endParaRPr lang="en-US" sz="1400" dirty="0"/>
          </a:p>
          <a:p>
            <a:pPr indent="0" marL="0">
              <a:lnSpc>
                <a:spcPct val="125000"/>
              </a:lnSpc>
              <a:buNone/>
            </a:pPr>
            <a:r>
              <a:rPr lang="en-US" sz="1400" dirty="0">
                <a:solidFill>
                  <a:srgbClr val="4E5968"/>
                </a:solidFill>
                <a:latin typeface="Arial" pitchFamily="34" charset="0"/>
                <a:ea typeface="Arial" pitchFamily="34" charset="-122"/>
                <a:cs typeface="Arial" pitchFamily="34" charset="-120"/>
              </a:rPr>
              <a:t>SPEC → 테스트 → 구현 순서 · 코딩 에이전트 활용 규칙까지 공개(AGENTS.md)</a:t>
            </a:r>
            <a:endParaRPr lang="en-US" sz="1400" dirty="0"/>
          </a:p>
        </p:txBody>
      </p:sp>
      <p:sp>
        <p:nvSpPr>
          <p:cNvPr id="5" name="Text 3"/>
          <p:cNvSpPr/>
          <p:nvPr/>
        </p:nvSpPr>
        <p:spPr>
          <a:xfrm>
            <a:off x="822960" y="4983480"/>
            <a:ext cx="6035040" cy="548640"/>
          </a:xfrm>
          <a:prstGeom prst="rect">
            <a:avLst/>
          </a:prstGeom>
          <a:noFill/>
          <a:ln/>
        </p:spPr>
        <p:txBody>
          <a:bodyPr wrap="square" lIns="0" tIns="0" rIns="0" bIns="0" rtlCol="0" anchor="t"/>
          <a:lstStyle/>
          <a:p>
            <a:pPr indent="0" marL="0">
              <a:lnSpc>
                <a:spcPct val="120000"/>
              </a:lnSpc>
              <a:buNone/>
            </a:pPr>
            <a:r>
              <a:rPr lang="en-US" sz="1200" dirty="0">
                <a:solidFill>
                  <a:srgbClr val="8B95A1"/>
                </a:solidFill>
                <a:latin typeface="Arial" pitchFamily="34" charset="0"/>
                <a:ea typeface="Arial" pitchFamily="34" charset="-122"/>
                <a:cs typeface="Arial" pitchFamily="34" charset="-120"/>
              </a:rPr>
              <a:t>라이브가 끊기면 — 앱의 「② 우리 기획서 전·후」 탭이 저장된 실행 기록으로 같은 결과를 보여 줍니다</a:t>
            </a:r>
            <a:endParaRPr lang="en-US" sz="1200" dirty="0"/>
          </a:p>
        </p:txBody>
      </p:sp>
      <p:sp>
        <p:nvSpPr>
          <p:cNvPr id="6" name="Text 4"/>
          <p:cNvSpPr/>
          <p:nvPr/>
        </p:nvSpPr>
        <p:spPr>
          <a:xfrm>
            <a:off x="822960" y="5852160"/>
            <a:ext cx="5486400" cy="411480"/>
          </a:xfrm>
          <a:prstGeom prst="rect">
            <a:avLst/>
          </a:prstGeom>
          <a:noFill/>
          <a:ln/>
        </p:spPr>
        <p:txBody>
          <a:bodyPr wrap="square" lIns="0" tIns="0" rIns="0" bIns="0" rtlCol="0" anchor="t"/>
          <a:lstStyle/>
          <a:p>
            <a:pPr indent="0" marL="0">
              <a:buNone/>
            </a:pPr>
            <a:r>
              <a:rPr lang="en-US" sz="1600" b="1" dirty="0">
                <a:solidFill>
                  <a:srgbClr val="191F28"/>
                </a:solidFill>
                <a:latin typeface="Arial" pitchFamily="34" charset="0"/>
                <a:ea typeface="Arial" pitchFamily="34" charset="-122"/>
                <a:cs typeface="Arial" pitchFamily="34" charset="-120"/>
              </a:rPr>
              <a:t>팀 루미아 · 김태걸 · 박세훈</a:t>
            </a:r>
            <a:endParaRPr lang="en-US" sz="1600" dirty="0"/>
          </a:p>
        </p:txBody>
      </p:sp>
      <p:sp>
        <p:nvSpPr>
          <p:cNvPr id="7" name="Shape 5"/>
          <p:cNvSpPr/>
          <p:nvPr/>
        </p:nvSpPr>
        <p:spPr>
          <a:xfrm>
            <a:off x="7269480" y="1828800"/>
            <a:ext cx="1874520" cy="2788920"/>
          </a:xfrm>
          <a:prstGeom prst="roundRect">
            <a:avLst>
              <a:gd name="adj" fmla="val 3902"/>
            </a:avLst>
          </a:prstGeom>
          <a:solidFill>
            <a:srgbClr val="FFFFFF"/>
          </a:solidFill>
          <a:ln w="12700">
            <a:solidFill>
              <a:srgbClr val="E5E8EB"/>
            </a:solidFill>
            <a:prstDash val="solid"/>
          </a:ln>
        </p:spPr>
      </p:sp>
      <p:pic>
        <p:nvPicPr>
          <p:cNvPr id="8" name="Image 0" descr="/Users/ryugi62/dev/rfp-to-fit/deliver/deck/build/img/qr-live.png">    </p:cNvPr>
          <p:cNvPicPr>
            <a:picLocks noChangeAspect="1"/>
          </p:cNvPicPr>
          <p:nvPr/>
        </p:nvPicPr>
        <p:blipFill>
          <a:blip r:embed="rId1"/>
          <a:stretch>
            <a:fillRect/>
          </a:stretch>
        </p:blipFill>
        <p:spPr>
          <a:xfrm>
            <a:off x="7525512" y="2084832"/>
            <a:ext cx="1371600" cy="1371600"/>
          </a:xfrm>
          <a:prstGeom prst="rect">
            <a:avLst/>
          </a:prstGeom>
        </p:spPr>
      </p:pic>
      <p:sp>
        <p:nvSpPr>
          <p:cNvPr id="9" name="Text 6"/>
          <p:cNvSpPr/>
          <p:nvPr/>
        </p:nvSpPr>
        <p:spPr>
          <a:xfrm>
            <a:off x="7452360" y="3639312"/>
            <a:ext cx="1508760" cy="320040"/>
          </a:xfrm>
          <a:prstGeom prst="rect">
            <a:avLst/>
          </a:prstGeom>
          <a:noFill/>
          <a:ln/>
        </p:spPr>
        <p:txBody>
          <a:bodyPr wrap="square" lIns="0" tIns="0" rIns="0" bIns="0" rtlCol="0" anchor="t"/>
          <a:lstStyle/>
          <a:p>
            <a:pPr indent="0" marL="0">
              <a:buNone/>
            </a:pPr>
            <a:r>
              <a:rPr lang="en-US" sz="1400" b="1" dirty="0">
                <a:solidFill>
                  <a:srgbClr val="191F28"/>
                </a:solidFill>
                <a:latin typeface="Arial" pitchFamily="34" charset="0"/>
                <a:ea typeface="Arial" pitchFamily="34" charset="-122"/>
                <a:cs typeface="Arial" pitchFamily="34" charset="-120"/>
              </a:rPr>
              <a:t>라이브 앱</a:t>
            </a:r>
            <a:endParaRPr lang="en-US" sz="1400" dirty="0"/>
          </a:p>
        </p:txBody>
      </p:sp>
      <p:sp>
        <p:nvSpPr>
          <p:cNvPr id="10" name="Text 7"/>
          <p:cNvSpPr/>
          <p:nvPr/>
        </p:nvSpPr>
        <p:spPr>
          <a:xfrm>
            <a:off x="7452360" y="4005072"/>
            <a:ext cx="1554480" cy="914400"/>
          </a:xfrm>
          <a:prstGeom prst="rect">
            <a:avLst/>
          </a:prstGeom>
          <a:noFill/>
          <a:ln/>
        </p:spPr>
        <p:txBody>
          <a:bodyPr wrap="square" lIns="0" tIns="0" rIns="0" bIns="0" rtlCol="0" anchor="t"/>
          <a:lstStyle/>
          <a:p>
            <a:pPr indent="0" marL="0">
              <a:lnSpc>
                <a:spcPct val="115000"/>
              </a:lnSpc>
              <a:buNone/>
            </a:pPr>
            <a:r>
              <a:rPr lang="en-US" sz="950" dirty="0">
                <a:solidFill>
                  <a:srgbClr val="8B95A1"/>
                </a:solidFill>
                <a:latin typeface="Arial" pitchFamily="34" charset="0"/>
                <a:ea typeface="Arial" pitchFamily="34" charset="-122"/>
                <a:cs typeface="Arial" pitchFamily="34" charset="-120"/>
              </a:rPr>
              <a:t>invisible-sail-shame-preliminary.trycloudflare.com</a:t>
            </a:r>
            <a:endParaRPr lang="en-US" sz="950" dirty="0"/>
          </a:p>
        </p:txBody>
      </p:sp>
      <p:sp>
        <p:nvSpPr>
          <p:cNvPr id="11" name="Shape 8"/>
          <p:cNvSpPr/>
          <p:nvPr/>
        </p:nvSpPr>
        <p:spPr>
          <a:xfrm>
            <a:off x="9372600" y="1828800"/>
            <a:ext cx="1874520" cy="2788920"/>
          </a:xfrm>
          <a:prstGeom prst="roundRect">
            <a:avLst>
              <a:gd name="adj" fmla="val 3902"/>
            </a:avLst>
          </a:prstGeom>
          <a:solidFill>
            <a:srgbClr val="FFFFFF"/>
          </a:solidFill>
          <a:ln w="12700">
            <a:solidFill>
              <a:srgbClr val="E5E8EB"/>
            </a:solidFill>
            <a:prstDash val="solid"/>
          </a:ln>
        </p:spPr>
      </p:sp>
      <p:pic>
        <p:nvPicPr>
          <p:cNvPr id="12" name="Image 1" descr="/Users/ryugi62/dev/rfp-to-fit/deliver/deck/build/img/qr-repo.png">    </p:cNvPr>
          <p:cNvPicPr>
            <a:picLocks noChangeAspect="1"/>
          </p:cNvPicPr>
          <p:nvPr/>
        </p:nvPicPr>
        <p:blipFill>
          <a:blip r:embed="rId2"/>
          <a:stretch>
            <a:fillRect/>
          </a:stretch>
        </p:blipFill>
        <p:spPr>
          <a:xfrm>
            <a:off x="9628632" y="2084832"/>
            <a:ext cx="1371600" cy="1371600"/>
          </a:xfrm>
          <a:prstGeom prst="rect">
            <a:avLst/>
          </a:prstGeom>
        </p:spPr>
      </p:pic>
      <p:sp>
        <p:nvSpPr>
          <p:cNvPr id="13" name="Text 9"/>
          <p:cNvSpPr/>
          <p:nvPr/>
        </p:nvSpPr>
        <p:spPr>
          <a:xfrm>
            <a:off x="9555480" y="3639312"/>
            <a:ext cx="1508760" cy="320040"/>
          </a:xfrm>
          <a:prstGeom prst="rect">
            <a:avLst/>
          </a:prstGeom>
          <a:noFill/>
          <a:ln/>
        </p:spPr>
        <p:txBody>
          <a:bodyPr wrap="square" lIns="0" tIns="0" rIns="0" bIns="0" rtlCol="0" anchor="t"/>
          <a:lstStyle/>
          <a:p>
            <a:pPr indent="0" marL="0">
              <a:buNone/>
            </a:pPr>
            <a:r>
              <a:rPr lang="en-US" sz="1400" b="1" dirty="0">
                <a:solidFill>
                  <a:srgbClr val="191F28"/>
                </a:solidFill>
                <a:latin typeface="Arial" pitchFamily="34" charset="0"/>
                <a:ea typeface="Arial" pitchFamily="34" charset="-122"/>
                <a:cs typeface="Arial" pitchFamily="34" charset="-120"/>
              </a:rPr>
              <a:t>GitHub</a:t>
            </a:r>
            <a:endParaRPr lang="en-US" sz="1400" dirty="0"/>
          </a:p>
        </p:txBody>
      </p:sp>
      <p:sp>
        <p:nvSpPr>
          <p:cNvPr id="14" name="Text 10"/>
          <p:cNvSpPr/>
          <p:nvPr/>
        </p:nvSpPr>
        <p:spPr>
          <a:xfrm>
            <a:off x="9555480" y="4005072"/>
            <a:ext cx="1554480" cy="914400"/>
          </a:xfrm>
          <a:prstGeom prst="rect">
            <a:avLst/>
          </a:prstGeom>
          <a:noFill/>
          <a:ln/>
        </p:spPr>
        <p:txBody>
          <a:bodyPr wrap="square" lIns="0" tIns="0" rIns="0" bIns="0" rtlCol="0" anchor="t"/>
          <a:lstStyle/>
          <a:p>
            <a:pPr indent="0" marL="0">
              <a:lnSpc>
                <a:spcPct val="115000"/>
              </a:lnSpc>
              <a:buNone/>
            </a:pPr>
            <a:r>
              <a:rPr lang="en-US" sz="950" dirty="0">
                <a:solidFill>
                  <a:srgbClr val="8B95A1"/>
                </a:solidFill>
                <a:latin typeface="Arial" pitchFamily="34" charset="0"/>
                <a:ea typeface="Arial" pitchFamily="34" charset="-122"/>
                <a:cs typeface="Arial" pitchFamily="34" charset="-120"/>
              </a:rPr>
              <a:t>github.com/Ryugi62/rfp-to-fit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팀 루미아</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RFP-to-Fit — 팀 루미아</dc:title>
  <dc:subject>PptxGenJS Presentation</dc:subject>
  <dc:creator>PptxGenJS</dc:creator>
  <cp:lastModifiedBy>PptxGenJS</cp:lastModifiedBy>
  <cp:revision>1</cp:revision>
  <dcterms:created xsi:type="dcterms:W3CDTF">2026-09-30T11:30:51Z</dcterms:created>
  <dcterms:modified xsi:type="dcterms:W3CDTF">2026-09-30T11:30:51Z</dcterms:modified>
</cp:coreProperties>
</file>